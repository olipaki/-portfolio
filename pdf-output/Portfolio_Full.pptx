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6858000"/>
          </a:xfrm>
          <a:prstGeom prst="rect">
            <a:avLst/>
          </a:prstGeom>
          <a:solidFill>
            <a:srgbClr val="F7F4F0"/>
          </a:solidFill>
          <a:ln/>
        </p:spPr>
      </p:sp>
      <p:sp>
        <p:nvSpPr>
          <p:cNvPr id="3" name="Shape 1"/>
          <p:cNvSpPr/>
          <p:nvPr/>
        </p:nvSpPr>
        <p:spPr>
          <a:xfrm>
            <a:off x="1463040" y="457200"/>
            <a:ext cx="731520" cy="731520"/>
          </a:xfrm>
          <a:prstGeom prst="rect">
            <a:avLst>
              <a:gd name="adj" fmla="val 50000"/>
            </a:avLst>
          </a:prstGeom>
          <a:solidFill>
            <a:srgbClr val="E0DDD8"/>
          </a:solidFill>
          <a:ln w="19050">
            <a:solidFill>
              <a:srgbClr val="D4C9BD"/>
            </a:solidFill>
            <a:prstDash val="solid"/>
          </a:ln>
        </p:spPr>
      </p:sp>
      <p:sp>
        <p:nvSpPr>
          <p:cNvPr id="4" name="Text 2"/>
          <p:cNvSpPr/>
          <p:nvPr/>
        </p:nvSpPr>
        <p:spPr>
          <a:xfrm>
            <a:off x="1463040" y="457200"/>
            <a:ext cx="731520" cy="731520"/>
          </a:xfrm>
          <a:prstGeom prst="rect">
            <a:avLst/>
          </a:prstGeom>
          <a:noFill/>
          <a:ln/>
        </p:spPr>
        <p:txBody>
          <a:bodyPr wrap="square" rtlCol="0" anchor="ctr"/>
          <a:lstStyle/>
          <a:p>
            <a:pPr algn="ctr" indent="0" marL="0">
              <a:buNone/>
            </a:pPr>
            <a:r>
              <a:rPr lang="en-US" sz="700" dirty="0">
                <a:solidFill>
                  <a:srgbClr val="AAA8A0"/>
                </a:solidFill>
                <a:latin typeface="맑은 고딕" pitchFamily="34" charset="0"/>
                <a:ea typeface="맑은 고딕" pitchFamily="34" charset="-122"/>
                <a:cs typeface="맑은 고딕" pitchFamily="34" charset="-120"/>
              </a:rPr>
              <a:t>PHOTO</a:t>
            </a:r>
            <a:endParaRPr lang="en-US" sz="700" dirty="0"/>
          </a:p>
        </p:txBody>
      </p:sp>
      <p:sp>
        <p:nvSpPr>
          <p:cNvPr id="5" name="Text 3"/>
          <p:cNvSpPr/>
          <p:nvPr/>
        </p:nvSpPr>
        <p:spPr>
          <a:xfrm>
            <a:off x="274320" y="1325880"/>
            <a:ext cx="3108960" cy="365760"/>
          </a:xfrm>
          <a:prstGeom prst="rect">
            <a:avLst/>
          </a:prstGeom>
          <a:noFill/>
          <a:ln/>
        </p:spPr>
        <p:txBody>
          <a:bodyPr wrap="square" rtlCol="0" anchor="t"/>
          <a:lstStyle/>
          <a:p>
            <a:pPr algn="ctr" indent="0" marL="0">
              <a:buNone/>
            </a:pPr>
            <a:r>
              <a:rPr lang="en-US" sz="2000" b="1" dirty="0">
                <a:solidFill>
                  <a:srgbClr val="2C2820"/>
                </a:solidFill>
                <a:latin typeface="Noto Serif KR" pitchFamily="34" charset="0"/>
                <a:ea typeface="Noto Serif KR" pitchFamily="34" charset="-122"/>
                <a:cs typeface="Noto Serif KR" pitchFamily="34" charset="-120"/>
              </a:rPr>
              <a:t>박세형</a:t>
            </a:r>
            <a:endParaRPr lang="en-US" sz="2000" dirty="0"/>
          </a:p>
        </p:txBody>
      </p:sp>
      <p:sp>
        <p:nvSpPr>
          <p:cNvPr id="6" name="Text 4"/>
          <p:cNvSpPr/>
          <p:nvPr/>
        </p:nvSpPr>
        <p:spPr>
          <a:xfrm>
            <a:off x="274320" y="1691640"/>
            <a:ext cx="3108960" cy="274320"/>
          </a:xfrm>
          <a:prstGeom prst="rect">
            <a:avLst/>
          </a:prstGeom>
          <a:noFill/>
          <a:ln/>
        </p:spPr>
        <p:txBody>
          <a:bodyPr wrap="square" rtlCol="0" anchor="t"/>
          <a:lstStyle/>
          <a:p>
            <a:pPr algn="ctr" indent="0" marL="0">
              <a:buNone/>
            </a:pPr>
            <a:r>
              <a:rPr lang="en-US" sz="1000" dirty="0">
                <a:solidFill>
                  <a:srgbClr val="7A6E62"/>
                </a:solidFill>
                <a:latin typeface="맑은 고딕" pitchFamily="34" charset="0"/>
                <a:ea typeface="맑은 고딕" pitchFamily="34" charset="-122"/>
                <a:cs typeface="맑은 고딕" pitchFamily="34" charset="-120"/>
              </a:rPr>
              <a:t>총무·경영지원 · 오피스 운영</a:t>
            </a:r>
            <a:endParaRPr lang="en-US" sz="1000" dirty="0"/>
          </a:p>
        </p:txBody>
      </p:sp>
      <p:sp>
        <p:nvSpPr>
          <p:cNvPr id="7" name="Text 5"/>
          <p:cNvSpPr/>
          <p:nvPr/>
        </p:nvSpPr>
        <p:spPr>
          <a:xfrm>
            <a:off x="365760" y="2148840"/>
            <a:ext cx="2926080" cy="868680"/>
          </a:xfrm>
          <a:prstGeom prst="rect">
            <a:avLst/>
          </a:prstGeom>
          <a:noFill/>
          <a:ln/>
        </p:spPr>
        <p:txBody>
          <a:bodyPr wrap="square" rtlCol="0" anchor="t"/>
          <a:lstStyle/>
          <a:p>
            <a:pPr algn="l" indent="0" marL="0">
              <a:lnSpc>
                <a:spcPct val="160000"/>
              </a:lnSpc>
              <a:buNone/>
            </a:pPr>
            <a:r>
              <a:rPr lang="en-US" sz="950" dirty="0">
                <a:solidFill>
                  <a:srgbClr val="5A5248"/>
                </a:solidFill>
                <a:latin typeface="맑은 고딕" pitchFamily="34" charset="0"/>
                <a:ea typeface="맑은 고딕" pitchFamily="34" charset="-122"/>
                <a:cs typeface="맑은 고딕" pitchFamily="34" charset="-120"/>
              </a:rPr>
              <a:t>📞  010-3052-9662
</a:t>
            </a:r>
            <a:pPr algn="l" indent="0" marL="0">
              <a:lnSpc>
                <a:spcPct val="160000"/>
              </a:lnSpc>
              <a:buNone/>
            </a:pPr>
            <a:r>
              <a:rPr lang="en-US" sz="950" dirty="0">
                <a:solidFill>
                  <a:srgbClr val="5A5248"/>
                </a:solidFill>
                <a:latin typeface="맑은 고딕" pitchFamily="34" charset="0"/>
                <a:ea typeface="맑은 고딕" pitchFamily="34" charset="-122"/>
                <a:cs typeface="맑은 고딕" pitchFamily="34" charset="-120"/>
              </a:rPr>
              <a:t>✉️  se7en3333@naver.com
</a:t>
            </a:r>
            <a:pPr algn="l" indent="0" marL="0">
              <a:lnSpc>
                <a:spcPct val="160000"/>
              </a:lnSpc>
              <a:buNone/>
            </a:pPr>
            <a:r>
              <a:rPr lang="en-US" sz="950" dirty="0">
                <a:solidFill>
                  <a:srgbClr val="5A5248"/>
                </a:solidFill>
                <a:latin typeface="맑은 고딕" pitchFamily="34" charset="0"/>
                <a:ea typeface="맑은 고딕" pitchFamily="34" charset="-122"/>
                <a:cs typeface="맑은 고딕" pitchFamily="34" charset="-120"/>
              </a:rPr>
              <a:t>📍  서울특별시 강동구
</a:t>
            </a:r>
            <a:pPr algn="l" indent="0" marL="0">
              <a:lnSpc>
                <a:spcPct val="160000"/>
              </a:lnSpc>
              <a:buNone/>
            </a:pPr>
            <a:r>
              <a:rPr lang="en-US" sz="950" dirty="0">
                <a:solidFill>
                  <a:srgbClr val="5A5248"/>
                </a:solidFill>
                <a:latin typeface="맑은 고딕" pitchFamily="34" charset="0"/>
                <a:ea typeface="맑은 고딕" pitchFamily="34" charset="-122"/>
                <a:cs typeface="맑은 고딕" pitchFamily="34" charset="-120"/>
              </a:rPr>
              <a:t>🌐  www.ai-hr.kr</a:t>
            </a:r>
            <a:endParaRPr lang="en-US" sz="950" dirty="0"/>
          </a:p>
        </p:txBody>
      </p:sp>
      <p:sp>
        <p:nvSpPr>
          <p:cNvPr id="8" name="Text 6"/>
          <p:cNvSpPr/>
          <p:nvPr/>
        </p:nvSpPr>
        <p:spPr>
          <a:xfrm>
            <a:off x="365760" y="3200400"/>
            <a:ext cx="2926080" cy="201168"/>
          </a:xfrm>
          <a:prstGeom prst="rect">
            <a:avLst/>
          </a:prstGeom>
          <a:noFill/>
          <a:ln/>
        </p:spPr>
        <p:txBody>
          <a:bodyPr wrap="square" rtlCol="0" anchor="t"/>
          <a:lstStyle/>
          <a:p>
            <a:pPr algn="l" indent="0" marL="0">
              <a:buNone/>
            </a:pPr>
            <a:r>
              <a:rPr lang="en-US" sz="800" b="1" spc="100" kern="0" dirty="0">
                <a:solidFill>
                  <a:srgbClr val="6B9A6B"/>
                </a:solidFill>
                <a:latin typeface="맑은 고딕" pitchFamily="34" charset="0"/>
                <a:ea typeface="맑은 고딕" pitchFamily="34" charset="-122"/>
                <a:cs typeface="맑은 고딕" pitchFamily="34" charset="-120"/>
              </a:rPr>
              <a:t>학력</a:t>
            </a:r>
            <a:endParaRPr lang="en-US" sz="800" dirty="0"/>
          </a:p>
        </p:txBody>
      </p:sp>
      <p:sp>
        <p:nvSpPr>
          <p:cNvPr id="9" name="Shape 7"/>
          <p:cNvSpPr/>
          <p:nvPr/>
        </p:nvSpPr>
        <p:spPr>
          <a:xfrm>
            <a:off x="365760" y="3419856"/>
            <a:ext cx="2926080" cy="0"/>
          </a:xfrm>
          <a:prstGeom prst="line">
            <a:avLst/>
          </a:prstGeom>
          <a:noFill/>
          <a:ln w="9525">
            <a:solidFill>
              <a:srgbClr val="6B9A6B">
                <a:alpha val="30000"/>
              </a:srgbClr>
            </a:solidFill>
            <a:prstDash val="solid"/>
          </a:ln>
        </p:spPr>
      </p:sp>
      <p:sp>
        <p:nvSpPr>
          <p:cNvPr id="10" name="Text 8"/>
          <p:cNvSpPr/>
          <p:nvPr/>
        </p:nvSpPr>
        <p:spPr>
          <a:xfrm>
            <a:off x="365760" y="3511296"/>
            <a:ext cx="2926080" cy="502920"/>
          </a:xfrm>
          <a:prstGeom prst="rect">
            <a:avLst/>
          </a:prstGeom>
          <a:noFill/>
          <a:ln/>
        </p:spPr>
        <p:txBody>
          <a:bodyPr wrap="square" rtlCol="0" anchor="t"/>
          <a:lstStyle/>
          <a:p>
            <a:pPr algn="l" indent="0" marL="0">
              <a:lnSpc>
                <a:spcPct val="130000"/>
              </a:lnSpc>
              <a:buNone/>
            </a:pPr>
            <a:r>
              <a:rPr lang="en-US" sz="950" b="1" dirty="0">
                <a:solidFill>
                  <a:srgbClr val="3A3428"/>
                </a:solidFill>
                <a:latin typeface="맑은 고딕" pitchFamily="34" charset="0"/>
                <a:ea typeface="맑은 고딕" pitchFamily="34" charset="-122"/>
                <a:cs typeface="맑은 고딕" pitchFamily="34" charset="-120"/>
              </a:rPr>
              <a:t>서울문화예술대학교
</a:t>
            </a:r>
            <a:pPr algn="l" indent="0" marL="0">
              <a:lnSpc>
                <a:spcPct val="130000"/>
              </a:lnSpc>
              <a:buNone/>
            </a:pPr>
            <a:r>
              <a:rPr lang="en-US" sz="850" dirty="0">
                <a:solidFill>
                  <a:srgbClr val="7A6E62"/>
                </a:solidFill>
                <a:latin typeface="맑은 고딕" pitchFamily="34" charset="0"/>
                <a:ea typeface="맑은 고딕" pitchFamily="34" charset="-122"/>
                <a:cs typeface="맑은 고딕" pitchFamily="34" charset="-120"/>
              </a:rPr>
              <a:t>실용음악학 학사
</a:t>
            </a:r>
            <a:pPr algn="l" indent="0" marL="0">
              <a:lnSpc>
                <a:spcPct val="130000"/>
              </a:lnSpc>
              <a:buNone/>
            </a:pPr>
            <a:r>
              <a:rPr lang="en-US" sz="800" dirty="0">
                <a:solidFill>
                  <a:srgbClr val="AAA8A0"/>
                </a:solidFill>
                <a:latin typeface="맑은 고딕" pitchFamily="34" charset="0"/>
                <a:ea typeface="맑은 고딕" pitchFamily="34" charset="-122"/>
                <a:cs typeface="맑은 고딕" pitchFamily="34" charset="-120"/>
              </a:rPr>
              <a:t>2017.2 졸업</a:t>
            </a:r>
            <a:endParaRPr lang="en-US" sz="950" dirty="0"/>
          </a:p>
        </p:txBody>
      </p:sp>
      <p:sp>
        <p:nvSpPr>
          <p:cNvPr id="11" name="Text 9"/>
          <p:cNvSpPr/>
          <p:nvPr/>
        </p:nvSpPr>
        <p:spPr>
          <a:xfrm>
            <a:off x="365760" y="4105656"/>
            <a:ext cx="2926080" cy="502920"/>
          </a:xfrm>
          <a:prstGeom prst="rect">
            <a:avLst/>
          </a:prstGeom>
          <a:noFill/>
          <a:ln/>
        </p:spPr>
        <p:txBody>
          <a:bodyPr wrap="square" rtlCol="0" anchor="t"/>
          <a:lstStyle/>
          <a:p>
            <a:pPr algn="l" indent="0" marL="0">
              <a:lnSpc>
                <a:spcPct val="130000"/>
              </a:lnSpc>
              <a:buNone/>
            </a:pPr>
            <a:r>
              <a:rPr lang="en-US" sz="950" b="1" dirty="0">
                <a:solidFill>
                  <a:srgbClr val="3A3428"/>
                </a:solidFill>
                <a:latin typeface="맑은 고딕" pitchFamily="34" charset="0"/>
                <a:ea typeface="맑은 고딕" pitchFamily="34" charset="-122"/>
                <a:cs typeface="맑은 고딕" pitchFamily="34" charset="-120"/>
              </a:rPr>
              <a:t>영파여자고등학교
</a:t>
            </a:r>
            <a:pPr algn="l" indent="0" marL="0">
              <a:lnSpc>
                <a:spcPct val="130000"/>
              </a:lnSpc>
              <a:buNone/>
            </a:pPr>
            <a:r>
              <a:rPr lang="en-US" sz="800" dirty="0">
                <a:solidFill>
                  <a:srgbClr val="AAA8A0"/>
                </a:solidFill>
                <a:latin typeface="맑은 고딕" pitchFamily="34" charset="0"/>
                <a:ea typeface="맑은 고딕" pitchFamily="34" charset="-122"/>
                <a:cs typeface="맑은 고딕" pitchFamily="34" charset="-120"/>
              </a:rPr>
              <a:t>2009.2 졸업</a:t>
            </a:r>
            <a:endParaRPr lang="en-US" sz="950" dirty="0"/>
          </a:p>
        </p:txBody>
      </p:sp>
      <p:sp>
        <p:nvSpPr>
          <p:cNvPr id="12" name="Text 10"/>
          <p:cNvSpPr/>
          <p:nvPr/>
        </p:nvSpPr>
        <p:spPr>
          <a:xfrm>
            <a:off x="365760" y="4590288"/>
            <a:ext cx="2926080" cy="201168"/>
          </a:xfrm>
          <a:prstGeom prst="rect">
            <a:avLst/>
          </a:prstGeom>
          <a:noFill/>
          <a:ln/>
        </p:spPr>
        <p:txBody>
          <a:bodyPr wrap="square" rtlCol="0" anchor="t"/>
          <a:lstStyle/>
          <a:p>
            <a:pPr algn="l" indent="0" marL="0">
              <a:buNone/>
            </a:pPr>
            <a:r>
              <a:rPr lang="en-US" sz="800" b="1" spc="100" kern="0" dirty="0">
                <a:solidFill>
                  <a:srgbClr val="6B9A6B"/>
                </a:solidFill>
                <a:latin typeface="맑은 고딕" pitchFamily="34" charset="0"/>
                <a:ea typeface="맑은 고딕" pitchFamily="34" charset="-122"/>
                <a:cs typeface="맑은 고딕" pitchFamily="34" charset="-120"/>
              </a:rPr>
              <a:t>교육</a:t>
            </a:r>
            <a:endParaRPr lang="en-US" sz="800" dirty="0"/>
          </a:p>
        </p:txBody>
      </p:sp>
      <p:sp>
        <p:nvSpPr>
          <p:cNvPr id="13" name="Shape 11"/>
          <p:cNvSpPr/>
          <p:nvPr/>
        </p:nvSpPr>
        <p:spPr>
          <a:xfrm>
            <a:off x="365760" y="4809744"/>
            <a:ext cx="2926080" cy="0"/>
          </a:xfrm>
          <a:prstGeom prst="line">
            <a:avLst/>
          </a:prstGeom>
          <a:noFill/>
          <a:ln w="9525">
            <a:solidFill>
              <a:srgbClr val="6B9A6B">
                <a:alpha val="30000"/>
              </a:srgbClr>
            </a:solidFill>
            <a:prstDash val="solid"/>
          </a:ln>
        </p:spPr>
      </p:sp>
      <p:sp>
        <p:nvSpPr>
          <p:cNvPr id="14" name="Text 12"/>
          <p:cNvSpPr/>
          <p:nvPr/>
        </p:nvSpPr>
        <p:spPr>
          <a:xfrm>
            <a:off x="365760" y="4901184"/>
            <a:ext cx="2926080" cy="868680"/>
          </a:xfrm>
          <a:prstGeom prst="rect">
            <a:avLst/>
          </a:prstGeom>
          <a:noFill/>
          <a:ln/>
        </p:spPr>
        <p:txBody>
          <a:bodyPr wrap="square" rtlCol="0" anchor="t"/>
          <a:lstStyle/>
          <a:p>
            <a:pPr algn="l" indent="0" marL="0">
              <a:lnSpc>
                <a:spcPct val="150000"/>
              </a:lnSpc>
              <a:buNone/>
            </a:pPr>
            <a:r>
              <a:rPr lang="en-US" sz="850" dirty="0">
                <a:solidFill>
                  <a:srgbClr val="5A5248"/>
                </a:solidFill>
                <a:latin typeface="맑은 고딕" pitchFamily="34" charset="0"/>
                <a:ea typeface="맑은 고딕" pitchFamily="34" charset="-122"/>
                <a:cs typeface="맑은 고딕" pitchFamily="34" charset="-120"/>
              </a:rPr>
              <a:t>·  AI Agent · RAG 개발자 양성과정 수료 (2026)</a:t>
            </a:r>
            <a:endParaRPr lang="en-US" sz="850" dirty="0"/>
          </a:p>
          <a:p>
            <a:pPr algn="l" indent="0" marL="0">
              <a:lnSpc>
                <a:spcPct val="150000"/>
              </a:lnSpc>
              <a:buNone/>
            </a:pPr>
            <a:r>
              <a:rPr lang="en-US" sz="850" dirty="0">
                <a:solidFill>
                  <a:srgbClr val="5A5248"/>
                </a:solidFill>
                <a:latin typeface="맑은 고딕" pitchFamily="34" charset="0"/>
                <a:ea typeface="맑은 고딕" pitchFamily="34" charset="-122"/>
                <a:cs typeface="맑은 고딕" pitchFamily="34" charset="-120"/>
              </a:rPr>
              <a:t>·  그룹사 승격(대리) 교육 수료 (2022.01)</a:t>
            </a:r>
            <a:endParaRPr lang="en-US" sz="850" dirty="0"/>
          </a:p>
          <a:p>
            <a:pPr algn="l" indent="0" marL="0">
              <a:lnSpc>
                <a:spcPct val="150000"/>
              </a:lnSpc>
              <a:buNone/>
            </a:pPr>
            <a:r>
              <a:rPr lang="en-US" sz="850" dirty="0">
                <a:solidFill>
                  <a:srgbClr val="5A5248"/>
                </a:solidFill>
                <a:latin typeface="맑은 고딕" pitchFamily="34" charset="0"/>
                <a:ea typeface="맑은 고딕" pitchFamily="34" charset="-122"/>
                <a:cs typeface="맑은 고딕" pitchFamily="34" charset="-120"/>
              </a:rPr>
              <a:t>·  컬러리스트 실기 과정 수료 (2020.05)</a:t>
            </a:r>
            <a:endParaRPr lang="en-US" sz="850" dirty="0"/>
          </a:p>
          <a:p>
            <a:pPr algn="l" indent="0" marL="0">
              <a:lnSpc>
                <a:spcPct val="150000"/>
              </a:lnSpc>
              <a:buNone/>
            </a:pPr>
            <a:r>
              <a:rPr lang="en-US" sz="850" dirty="0">
                <a:solidFill>
                  <a:srgbClr val="5A5248"/>
                </a:solidFill>
                <a:latin typeface="맑은 고딕" pitchFamily="34" charset="0"/>
                <a:ea typeface="맑은 고딕" pitchFamily="34" charset="-122"/>
                <a:cs typeface="맑은 고딕" pitchFamily="34" charset="-120"/>
              </a:rPr>
              <a:t>·  AFPK 교육과정 수료 (2013.05)</a:t>
            </a:r>
            <a:endParaRPr lang="en-US" sz="850" dirty="0"/>
          </a:p>
          <a:p>
            <a:pPr algn="l" indent="0" marL="0">
              <a:lnSpc>
                <a:spcPct val="150000"/>
              </a:lnSpc>
              <a:buNone/>
            </a:pPr>
            <a:r>
              <a:rPr lang="en-US" sz="850" dirty="0">
                <a:solidFill>
                  <a:srgbClr val="5A5248"/>
                </a:solidFill>
                <a:latin typeface="맑은 고딕" pitchFamily="34" charset="0"/>
                <a:ea typeface="맑은 고딕" pitchFamily="34" charset="-122"/>
                <a:cs typeface="맑은 고딕" pitchFamily="34" charset="-120"/>
              </a:rPr>
              <a:t>·  Google Analytics 수료 (2020.12)</a:t>
            </a:r>
            <a:endParaRPr lang="en-US" sz="850" dirty="0"/>
          </a:p>
        </p:txBody>
      </p:sp>
      <p:sp>
        <p:nvSpPr>
          <p:cNvPr id="15" name="Text 13"/>
          <p:cNvSpPr/>
          <p:nvPr/>
        </p:nvSpPr>
        <p:spPr>
          <a:xfrm>
            <a:off x="365760" y="5861304"/>
            <a:ext cx="2926080" cy="201168"/>
          </a:xfrm>
          <a:prstGeom prst="rect">
            <a:avLst/>
          </a:prstGeom>
          <a:noFill/>
          <a:ln/>
        </p:spPr>
        <p:txBody>
          <a:bodyPr wrap="square" rtlCol="0" anchor="t"/>
          <a:lstStyle/>
          <a:p>
            <a:pPr algn="l" indent="0" marL="0">
              <a:buNone/>
            </a:pPr>
            <a:r>
              <a:rPr lang="en-US" sz="800" b="1" spc="100" kern="0" dirty="0">
                <a:solidFill>
                  <a:srgbClr val="6B9A6B"/>
                </a:solidFill>
                <a:latin typeface="맑은 고딕" pitchFamily="34" charset="0"/>
                <a:ea typeface="맑은 고딕" pitchFamily="34" charset="-122"/>
                <a:cs typeface="맑은 고딕" pitchFamily="34" charset="-120"/>
              </a:rPr>
              <a:t>취미</a:t>
            </a:r>
            <a:endParaRPr lang="en-US" sz="800" dirty="0"/>
          </a:p>
        </p:txBody>
      </p:sp>
      <p:sp>
        <p:nvSpPr>
          <p:cNvPr id="16" name="Shape 14"/>
          <p:cNvSpPr/>
          <p:nvPr/>
        </p:nvSpPr>
        <p:spPr>
          <a:xfrm>
            <a:off x="365760" y="6080760"/>
            <a:ext cx="2926080" cy="0"/>
          </a:xfrm>
          <a:prstGeom prst="line">
            <a:avLst/>
          </a:prstGeom>
          <a:noFill/>
          <a:ln w="9525">
            <a:solidFill>
              <a:srgbClr val="6B9A6B">
                <a:alpha val="30000"/>
              </a:srgbClr>
            </a:solidFill>
            <a:prstDash val="solid"/>
          </a:ln>
        </p:spPr>
      </p:sp>
      <p:sp>
        <p:nvSpPr>
          <p:cNvPr id="17" name="Text 15"/>
          <p:cNvSpPr/>
          <p:nvPr/>
        </p:nvSpPr>
        <p:spPr>
          <a:xfrm>
            <a:off x="365760" y="6172200"/>
            <a:ext cx="2926080" cy="274320"/>
          </a:xfrm>
          <a:prstGeom prst="rect">
            <a:avLst/>
          </a:prstGeom>
          <a:noFill/>
          <a:ln/>
        </p:spPr>
        <p:txBody>
          <a:bodyPr wrap="square" rtlCol="0" anchor="t"/>
          <a:lstStyle/>
          <a:p>
            <a:pPr algn="ctr" indent="0" marL="0">
              <a:buNone/>
            </a:pPr>
            <a:r>
              <a:rPr lang="en-US" sz="900" dirty="0">
                <a:solidFill>
                  <a:srgbClr val="7A6E62"/>
                </a:solidFill>
                <a:latin typeface="맑은 고딕" pitchFamily="34" charset="0"/>
                <a:ea typeface="맑은 고딕" pitchFamily="34" charset="-122"/>
                <a:cs typeface="맑은 고딕" pitchFamily="34" charset="-120"/>
              </a:rPr>
              <a:t>🧳 여행      📖 트렌드 읽기      🎵 음악감상</a:t>
            </a:r>
            <a:endParaRPr lang="en-US" sz="900" dirty="0"/>
          </a:p>
        </p:txBody>
      </p:sp>
      <p:sp>
        <p:nvSpPr>
          <p:cNvPr id="18" name="Text 16"/>
          <p:cNvSpPr/>
          <p:nvPr/>
        </p:nvSpPr>
        <p:spPr>
          <a:xfrm>
            <a:off x="4023360" y="411480"/>
            <a:ext cx="7818120" cy="237744"/>
          </a:xfrm>
          <a:prstGeom prst="rect">
            <a:avLst/>
          </a:prstGeom>
          <a:noFill/>
          <a:ln/>
        </p:spPr>
        <p:txBody>
          <a:bodyPr wrap="square" rtlCol="0" anchor="b"/>
          <a:lstStyle/>
          <a:p>
            <a:pPr algn="l" indent="0" marL="0">
              <a:buNone/>
            </a:pPr>
            <a:r>
              <a:rPr lang="en-US" sz="900" b="1" spc="150" kern="0" dirty="0">
                <a:solidFill>
                  <a:srgbClr val="6B9A6B"/>
                </a:solidFill>
              </a:rPr>
              <a:t>경력  </a:t>
            </a:r>
            <a:pPr algn="l" indent="0" marL="0">
              <a:buNone/>
            </a:pPr>
            <a:r>
              <a:rPr lang="en-US" sz="900" dirty="0">
                <a:solidFill>
                  <a:srgbClr val="AAA8A0"/>
                </a:solidFill>
                <a:latin typeface="Cormorant Garamond" pitchFamily="34" charset="0"/>
                <a:ea typeface="Cormorant Garamond" pitchFamily="34" charset="-122"/>
                <a:cs typeface="Cormorant Garamond" pitchFamily="34" charset="-120"/>
              </a:rPr>
              <a:t>총 경력 12년 5개월</a:t>
            </a:r>
            <a:endParaRPr lang="en-US" sz="900" dirty="0"/>
          </a:p>
        </p:txBody>
      </p:sp>
      <p:sp>
        <p:nvSpPr>
          <p:cNvPr id="19" name="Shape 17"/>
          <p:cNvSpPr/>
          <p:nvPr/>
        </p:nvSpPr>
        <p:spPr>
          <a:xfrm>
            <a:off x="4023360" y="676656"/>
            <a:ext cx="7818120" cy="0"/>
          </a:xfrm>
          <a:prstGeom prst="line">
            <a:avLst/>
          </a:prstGeom>
          <a:noFill/>
          <a:ln w="9525">
            <a:solidFill>
              <a:srgbClr val="6B9A6B">
                <a:alpha val="30000"/>
              </a:srgbClr>
            </a:solidFill>
            <a:prstDash val="solid"/>
          </a:ln>
        </p:spPr>
      </p:sp>
      <p:sp>
        <p:nvSpPr>
          <p:cNvPr id="20" name="Text 18"/>
          <p:cNvSpPr/>
          <p:nvPr/>
        </p:nvSpPr>
        <p:spPr>
          <a:xfrm>
            <a:off x="4023360" y="804672"/>
            <a:ext cx="5989320" cy="219456"/>
          </a:xfrm>
          <a:prstGeom prst="rect">
            <a:avLst/>
          </a:prstGeom>
          <a:noFill/>
          <a:ln/>
        </p:spPr>
        <p:txBody>
          <a:bodyPr wrap="square" rtlCol="0" anchor="t"/>
          <a:lstStyle/>
          <a:p>
            <a:pPr algn="l" indent="0" marL="0">
              <a:buNone/>
            </a:pPr>
            <a:r>
              <a:rPr lang="en-US" sz="1050" b="1" dirty="0">
                <a:solidFill>
                  <a:srgbClr val="2C2820"/>
                </a:solidFill>
              </a:rPr>
              <a:t>신성통상(주)   </a:t>
            </a:r>
            <a:pPr algn="l" indent="0" marL="0">
              <a:buNone/>
            </a:pPr>
            <a:r>
              <a:rPr lang="en-US" sz="850" dirty="0">
                <a:solidFill>
                  <a:srgbClr val="8A7A6A"/>
                </a:solidFill>
              </a:rPr>
              <a:t>대리 · 임원비서 / 인사·총무·경영지원</a:t>
            </a:r>
            <a:endParaRPr lang="en-US" sz="1050" dirty="0"/>
          </a:p>
        </p:txBody>
      </p:sp>
      <p:sp>
        <p:nvSpPr>
          <p:cNvPr id="21" name="Text 19"/>
          <p:cNvSpPr/>
          <p:nvPr/>
        </p:nvSpPr>
        <p:spPr>
          <a:xfrm>
            <a:off x="10012680" y="804672"/>
            <a:ext cx="1828800" cy="219456"/>
          </a:xfrm>
          <a:prstGeom prst="rect">
            <a:avLst/>
          </a:prstGeom>
          <a:noFill/>
          <a:ln/>
        </p:spPr>
        <p:txBody>
          <a:bodyPr wrap="square" rtlCol="0" anchor="t"/>
          <a:lstStyle/>
          <a:p>
            <a:pPr algn="r" indent="0" marL="0">
              <a:buNone/>
            </a:pPr>
            <a:r>
              <a:rPr lang="en-US" sz="800" dirty="0">
                <a:solidFill>
                  <a:srgbClr val="AAA8A0"/>
                </a:solidFill>
                <a:latin typeface="맑은 고딕" pitchFamily="34" charset="0"/>
                <a:ea typeface="맑은 고딕" pitchFamily="34" charset="-122"/>
                <a:cs typeface="맑은 고딕" pitchFamily="34" charset="-120"/>
              </a:rPr>
              <a:t>2016.07 — 2025.12</a:t>
            </a:r>
            <a:endParaRPr lang="en-US" sz="800" dirty="0"/>
          </a:p>
        </p:txBody>
      </p:sp>
      <p:sp>
        <p:nvSpPr>
          <p:cNvPr id="22" name="Text 20"/>
          <p:cNvSpPr/>
          <p:nvPr/>
        </p:nvSpPr>
        <p:spPr>
          <a:xfrm>
            <a:off x="4023360" y="1033272"/>
            <a:ext cx="7818120" cy="274320"/>
          </a:xfrm>
          <a:prstGeom prst="rect">
            <a:avLst/>
          </a:prstGeom>
          <a:noFill/>
          <a:ln/>
        </p:spPr>
        <p:txBody>
          <a:bodyPr wrap="square" rtlCol="0" anchor="t"/>
          <a:lstStyle/>
          <a:p>
            <a:pPr algn="l" indent="0" marL="0">
              <a:lnSpc>
                <a:spcPct val="130000"/>
              </a:lnSpc>
              <a:buNone/>
            </a:pPr>
            <a:r>
              <a:rPr lang="en-US" sz="900" dirty="0">
                <a:solidFill>
                  <a:srgbClr val="6A6258"/>
                </a:solidFill>
                <a:latin typeface="맑은 고딕" pitchFamily="34" charset="0"/>
                <a:ea typeface="맑은 고딕" pitchFamily="34" charset="-122"/>
                <a:cs typeface="맑은 고딕" pitchFamily="34" charset="-120"/>
              </a:rPr>
              <a:t>전사 운영 지원 / 출장·해외주재원·복리후생 / 수출본부 오피스 운영 / 업무 효율화</a:t>
            </a:r>
            <a:endParaRPr lang="en-US" sz="900" dirty="0"/>
          </a:p>
        </p:txBody>
      </p:sp>
      <p:sp>
        <p:nvSpPr>
          <p:cNvPr id="23" name="Text 21"/>
          <p:cNvSpPr/>
          <p:nvPr/>
        </p:nvSpPr>
        <p:spPr>
          <a:xfrm>
            <a:off x="4023360" y="1426464"/>
            <a:ext cx="5989320" cy="219456"/>
          </a:xfrm>
          <a:prstGeom prst="rect">
            <a:avLst/>
          </a:prstGeom>
          <a:noFill/>
          <a:ln/>
        </p:spPr>
        <p:txBody>
          <a:bodyPr wrap="square" rtlCol="0" anchor="t"/>
          <a:lstStyle/>
          <a:p>
            <a:pPr algn="l" indent="0" marL="0">
              <a:buNone/>
            </a:pPr>
            <a:r>
              <a:rPr lang="en-US" sz="1050" b="1" dirty="0">
                <a:solidFill>
                  <a:srgbClr val="2C2820"/>
                </a:solidFill>
              </a:rPr>
              <a:t>포에버21코리아리테일(유)   </a:t>
            </a:r>
            <a:pPr algn="l" indent="0" marL="0">
              <a:buNone/>
            </a:pPr>
            <a:r>
              <a:rPr lang="en-US" sz="850" dirty="0">
                <a:solidFill>
                  <a:srgbClr val="8A7A6A"/>
                </a:solidFill>
              </a:rPr>
              <a:t>ACC VMD</a:t>
            </a:r>
            <a:endParaRPr lang="en-US" sz="1050" dirty="0"/>
          </a:p>
        </p:txBody>
      </p:sp>
      <p:sp>
        <p:nvSpPr>
          <p:cNvPr id="24" name="Text 22"/>
          <p:cNvSpPr/>
          <p:nvPr/>
        </p:nvSpPr>
        <p:spPr>
          <a:xfrm>
            <a:off x="10012680" y="1426464"/>
            <a:ext cx="1828800" cy="219456"/>
          </a:xfrm>
          <a:prstGeom prst="rect">
            <a:avLst/>
          </a:prstGeom>
          <a:noFill/>
          <a:ln/>
        </p:spPr>
        <p:txBody>
          <a:bodyPr wrap="square" rtlCol="0" anchor="t"/>
          <a:lstStyle/>
          <a:p>
            <a:pPr algn="r" indent="0" marL="0">
              <a:buNone/>
            </a:pPr>
            <a:r>
              <a:rPr lang="en-US" sz="800" dirty="0">
                <a:solidFill>
                  <a:srgbClr val="AAA8A0"/>
                </a:solidFill>
                <a:latin typeface="맑은 고딕" pitchFamily="34" charset="0"/>
                <a:ea typeface="맑은 고딕" pitchFamily="34" charset="-122"/>
                <a:cs typeface="맑은 고딕" pitchFamily="34" charset="-120"/>
              </a:rPr>
              <a:t>2010.03 — 2011.11 / 2012.08 — 2013.09</a:t>
            </a:r>
            <a:endParaRPr lang="en-US" sz="800" dirty="0"/>
          </a:p>
        </p:txBody>
      </p:sp>
      <p:sp>
        <p:nvSpPr>
          <p:cNvPr id="25" name="Text 23"/>
          <p:cNvSpPr/>
          <p:nvPr/>
        </p:nvSpPr>
        <p:spPr>
          <a:xfrm>
            <a:off x="4023360" y="1655064"/>
            <a:ext cx="7818120" cy="274320"/>
          </a:xfrm>
          <a:prstGeom prst="rect">
            <a:avLst/>
          </a:prstGeom>
          <a:noFill/>
          <a:ln/>
        </p:spPr>
        <p:txBody>
          <a:bodyPr wrap="square" rtlCol="0" anchor="t"/>
          <a:lstStyle/>
          <a:p>
            <a:pPr algn="l" indent="0" marL="0">
              <a:lnSpc>
                <a:spcPct val="130000"/>
              </a:lnSpc>
              <a:buNone/>
            </a:pPr>
            <a:r>
              <a:rPr lang="en-US" sz="900" dirty="0">
                <a:solidFill>
                  <a:srgbClr val="6A6258"/>
                </a:solidFill>
                <a:latin typeface="맑은 고딕" pitchFamily="34" charset="0"/>
                <a:ea typeface="맑은 고딕" pitchFamily="34" charset="-122"/>
                <a:cs typeface="맑은 고딕" pitchFamily="34" charset="-120"/>
              </a:rPr>
              <a:t>판매 분석·재고 관리 / 오픈·리뉴얼 셋업</a:t>
            </a:r>
            <a:endParaRPr lang="en-US" sz="900" dirty="0"/>
          </a:p>
        </p:txBody>
      </p:sp>
      <p:sp>
        <p:nvSpPr>
          <p:cNvPr id="26" name="Text 24"/>
          <p:cNvSpPr/>
          <p:nvPr/>
        </p:nvSpPr>
        <p:spPr>
          <a:xfrm>
            <a:off x="4023360" y="2048256"/>
            <a:ext cx="5989320" cy="219456"/>
          </a:xfrm>
          <a:prstGeom prst="rect">
            <a:avLst/>
          </a:prstGeom>
          <a:noFill/>
          <a:ln/>
        </p:spPr>
        <p:txBody>
          <a:bodyPr wrap="square" rtlCol="0" anchor="t"/>
          <a:lstStyle/>
          <a:p>
            <a:pPr algn="l" indent="0" marL="0">
              <a:buNone/>
            </a:pPr>
            <a:r>
              <a:rPr lang="en-US" sz="1050" b="1" dirty="0">
                <a:solidFill>
                  <a:srgbClr val="2C2820"/>
                </a:solidFill>
              </a:rPr>
              <a:t>AI Agent · RAG 프로젝트 수행   </a:t>
            </a:r>
            <a:endParaRPr lang="en-US" sz="1050" dirty="0"/>
          </a:p>
        </p:txBody>
      </p:sp>
      <p:sp>
        <p:nvSpPr>
          <p:cNvPr id="27" name="Text 25"/>
          <p:cNvSpPr/>
          <p:nvPr/>
        </p:nvSpPr>
        <p:spPr>
          <a:xfrm>
            <a:off x="10012680" y="2048256"/>
            <a:ext cx="1828800" cy="219456"/>
          </a:xfrm>
          <a:prstGeom prst="rect">
            <a:avLst/>
          </a:prstGeom>
          <a:noFill/>
          <a:ln/>
        </p:spPr>
        <p:txBody>
          <a:bodyPr wrap="square" rtlCol="0" anchor="t"/>
          <a:lstStyle/>
          <a:p>
            <a:pPr algn="r" indent="0" marL="0">
              <a:buNone/>
            </a:pPr>
            <a:r>
              <a:rPr lang="en-US" sz="800" dirty="0">
                <a:solidFill>
                  <a:srgbClr val="AAA8A0"/>
                </a:solidFill>
                <a:latin typeface="맑은 고딕" pitchFamily="34" charset="0"/>
                <a:ea typeface="맑은 고딕" pitchFamily="34" charset="-122"/>
                <a:cs typeface="맑은 고딕" pitchFamily="34" charset="-120"/>
              </a:rPr>
              <a:t>2025.12 — 2026.05</a:t>
            </a:r>
            <a:endParaRPr lang="en-US" sz="800" dirty="0"/>
          </a:p>
        </p:txBody>
      </p:sp>
      <p:sp>
        <p:nvSpPr>
          <p:cNvPr id="28" name="Text 26"/>
          <p:cNvSpPr/>
          <p:nvPr/>
        </p:nvSpPr>
        <p:spPr>
          <a:xfrm>
            <a:off x="4023360" y="2276856"/>
            <a:ext cx="7818120" cy="274320"/>
          </a:xfrm>
          <a:prstGeom prst="rect">
            <a:avLst/>
          </a:prstGeom>
          <a:noFill/>
          <a:ln/>
        </p:spPr>
        <p:txBody>
          <a:bodyPr wrap="square" rtlCol="0" anchor="t"/>
          <a:lstStyle/>
          <a:p>
            <a:pPr algn="l" indent="0" marL="0">
              <a:lnSpc>
                <a:spcPct val="130000"/>
              </a:lnSpc>
              <a:buNone/>
            </a:pPr>
            <a:r>
              <a:rPr lang="en-US" sz="900" dirty="0">
                <a:solidFill>
                  <a:srgbClr val="6A6258"/>
                </a:solidFill>
                <a:latin typeface="맑은 고딕" pitchFamily="34" charset="0"/>
                <a:ea typeface="맑은 고딕" pitchFamily="34" charset="-122"/>
                <a:cs typeface="맑은 고딕" pitchFamily="34" charset="-120"/>
              </a:rPr>
              <a:t>AI 기반 채용 서비스 / 수출 데이터 자동화 서비스 기획·구현·배포</a:t>
            </a:r>
            <a:endParaRPr lang="en-US" sz="900" dirty="0"/>
          </a:p>
        </p:txBody>
      </p:sp>
      <p:sp>
        <p:nvSpPr>
          <p:cNvPr id="29" name="Text 27"/>
          <p:cNvSpPr/>
          <p:nvPr/>
        </p:nvSpPr>
        <p:spPr>
          <a:xfrm>
            <a:off x="4023360" y="2642616"/>
            <a:ext cx="3657600" cy="201168"/>
          </a:xfrm>
          <a:prstGeom prst="rect">
            <a:avLst/>
          </a:prstGeom>
          <a:noFill/>
          <a:ln/>
        </p:spPr>
        <p:txBody>
          <a:bodyPr wrap="square" rtlCol="0" anchor="t"/>
          <a:lstStyle/>
          <a:p>
            <a:pPr algn="l" indent="0" marL="0">
              <a:buNone/>
            </a:pPr>
            <a:r>
              <a:rPr lang="en-US" sz="800" b="1" spc="100" kern="0" dirty="0">
                <a:solidFill>
                  <a:srgbClr val="6B9A6B"/>
                </a:solidFill>
                <a:latin typeface="맑은 고딕" pitchFamily="34" charset="0"/>
                <a:ea typeface="맑은 고딕" pitchFamily="34" charset="-122"/>
                <a:cs typeface="맑은 고딕" pitchFamily="34" charset="-120"/>
              </a:rPr>
              <a:t>어학·자격증</a:t>
            </a:r>
            <a:endParaRPr lang="en-US" sz="800" dirty="0"/>
          </a:p>
        </p:txBody>
      </p:sp>
      <p:sp>
        <p:nvSpPr>
          <p:cNvPr id="30" name="Text 28"/>
          <p:cNvSpPr/>
          <p:nvPr/>
        </p:nvSpPr>
        <p:spPr>
          <a:xfrm>
            <a:off x="7955280" y="2642616"/>
            <a:ext cx="3657600" cy="201168"/>
          </a:xfrm>
          <a:prstGeom prst="rect">
            <a:avLst/>
          </a:prstGeom>
          <a:noFill/>
          <a:ln/>
        </p:spPr>
        <p:txBody>
          <a:bodyPr wrap="square" rtlCol="0" anchor="t"/>
          <a:lstStyle/>
          <a:p>
            <a:pPr algn="l" indent="0" marL="0">
              <a:buNone/>
            </a:pPr>
            <a:r>
              <a:rPr lang="en-US" sz="800" b="1" spc="100" kern="0" dirty="0">
                <a:solidFill>
                  <a:srgbClr val="6B9A6B"/>
                </a:solidFill>
                <a:latin typeface="맑은 고딕" pitchFamily="34" charset="0"/>
                <a:ea typeface="맑은 고딕" pitchFamily="34" charset="-122"/>
                <a:cs typeface="맑은 고딕" pitchFamily="34" charset="-120"/>
              </a:rPr>
              <a:t>OA·업무 스킬</a:t>
            </a:r>
            <a:endParaRPr lang="en-US" sz="800" dirty="0"/>
          </a:p>
        </p:txBody>
      </p:sp>
      <p:sp>
        <p:nvSpPr>
          <p:cNvPr id="31" name="Shape 29"/>
          <p:cNvSpPr/>
          <p:nvPr/>
        </p:nvSpPr>
        <p:spPr>
          <a:xfrm>
            <a:off x="4023360" y="2862072"/>
            <a:ext cx="3657600" cy="0"/>
          </a:xfrm>
          <a:prstGeom prst="line">
            <a:avLst/>
          </a:prstGeom>
          <a:noFill/>
          <a:ln w="9525">
            <a:solidFill>
              <a:srgbClr val="6B9A6B">
                <a:alpha val="30000"/>
              </a:srgbClr>
            </a:solidFill>
            <a:prstDash val="solid"/>
          </a:ln>
        </p:spPr>
      </p:sp>
      <p:sp>
        <p:nvSpPr>
          <p:cNvPr id="32" name="Shape 30"/>
          <p:cNvSpPr/>
          <p:nvPr/>
        </p:nvSpPr>
        <p:spPr>
          <a:xfrm>
            <a:off x="7955280" y="2862072"/>
            <a:ext cx="3657600" cy="0"/>
          </a:xfrm>
          <a:prstGeom prst="line">
            <a:avLst/>
          </a:prstGeom>
          <a:noFill/>
          <a:ln w="9525">
            <a:solidFill>
              <a:srgbClr val="6B9A6B">
                <a:alpha val="30000"/>
              </a:srgbClr>
            </a:solidFill>
            <a:prstDash val="solid"/>
          </a:ln>
        </p:spPr>
      </p:sp>
      <p:sp>
        <p:nvSpPr>
          <p:cNvPr id="33" name="Text 31"/>
          <p:cNvSpPr/>
          <p:nvPr/>
        </p:nvSpPr>
        <p:spPr>
          <a:xfrm>
            <a:off x="4023360" y="2953512"/>
            <a:ext cx="3657600" cy="822960"/>
          </a:xfrm>
          <a:prstGeom prst="rect">
            <a:avLst/>
          </a:prstGeom>
          <a:noFill/>
          <a:ln/>
        </p:spPr>
        <p:txBody>
          <a:bodyPr wrap="square" rtlCol="0" anchor="t"/>
          <a:lstStyle/>
          <a:p>
            <a:pPr algn="l" indent="0" marL="0">
              <a:lnSpc>
                <a:spcPct val="170000"/>
              </a:lnSpc>
              <a:buNone/>
            </a:pPr>
            <a:r>
              <a:rPr lang="en-US" sz="900" dirty="0">
                <a:solidFill>
                  <a:srgbClr val="5A5248"/>
                </a:solidFill>
                <a:latin typeface="맑은 고딕" pitchFamily="34" charset="0"/>
                <a:ea typeface="맑은 고딕" pitchFamily="34" charset="-122"/>
                <a:cs typeface="맑은 고딕" pitchFamily="34" charset="-120"/>
              </a:rPr>
              <a:t>HSK 2급 (중국어, 2024)</a:t>
            </a:r>
            <a:endParaRPr lang="en-US" sz="900" dirty="0"/>
          </a:p>
          <a:p>
            <a:pPr algn="l" indent="0" marL="0">
              <a:lnSpc>
                <a:spcPct val="170000"/>
              </a:lnSpc>
              <a:buNone/>
            </a:pPr>
            <a:r>
              <a:rPr lang="en-US" sz="900" dirty="0">
                <a:solidFill>
                  <a:srgbClr val="5A5248"/>
                </a:solidFill>
                <a:latin typeface="맑은 고딕" pitchFamily="34" charset="0"/>
                <a:ea typeface="맑은 고딕" pitchFamily="34" charset="-122"/>
                <a:cs typeface="맑은 고딕" pitchFamily="34" charset="-120"/>
              </a:rPr>
              <a:t>OPIc IM2 (영어, 2022)</a:t>
            </a:r>
            <a:endParaRPr lang="en-US" sz="900" dirty="0"/>
          </a:p>
          <a:p>
            <a:pPr algn="l" indent="0" marL="0">
              <a:lnSpc>
                <a:spcPct val="170000"/>
              </a:lnSpc>
              <a:buNone/>
            </a:pPr>
            <a:r>
              <a:rPr lang="en-US" sz="900" dirty="0">
                <a:solidFill>
                  <a:srgbClr val="5A5248"/>
                </a:solidFill>
                <a:latin typeface="맑은 고딕" pitchFamily="34" charset="0"/>
                <a:ea typeface="맑은 고딕" pitchFamily="34" charset="-122"/>
                <a:cs typeface="맑은 고딕" pitchFamily="34" charset="-120"/>
              </a:rPr>
              <a:t>GTQ 2급 (2021.04)</a:t>
            </a:r>
            <a:endParaRPr lang="en-US" sz="900" dirty="0"/>
          </a:p>
          <a:p>
            <a:pPr algn="l" indent="0" marL="0">
              <a:lnSpc>
                <a:spcPct val="170000"/>
              </a:lnSpc>
              <a:buNone/>
            </a:pPr>
            <a:r>
              <a:rPr lang="en-US" sz="900" dirty="0">
                <a:solidFill>
                  <a:srgbClr val="5A5248"/>
                </a:solidFill>
                <a:latin typeface="맑은 고딕" pitchFamily="34" charset="0"/>
                <a:ea typeface="맑은 고딕" pitchFamily="34" charset="-122"/>
                <a:cs typeface="맑은 고딕" pitchFamily="34" charset="-120"/>
              </a:rPr>
              <a:t>자동차운전면허 2종 보통</a:t>
            </a:r>
            <a:endParaRPr lang="en-US" sz="900" dirty="0"/>
          </a:p>
        </p:txBody>
      </p:sp>
      <p:sp>
        <p:nvSpPr>
          <p:cNvPr id="34" name="Text 32"/>
          <p:cNvSpPr/>
          <p:nvPr/>
        </p:nvSpPr>
        <p:spPr>
          <a:xfrm>
            <a:off x="7955280" y="2953512"/>
            <a:ext cx="1645920" cy="182880"/>
          </a:xfrm>
          <a:prstGeom prst="rect">
            <a:avLst/>
          </a:prstGeom>
          <a:noFill/>
          <a:ln/>
        </p:spPr>
        <p:txBody>
          <a:bodyPr wrap="square" rtlCol="0" anchor="ctr"/>
          <a:lstStyle/>
          <a:p>
            <a:pPr algn="l" indent="0" marL="0">
              <a:buNone/>
            </a:pPr>
            <a:r>
              <a:rPr lang="en-US" sz="900" dirty="0">
                <a:solidFill>
                  <a:srgbClr val="5A5248"/>
                </a:solidFill>
                <a:latin typeface="맑은 고딕" pitchFamily="34" charset="0"/>
                <a:ea typeface="맑은 고딕" pitchFamily="34" charset="-122"/>
                <a:cs typeface="맑은 고딕" pitchFamily="34" charset="-120"/>
              </a:rPr>
              <a:t>Excel</a:t>
            </a:r>
            <a:endParaRPr lang="en-US" sz="900" dirty="0"/>
          </a:p>
        </p:txBody>
      </p:sp>
      <p:sp>
        <p:nvSpPr>
          <p:cNvPr id="35" name="Text 33"/>
          <p:cNvSpPr/>
          <p:nvPr/>
        </p:nvSpPr>
        <p:spPr>
          <a:xfrm>
            <a:off x="9692640" y="2953512"/>
            <a:ext cx="1371600" cy="182880"/>
          </a:xfrm>
          <a:prstGeom prst="rect">
            <a:avLst/>
          </a:prstGeom>
          <a:noFill/>
          <a:ln/>
        </p:spPr>
        <p:txBody>
          <a:bodyPr wrap="square" rtlCol="0" anchor="ctr"/>
          <a:lstStyle/>
          <a:p>
            <a:pPr algn="l" indent="0" marL="0">
              <a:buNone/>
            </a:pPr>
            <a:r>
              <a:rPr lang="en-US" sz="900" spc="100" kern="0" dirty="0">
                <a:solidFill>
                  <a:srgbClr val="6B9A6B"/>
                </a:solidFill>
                <a:latin typeface="맑은 고딕" pitchFamily="34" charset="0"/>
                <a:ea typeface="맑은 고딕" pitchFamily="34" charset="-122"/>
                <a:cs typeface="맑은 고딕" pitchFamily="34" charset="-120"/>
              </a:rPr>
              <a:t>●●●●○</a:t>
            </a:r>
            <a:endParaRPr lang="en-US" sz="900" dirty="0"/>
          </a:p>
        </p:txBody>
      </p:sp>
      <p:sp>
        <p:nvSpPr>
          <p:cNvPr id="36" name="Text 34"/>
          <p:cNvSpPr/>
          <p:nvPr/>
        </p:nvSpPr>
        <p:spPr>
          <a:xfrm>
            <a:off x="7955280" y="3163824"/>
            <a:ext cx="1645920" cy="182880"/>
          </a:xfrm>
          <a:prstGeom prst="rect">
            <a:avLst/>
          </a:prstGeom>
          <a:noFill/>
          <a:ln/>
        </p:spPr>
        <p:txBody>
          <a:bodyPr wrap="square" rtlCol="0" anchor="ctr"/>
          <a:lstStyle/>
          <a:p>
            <a:pPr algn="l" indent="0" marL="0">
              <a:buNone/>
            </a:pPr>
            <a:r>
              <a:rPr lang="en-US" sz="900" dirty="0">
                <a:solidFill>
                  <a:srgbClr val="5A5248"/>
                </a:solidFill>
                <a:latin typeface="맑은 고딕" pitchFamily="34" charset="0"/>
                <a:ea typeface="맑은 고딕" pitchFamily="34" charset="-122"/>
                <a:cs typeface="맑은 고딕" pitchFamily="34" charset="-120"/>
              </a:rPr>
              <a:t>한글 / Word</a:t>
            </a:r>
            <a:endParaRPr lang="en-US" sz="900" dirty="0"/>
          </a:p>
        </p:txBody>
      </p:sp>
      <p:sp>
        <p:nvSpPr>
          <p:cNvPr id="37" name="Text 35"/>
          <p:cNvSpPr/>
          <p:nvPr/>
        </p:nvSpPr>
        <p:spPr>
          <a:xfrm>
            <a:off x="9692640" y="3163824"/>
            <a:ext cx="1371600" cy="182880"/>
          </a:xfrm>
          <a:prstGeom prst="rect">
            <a:avLst/>
          </a:prstGeom>
          <a:noFill/>
          <a:ln/>
        </p:spPr>
        <p:txBody>
          <a:bodyPr wrap="square" rtlCol="0" anchor="ctr"/>
          <a:lstStyle/>
          <a:p>
            <a:pPr algn="l" indent="0" marL="0">
              <a:buNone/>
            </a:pPr>
            <a:r>
              <a:rPr lang="en-US" sz="900" spc="100" kern="0" dirty="0">
                <a:solidFill>
                  <a:srgbClr val="6B9A6B"/>
                </a:solidFill>
                <a:latin typeface="맑은 고딕" pitchFamily="34" charset="0"/>
                <a:ea typeface="맑은 고딕" pitchFamily="34" charset="-122"/>
                <a:cs typeface="맑은 고딕" pitchFamily="34" charset="-120"/>
              </a:rPr>
              <a:t>●●●●○</a:t>
            </a:r>
            <a:endParaRPr lang="en-US" sz="900" dirty="0"/>
          </a:p>
        </p:txBody>
      </p:sp>
      <p:sp>
        <p:nvSpPr>
          <p:cNvPr id="38" name="Text 36"/>
          <p:cNvSpPr/>
          <p:nvPr/>
        </p:nvSpPr>
        <p:spPr>
          <a:xfrm>
            <a:off x="7955280" y="3374136"/>
            <a:ext cx="1645920" cy="182880"/>
          </a:xfrm>
          <a:prstGeom prst="rect">
            <a:avLst/>
          </a:prstGeom>
          <a:noFill/>
          <a:ln/>
        </p:spPr>
        <p:txBody>
          <a:bodyPr wrap="square" rtlCol="0" anchor="ctr"/>
          <a:lstStyle/>
          <a:p>
            <a:pPr algn="l" indent="0" marL="0">
              <a:buNone/>
            </a:pPr>
            <a:r>
              <a:rPr lang="en-US" sz="900" dirty="0">
                <a:solidFill>
                  <a:srgbClr val="5A5248"/>
                </a:solidFill>
                <a:latin typeface="맑은 고딕" pitchFamily="34" charset="0"/>
                <a:ea typeface="맑은 고딕" pitchFamily="34" charset="-122"/>
                <a:cs typeface="맑은 고딕" pitchFamily="34" charset="-120"/>
              </a:rPr>
              <a:t>PowerPoint</a:t>
            </a:r>
            <a:endParaRPr lang="en-US" sz="900" dirty="0"/>
          </a:p>
        </p:txBody>
      </p:sp>
      <p:sp>
        <p:nvSpPr>
          <p:cNvPr id="39" name="Text 37"/>
          <p:cNvSpPr/>
          <p:nvPr/>
        </p:nvSpPr>
        <p:spPr>
          <a:xfrm>
            <a:off x="9692640" y="3374136"/>
            <a:ext cx="1371600" cy="182880"/>
          </a:xfrm>
          <a:prstGeom prst="rect">
            <a:avLst/>
          </a:prstGeom>
          <a:noFill/>
          <a:ln/>
        </p:spPr>
        <p:txBody>
          <a:bodyPr wrap="square" rtlCol="0" anchor="ctr"/>
          <a:lstStyle/>
          <a:p>
            <a:pPr algn="l" indent="0" marL="0">
              <a:buNone/>
            </a:pPr>
            <a:r>
              <a:rPr lang="en-US" sz="900" spc="100" kern="0" dirty="0">
                <a:solidFill>
                  <a:srgbClr val="6B9A6B"/>
                </a:solidFill>
                <a:latin typeface="맑은 고딕" pitchFamily="34" charset="0"/>
                <a:ea typeface="맑은 고딕" pitchFamily="34" charset="-122"/>
                <a:cs typeface="맑은 고딕" pitchFamily="34" charset="-120"/>
              </a:rPr>
              <a:t>●●●●○</a:t>
            </a:r>
            <a:endParaRPr lang="en-US" sz="900" dirty="0"/>
          </a:p>
        </p:txBody>
      </p:sp>
      <p:sp>
        <p:nvSpPr>
          <p:cNvPr id="40" name="Text 38"/>
          <p:cNvSpPr/>
          <p:nvPr/>
        </p:nvSpPr>
        <p:spPr>
          <a:xfrm>
            <a:off x="7955280" y="3584448"/>
            <a:ext cx="1645920" cy="182880"/>
          </a:xfrm>
          <a:prstGeom prst="rect">
            <a:avLst/>
          </a:prstGeom>
          <a:noFill/>
          <a:ln/>
        </p:spPr>
        <p:txBody>
          <a:bodyPr wrap="square" rtlCol="0" anchor="ctr"/>
          <a:lstStyle/>
          <a:p>
            <a:pPr algn="l" indent="0" marL="0">
              <a:buNone/>
            </a:pPr>
            <a:r>
              <a:rPr lang="en-US" sz="900" dirty="0">
                <a:solidFill>
                  <a:srgbClr val="5A5248"/>
                </a:solidFill>
                <a:latin typeface="맑은 고딕" pitchFamily="34" charset="0"/>
                <a:ea typeface="맑은 고딕" pitchFamily="34" charset="-122"/>
                <a:cs typeface="맑은 고딕" pitchFamily="34" charset="-120"/>
              </a:rPr>
              <a:t>Google Workspace</a:t>
            </a:r>
            <a:endParaRPr lang="en-US" sz="900" dirty="0"/>
          </a:p>
        </p:txBody>
      </p:sp>
      <p:sp>
        <p:nvSpPr>
          <p:cNvPr id="41" name="Text 39"/>
          <p:cNvSpPr/>
          <p:nvPr/>
        </p:nvSpPr>
        <p:spPr>
          <a:xfrm>
            <a:off x="9692640" y="3584448"/>
            <a:ext cx="1371600" cy="182880"/>
          </a:xfrm>
          <a:prstGeom prst="rect">
            <a:avLst/>
          </a:prstGeom>
          <a:noFill/>
          <a:ln/>
        </p:spPr>
        <p:txBody>
          <a:bodyPr wrap="square" rtlCol="0" anchor="ctr"/>
          <a:lstStyle/>
          <a:p>
            <a:pPr algn="l" indent="0" marL="0">
              <a:buNone/>
            </a:pPr>
            <a:r>
              <a:rPr lang="en-US" sz="900" spc="100" kern="0" dirty="0">
                <a:solidFill>
                  <a:srgbClr val="6B9A6B"/>
                </a:solidFill>
                <a:latin typeface="맑은 고딕" pitchFamily="34" charset="0"/>
                <a:ea typeface="맑은 고딕" pitchFamily="34" charset="-122"/>
                <a:cs typeface="맑은 고딕" pitchFamily="34" charset="-120"/>
              </a:rPr>
              <a:t>●●●●●</a:t>
            </a:r>
            <a:endParaRPr lang="en-US" sz="900" dirty="0"/>
          </a:p>
        </p:txBody>
      </p:sp>
      <p:sp>
        <p:nvSpPr>
          <p:cNvPr id="42" name="Text 40"/>
          <p:cNvSpPr/>
          <p:nvPr/>
        </p:nvSpPr>
        <p:spPr>
          <a:xfrm>
            <a:off x="7955280" y="3794760"/>
            <a:ext cx="1645920" cy="182880"/>
          </a:xfrm>
          <a:prstGeom prst="rect">
            <a:avLst/>
          </a:prstGeom>
          <a:noFill/>
          <a:ln/>
        </p:spPr>
        <p:txBody>
          <a:bodyPr wrap="square" rtlCol="0" anchor="ctr"/>
          <a:lstStyle/>
          <a:p>
            <a:pPr algn="l" indent="0" marL="0">
              <a:buNone/>
            </a:pPr>
            <a:r>
              <a:rPr lang="en-US" sz="900" dirty="0">
                <a:solidFill>
                  <a:srgbClr val="5A5248"/>
                </a:solidFill>
                <a:latin typeface="맑은 고딕" pitchFamily="34" charset="0"/>
                <a:ea typeface="맑은 고딕" pitchFamily="34" charset="-122"/>
                <a:cs typeface="맑은 고딕" pitchFamily="34" charset="-120"/>
              </a:rPr>
              <a:t>Communication</a:t>
            </a:r>
            <a:endParaRPr lang="en-US" sz="900" dirty="0"/>
          </a:p>
        </p:txBody>
      </p:sp>
      <p:sp>
        <p:nvSpPr>
          <p:cNvPr id="43" name="Text 41"/>
          <p:cNvSpPr/>
          <p:nvPr/>
        </p:nvSpPr>
        <p:spPr>
          <a:xfrm>
            <a:off x="9692640" y="3794760"/>
            <a:ext cx="1371600" cy="182880"/>
          </a:xfrm>
          <a:prstGeom prst="rect">
            <a:avLst/>
          </a:prstGeom>
          <a:noFill/>
          <a:ln/>
        </p:spPr>
        <p:txBody>
          <a:bodyPr wrap="square" rtlCol="0" anchor="ctr"/>
          <a:lstStyle/>
          <a:p>
            <a:pPr algn="l" indent="0" marL="0">
              <a:buNone/>
            </a:pPr>
            <a:r>
              <a:rPr lang="en-US" sz="900" spc="100" kern="0" dirty="0">
                <a:solidFill>
                  <a:srgbClr val="6B9A6B"/>
                </a:solidFill>
                <a:latin typeface="맑은 고딕" pitchFamily="34" charset="0"/>
                <a:ea typeface="맑은 고딕" pitchFamily="34" charset="-122"/>
                <a:cs typeface="맑은 고딕" pitchFamily="34" charset="-120"/>
              </a:rPr>
              <a:t>●●●●●</a:t>
            </a:r>
            <a:endParaRPr lang="en-US" sz="900" dirty="0"/>
          </a:p>
        </p:txBody>
      </p:sp>
      <p:sp>
        <p:nvSpPr>
          <p:cNvPr id="44" name="Text 42"/>
          <p:cNvSpPr/>
          <p:nvPr/>
        </p:nvSpPr>
        <p:spPr>
          <a:xfrm>
            <a:off x="4023360" y="4142232"/>
            <a:ext cx="7818120" cy="201168"/>
          </a:xfrm>
          <a:prstGeom prst="rect">
            <a:avLst/>
          </a:prstGeom>
          <a:noFill/>
          <a:ln/>
        </p:spPr>
        <p:txBody>
          <a:bodyPr wrap="square" rtlCol="0" anchor="t"/>
          <a:lstStyle/>
          <a:p>
            <a:pPr algn="l" indent="0" marL="0">
              <a:buNone/>
            </a:pPr>
            <a:r>
              <a:rPr lang="en-US" sz="800" b="1" spc="100" kern="0" dirty="0">
                <a:solidFill>
                  <a:srgbClr val="6B9A6B"/>
                </a:solidFill>
                <a:latin typeface="맑은 고딕" pitchFamily="34" charset="0"/>
                <a:ea typeface="맑은 고딕" pitchFamily="34" charset="-122"/>
                <a:cs typeface="맑은 고딕" pitchFamily="34" charset="-120"/>
              </a:rPr>
              <a:t>Tools &amp; Tech</a:t>
            </a:r>
            <a:endParaRPr lang="en-US" sz="800" dirty="0"/>
          </a:p>
        </p:txBody>
      </p:sp>
      <p:sp>
        <p:nvSpPr>
          <p:cNvPr id="45" name="Shape 43"/>
          <p:cNvSpPr/>
          <p:nvPr/>
        </p:nvSpPr>
        <p:spPr>
          <a:xfrm>
            <a:off x="4023360" y="4361688"/>
            <a:ext cx="7818120" cy="0"/>
          </a:xfrm>
          <a:prstGeom prst="line">
            <a:avLst/>
          </a:prstGeom>
          <a:noFill/>
          <a:ln w="9525">
            <a:solidFill>
              <a:srgbClr val="6B9A6B">
                <a:alpha val="30000"/>
              </a:srgbClr>
            </a:solidFill>
            <a:prstDash val="solid"/>
          </a:ln>
        </p:spPr>
      </p:sp>
      <p:sp>
        <p:nvSpPr>
          <p:cNvPr id="46" name="Shape 44"/>
          <p:cNvSpPr/>
          <p:nvPr/>
        </p:nvSpPr>
        <p:spPr>
          <a:xfrm>
            <a:off x="4023360" y="4471416"/>
            <a:ext cx="619049" cy="256032"/>
          </a:xfrm>
          <a:prstGeom prst="roundRect">
            <a:avLst>
              <a:gd name="adj" fmla="val 17857"/>
            </a:avLst>
          </a:prstGeom>
          <a:solidFill>
            <a:srgbClr val="F0F7F0"/>
          </a:solidFill>
          <a:ln w="9525">
            <a:solidFill>
              <a:srgbClr val="6B9A6B"/>
            </a:solidFill>
            <a:prstDash val="solid"/>
          </a:ln>
        </p:spPr>
      </p:sp>
      <p:sp>
        <p:nvSpPr>
          <p:cNvPr id="47" name="Text 45"/>
          <p:cNvSpPr/>
          <p:nvPr/>
        </p:nvSpPr>
        <p:spPr>
          <a:xfrm>
            <a:off x="4023360" y="4471416"/>
            <a:ext cx="61904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Word</a:t>
            </a:r>
            <a:endParaRPr lang="en-US" sz="850" dirty="0"/>
          </a:p>
        </p:txBody>
      </p:sp>
      <p:sp>
        <p:nvSpPr>
          <p:cNvPr id="48" name="Shape 46"/>
          <p:cNvSpPr/>
          <p:nvPr/>
        </p:nvSpPr>
        <p:spPr>
          <a:xfrm>
            <a:off x="4733849" y="4471416"/>
            <a:ext cx="455828" cy="256032"/>
          </a:xfrm>
          <a:prstGeom prst="roundRect">
            <a:avLst>
              <a:gd name="adj" fmla="val 17857"/>
            </a:avLst>
          </a:prstGeom>
          <a:solidFill>
            <a:srgbClr val="F0F7F0"/>
          </a:solidFill>
          <a:ln w="9525">
            <a:solidFill>
              <a:srgbClr val="6B9A6B"/>
            </a:solidFill>
            <a:prstDash val="solid"/>
          </a:ln>
        </p:spPr>
      </p:sp>
      <p:sp>
        <p:nvSpPr>
          <p:cNvPr id="49" name="Text 47"/>
          <p:cNvSpPr/>
          <p:nvPr/>
        </p:nvSpPr>
        <p:spPr>
          <a:xfrm>
            <a:off x="4733849" y="4471416"/>
            <a:ext cx="455828"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한글</a:t>
            </a:r>
            <a:endParaRPr lang="en-US" sz="850" dirty="0"/>
          </a:p>
        </p:txBody>
      </p:sp>
      <p:sp>
        <p:nvSpPr>
          <p:cNvPr id="50" name="Shape 48"/>
          <p:cNvSpPr/>
          <p:nvPr/>
        </p:nvSpPr>
        <p:spPr>
          <a:xfrm>
            <a:off x="5281117" y="4471416"/>
            <a:ext cx="863879" cy="256032"/>
          </a:xfrm>
          <a:prstGeom prst="roundRect">
            <a:avLst>
              <a:gd name="adj" fmla="val 17857"/>
            </a:avLst>
          </a:prstGeom>
          <a:solidFill>
            <a:srgbClr val="F0F7F0"/>
          </a:solidFill>
          <a:ln w="9525">
            <a:solidFill>
              <a:srgbClr val="6B9A6B"/>
            </a:solidFill>
            <a:prstDash val="solid"/>
          </a:ln>
        </p:spPr>
      </p:sp>
      <p:sp>
        <p:nvSpPr>
          <p:cNvPr id="51" name="Text 49"/>
          <p:cNvSpPr/>
          <p:nvPr/>
        </p:nvSpPr>
        <p:spPr>
          <a:xfrm>
            <a:off x="5281117" y="4471416"/>
            <a:ext cx="86387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Outlook</a:t>
            </a:r>
            <a:endParaRPr lang="en-US" sz="850" dirty="0"/>
          </a:p>
        </p:txBody>
      </p:sp>
      <p:sp>
        <p:nvSpPr>
          <p:cNvPr id="52" name="Shape 50"/>
          <p:cNvSpPr/>
          <p:nvPr/>
        </p:nvSpPr>
        <p:spPr>
          <a:xfrm>
            <a:off x="6236437" y="4471416"/>
            <a:ext cx="700659" cy="256032"/>
          </a:xfrm>
          <a:prstGeom prst="roundRect">
            <a:avLst>
              <a:gd name="adj" fmla="val 17857"/>
            </a:avLst>
          </a:prstGeom>
          <a:solidFill>
            <a:srgbClr val="F0F7F0"/>
          </a:solidFill>
          <a:ln w="9525">
            <a:solidFill>
              <a:srgbClr val="6B9A6B"/>
            </a:solidFill>
            <a:prstDash val="solid"/>
          </a:ln>
        </p:spPr>
      </p:sp>
      <p:sp>
        <p:nvSpPr>
          <p:cNvPr id="53" name="Text 51"/>
          <p:cNvSpPr/>
          <p:nvPr/>
        </p:nvSpPr>
        <p:spPr>
          <a:xfrm>
            <a:off x="6236437" y="4471416"/>
            <a:ext cx="70065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Excel</a:t>
            </a:r>
            <a:endParaRPr lang="en-US" sz="850" dirty="0"/>
          </a:p>
        </p:txBody>
      </p:sp>
      <p:sp>
        <p:nvSpPr>
          <p:cNvPr id="54" name="Shape 52"/>
          <p:cNvSpPr/>
          <p:nvPr/>
        </p:nvSpPr>
        <p:spPr>
          <a:xfrm>
            <a:off x="7028536" y="4471416"/>
            <a:ext cx="1108710" cy="256032"/>
          </a:xfrm>
          <a:prstGeom prst="roundRect">
            <a:avLst>
              <a:gd name="adj" fmla="val 17857"/>
            </a:avLst>
          </a:prstGeom>
          <a:solidFill>
            <a:srgbClr val="F0F7F0"/>
          </a:solidFill>
          <a:ln w="9525">
            <a:solidFill>
              <a:srgbClr val="6B9A6B"/>
            </a:solidFill>
            <a:prstDash val="solid"/>
          </a:ln>
        </p:spPr>
      </p:sp>
      <p:sp>
        <p:nvSpPr>
          <p:cNvPr id="55" name="Text 53"/>
          <p:cNvSpPr/>
          <p:nvPr/>
        </p:nvSpPr>
        <p:spPr>
          <a:xfrm>
            <a:off x="7028536" y="4471416"/>
            <a:ext cx="1108710"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PowerPoint</a:t>
            </a:r>
            <a:endParaRPr lang="en-US" sz="850" dirty="0"/>
          </a:p>
        </p:txBody>
      </p:sp>
      <p:sp>
        <p:nvSpPr>
          <p:cNvPr id="56" name="Shape 54"/>
          <p:cNvSpPr/>
          <p:nvPr/>
        </p:nvSpPr>
        <p:spPr>
          <a:xfrm>
            <a:off x="8228686" y="4471416"/>
            <a:ext cx="1598371" cy="256032"/>
          </a:xfrm>
          <a:prstGeom prst="roundRect">
            <a:avLst>
              <a:gd name="adj" fmla="val 17857"/>
            </a:avLst>
          </a:prstGeom>
          <a:solidFill>
            <a:srgbClr val="F0F7F0"/>
          </a:solidFill>
          <a:ln w="9525">
            <a:solidFill>
              <a:srgbClr val="6B9A6B"/>
            </a:solidFill>
            <a:prstDash val="solid"/>
          </a:ln>
        </p:spPr>
      </p:sp>
      <p:sp>
        <p:nvSpPr>
          <p:cNvPr id="57" name="Text 55"/>
          <p:cNvSpPr/>
          <p:nvPr/>
        </p:nvSpPr>
        <p:spPr>
          <a:xfrm>
            <a:off x="8228686" y="4471416"/>
            <a:ext cx="1598371"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Google Workspace</a:t>
            </a:r>
            <a:endParaRPr lang="en-US" sz="850" dirty="0"/>
          </a:p>
        </p:txBody>
      </p:sp>
      <p:sp>
        <p:nvSpPr>
          <p:cNvPr id="58" name="Shape 56"/>
          <p:cNvSpPr/>
          <p:nvPr/>
        </p:nvSpPr>
        <p:spPr>
          <a:xfrm>
            <a:off x="9918497" y="4471416"/>
            <a:ext cx="782269" cy="256032"/>
          </a:xfrm>
          <a:prstGeom prst="roundRect">
            <a:avLst>
              <a:gd name="adj" fmla="val 17857"/>
            </a:avLst>
          </a:prstGeom>
          <a:solidFill>
            <a:srgbClr val="F0F7F0"/>
          </a:solidFill>
          <a:ln w="9525">
            <a:solidFill>
              <a:srgbClr val="6B9A6B"/>
            </a:solidFill>
            <a:prstDash val="solid"/>
          </a:ln>
        </p:spPr>
      </p:sp>
      <p:sp>
        <p:nvSpPr>
          <p:cNvPr id="59" name="Text 57"/>
          <p:cNvSpPr/>
          <p:nvPr/>
        </p:nvSpPr>
        <p:spPr>
          <a:xfrm>
            <a:off x="9918497" y="4471416"/>
            <a:ext cx="78226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Notion</a:t>
            </a:r>
            <a:endParaRPr lang="en-US" sz="850" dirty="0"/>
          </a:p>
        </p:txBody>
      </p:sp>
      <p:sp>
        <p:nvSpPr>
          <p:cNvPr id="60" name="Shape 58"/>
          <p:cNvSpPr/>
          <p:nvPr/>
        </p:nvSpPr>
        <p:spPr>
          <a:xfrm>
            <a:off x="10792206" y="4471416"/>
            <a:ext cx="700659" cy="256032"/>
          </a:xfrm>
          <a:prstGeom prst="roundRect">
            <a:avLst>
              <a:gd name="adj" fmla="val 17857"/>
            </a:avLst>
          </a:prstGeom>
          <a:solidFill>
            <a:srgbClr val="F0F7F0"/>
          </a:solidFill>
          <a:ln w="9525">
            <a:solidFill>
              <a:srgbClr val="6B9A6B"/>
            </a:solidFill>
            <a:prstDash val="solid"/>
          </a:ln>
        </p:spPr>
      </p:sp>
      <p:sp>
        <p:nvSpPr>
          <p:cNvPr id="61" name="Text 59"/>
          <p:cNvSpPr/>
          <p:nvPr/>
        </p:nvSpPr>
        <p:spPr>
          <a:xfrm>
            <a:off x="10792206" y="4471416"/>
            <a:ext cx="70065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Slack</a:t>
            </a:r>
            <a:endParaRPr lang="en-US" sz="850" dirty="0"/>
          </a:p>
        </p:txBody>
      </p:sp>
      <p:sp>
        <p:nvSpPr>
          <p:cNvPr id="62" name="Shape 60"/>
          <p:cNvSpPr/>
          <p:nvPr/>
        </p:nvSpPr>
        <p:spPr>
          <a:xfrm>
            <a:off x="4023360" y="4837176"/>
            <a:ext cx="782269" cy="256032"/>
          </a:xfrm>
          <a:prstGeom prst="roundRect">
            <a:avLst>
              <a:gd name="adj" fmla="val 17857"/>
            </a:avLst>
          </a:prstGeom>
          <a:solidFill>
            <a:srgbClr val="F0F7F0"/>
          </a:solidFill>
          <a:ln w="9525">
            <a:solidFill>
              <a:srgbClr val="6B9A6B"/>
            </a:solidFill>
            <a:prstDash val="solid"/>
          </a:ln>
        </p:spPr>
      </p:sp>
      <p:sp>
        <p:nvSpPr>
          <p:cNvPr id="63" name="Text 61"/>
          <p:cNvSpPr/>
          <p:nvPr/>
        </p:nvSpPr>
        <p:spPr>
          <a:xfrm>
            <a:off x="4023360" y="4837176"/>
            <a:ext cx="78226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Python</a:t>
            </a:r>
            <a:endParaRPr lang="en-US" sz="850" dirty="0"/>
          </a:p>
        </p:txBody>
      </p:sp>
      <p:sp>
        <p:nvSpPr>
          <p:cNvPr id="64" name="Shape 62"/>
          <p:cNvSpPr/>
          <p:nvPr/>
        </p:nvSpPr>
        <p:spPr>
          <a:xfrm>
            <a:off x="4897069" y="4837176"/>
            <a:ext cx="1190320" cy="256032"/>
          </a:xfrm>
          <a:prstGeom prst="roundRect">
            <a:avLst>
              <a:gd name="adj" fmla="val 17857"/>
            </a:avLst>
          </a:prstGeom>
          <a:solidFill>
            <a:srgbClr val="F0F7F0"/>
          </a:solidFill>
          <a:ln w="9525">
            <a:solidFill>
              <a:srgbClr val="6B9A6B"/>
            </a:solidFill>
            <a:prstDash val="solid"/>
          </a:ln>
        </p:spPr>
      </p:sp>
      <p:sp>
        <p:nvSpPr>
          <p:cNvPr id="65" name="Text 63"/>
          <p:cNvSpPr/>
          <p:nvPr/>
        </p:nvSpPr>
        <p:spPr>
          <a:xfrm>
            <a:off x="4897069" y="4837176"/>
            <a:ext cx="1190320"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Apps Script</a:t>
            </a:r>
            <a:endParaRPr lang="en-US" sz="850" dirty="0"/>
          </a:p>
        </p:txBody>
      </p:sp>
      <p:sp>
        <p:nvSpPr>
          <p:cNvPr id="66" name="Shape 64"/>
          <p:cNvSpPr/>
          <p:nvPr/>
        </p:nvSpPr>
        <p:spPr>
          <a:xfrm>
            <a:off x="6178829" y="4837176"/>
            <a:ext cx="1027100" cy="256032"/>
          </a:xfrm>
          <a:prstGeom prst="roundRect">
            <a:avLst>
              <a:gd name="adj" fmla="val 17857"/>
            </a:avLst>
          </a:prstGeom>
          <a:solidFill>
            <a:srgbClr val="F0F7F0"/>
          </a:solidFill>
          <a:ln w="9525">
            <a:solidFill>
              <a:srgbClr val="6B9A6B"/>
            </a:solidFill>
            <a:prstDash val="solid"/>
          </a:ln>
        </p:spPr>
      </p:sp>
      <p:sp>
        <p:nvSpPr>
          <p:cNvPr id="67" name="Text 65"/>
          <p:cNvSpPr/>
          <p:nvPr/>
        </p:nvSpPr>
        <p:spPr>
          <a:xfrm>
            <a:off x="6178829" y="4837176"/>
            <a:ext cx="1027100"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Excel VBA</a:t>
            </a:r>
            <a:endParaRPr lang="en-US" sz="850" dirty="0"/>
          </a:p>
        </p:txBody>
      </p:sp>
      <p:sp>
        <p:nvSpPr>
          <p:cNvPr id="68" name="Shape 66"/>
          <p:cNvSpPr/>
          <p:nvPr/>
        </p:nvSpPr>
        <p:spPr>
          <a:xfrm>
            <a:off x="7297369" y="4837176"/>
            <a:ext cx="537439" cy="256032"/>
          </a:xfrm>
          <a:prstGeom prst="roundRect">
            <a:avLst>
              <a:gd name="adj" fmla="val 17857"/>
            </a:avLst>
          </a:prstGeom>
          <a:solidFill>
            <a:srgbClr val="F0F7F0"/>
          </a:solidFill>
          <a:ln w="9525">
            <a:solidFill>
              <a:srgbClr val="6B9A6B"/>
            </a:solidFill>
            <a:prstDash val="solid"/>
          </a:ln>
        </p:spPr>
      </p:sp>
      <p:sp>
        <p:nvSpPr>
          <p:cNvPr id="69" name="Text 67"/>
          <p:cNvSpPr/>
          <p:nvPr/>
        </p:nvSpPr>
        <p:spPr>
          <a:xfrm>
            <a:off x="7297369" y="4837176"/>
            <a:ext cx="53743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SQL</a:t>
            </a:r>
            <a:endParaRPr lang="en-US" sz="850" dirty="0"/>
          </a:p>
        </p:txBody>
      </p:sp>
      <p:sp>
        <p:nvSpPr>
          <p:cNvPr id="70" name="Shape 68"/>
          <p:cNvSpPr/>
          <p:nvPr/>
        </p:nvSpPr>
        <p:spPr>
          <a:xfrm>
            <a:off x="7926248" y="4837176"/>
            <a:ext cx="619049" cy="256032"/>
          </a:xfrm>
          <a:prstGeom prst="roundRect">
            <a:avLst>
              <a:gd name="adj" fmla="val 17857"/>
            </a:avLst>
          </a:prstGeom>
          <a:solidFill>
            <a:srgbClr val="F0F7F0"/>
          </a:solidFill>
          <a:ln w="9525">
            <a:solidFill>
              <a:srgbClr val="6B9A6B"/>
            </a:solidFill>
            <a:prstDash val="solid"/>
          </a:ln>
        </p:spPr>
      </p:sp>
      <p:sp>
        <p:nvSpPr>
          <p:cNvPr id="71" name="Text 69"/>
          <p:cNvSpPr/>
          <p:nvPr/>
        </p:nvSpPr>
        <p:spPr>
          <a:xfrm>
            <a:off x="7926248" y="4837176"/>
            <a:ext cx="61904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HTML</a:t>
            </a:r>
            <a:endParaRPr lang="en-US" sz="850" dirty="0"/>
          </a:p>
        </p:txBody>
      </p:sp>
      <p:sp>
        <p:nvSpPr>
          <p:cNvPr id="72" name="Shape 70"/>
          <p:cNvSpPr/>
          <p:nvPr/>
        </p:nvSpPr>
        <p:spPr>
          <a:xfrm>
            <a:off x="8636737" y="4837176"/>
            <a:ext cx="1027100" cy="256032"/>
          </a:xfrm>
          <a:prstGeom prst="roundRect">
            <a:avLst>
              <a:gd name="adj" fmla="val 17857"/>
            </a:avLst>
          </a:prstGeom>
          <a:solidFill>
            <a:srgbClr val="F0F7F0"/>
          </a:solidFill>
          <a:ln w="9525">
            <a:solidFill>
              <a:srgbClr val="6B9A6B"/>
            </a:solidFill>
            <a:prstDash val="solid"/>
          </a:ln>
        </p:spPr>
      </p:sp>
      <p:sp>
        <p:nvSpPr>
          <p:cNvPr id="73" name="Text 71"/>
          <p:cNvSpPr/>
          <p:nvPr/>
        </p:nvSpPr>
        <p:spPr>
          <a:xfrm>
            <a:off x="8636737" y="4837176"/>
            <a:ext cx="1027100"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Photoshop</a:t>
            </a:r>
            <a:endParaRPr lang="en-US" sz="850" dirty="0"/>
          </a:p>
        </p:txBody>
      </p:sp>
      <p:sp>
        <p:nvSpPr>
          <p:cNvPr id="74" name="Shape 72"/>
          <p:cNvSpPr/>
          <p:nvPr/>
        </p:nvSpPr>
        <p:spPr>
          <a:xfrm>
            <a:off x="9755276" y="4837176"/>
            <a:ext cx="782269" cy="256032"/>
          </a:xfrm>
          <a:prstGeom prst="roundRect">
            <a:avLst>
              <a:gd name="adj" fmla="val 17857"/>
            </a:avLst>
          </a:prstGeom>
          <a:solidFill>
            <a:srgbClr val="F0F7F0"/>
          </a:solidFill>
          <a:ln w="9525">
            <a:solidFill>
              <a:srgbClr val="6B9A6B"/>
            </a:solidFill>
            <a:prstDash val="solid"/>
          </a:ln>
        </p:spPr>
      </p:sp>
      <p:sp>
        <p:nvSpPr>
          <p:cNvPr id="75" name="Text 73"/>
          <p:cNvSpPr/>
          <p:nvPr/>
        </p:nvSpPr>
        <p:spPr>
          <a:xfrm>
            <a:off x="9755276" y="4837176"/>
            <a:ext cx="78226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CapCut</a:t>
            </a:r>
            <a:endParaRPr lang="en-US" sz="850" dirty="0"/>
          </a:p>
        </p:txBody>
      </p:sp>
      <p:sp>
        <p:nvSpPr>
          <p:cNvPr id="76" name="Shape 74"/>
          <p:cNvSpPr/>
          <p:nvPr/>
        </p:nvSpPr>
        <p:spPr>
          <a:xfrm>
            <a:off x="10628986" y="4837176"/>
            <a:ext cx="863879" cy="256032"/>
          </a:xfrm>
          <a:prstGeom prst="roundRect">
            <a:avLst>
              <a:gd name="adj" fmla="val 17857"/>
            </a:avLst>
          </a:prstGeom>
          <a:solidFill>
            <a:srgbClr val="F0F7F0"/>
          </a:solidFill>
          <a:ln w="9525">
            <a:solidFill>
              <a:srgbClr val="6B9A6B"/>
            </a:solidFill>
            <a:prstDash val="solid"/>
          </a:ln>
        </p:spPr>
      </p:sp>
      <p:sp>
        <p:nvSpPr>
          <p:cNvPr id="77" name="Text 75"/>
          <p:cNvSpPr/>
          <p:nvPr/>
        </p:nvSpPr>
        <p:spPr>
          <a:xfrm>
            <a:off x="10628986" y="4837176"/>
            <a:ext cx="86387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ChatGPT</a:t>
            </a:r>
            <a:endParaRPr lang="en-US" sz="850" dirty="0"/>
          </a:p>
        </p:txBody>
      </p:sp>
      <p:sp>
        <p:nvSpPr>
          <p:cNvPr id="78" name="Shape 76"/>
          <p:cNvSpPr/>
          <p:nvPr/>
        </p:nvSpPr>
        <p:spPr>
          <a:xfrm>
            <a:off x="4023360" y="5202936"/>
            <a:ext cx="782269" cy="256032"/>
          </a:xfrm>
          <a:prstGeom prst="roundRect">
            <a:avLst>
              <a:gd name="adj" fmla="val 17857"/>
            </a:avLst>
          </a:prstGeom>
          <a:solidFill>
            <a:srgbClr val="F0F7F0"/>
          </a:solidFill>
          <a:ln w="9525">
            <a:solidFill>
              <a:srgbClr val="6B9A6B"/>
            </a:solidFill>
            <a:prstDash val="solid"/>
          </a:ln>
        </p:spPr>
      </p:sp>
      <p:sp>
        <p:nvSpPr>
          <p:cNvPr id="79" name="Text 77"/>
          <p:cNvSpPr/>
          <p:nvPr/>
        </p:nvSpPr>
        <p:spPr>
          <a:xfrm>
            <a:off x="4023360" y="5202936"/>
            <a:ext cx="78226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Gemini</a:t>
            </a:r>
            <a:endParaRPr lang="en-US" sz="850" dirty="0"/>
          </a:p>
        </p:txBody>
      </p:sp>
      <p:sp>
        <p:nvSpPr>
          <p:cNvPr id="80" name="Shape 78"/>
          <p:cNvSpPr/>
          <p:nvPr/>
        </p:nvSpPr>
        <p:spPr>
          <a:xfrm>
            <a:off x="4897069" y="5202936"/>
            <a:ext cx="782269" cy="256032"/>
          </a:xfrm>
          <a:prstGeom prst="roundRect">
            <a:avLst>
              <a:gd name="adj" fmla="val 17857"/>
            </a:avLst>
          </a:prstGeom>
          <a:solidFill>
            <a:srgbClr val="F0F7F0"/>
          </a:solidFill>
          <a:ln w="9525">
            <a:solidFill>
              <a:srgbClr val="6B9A6B"/>
            </a:solidFill>
            <a:prstDash val="solid"/>
          </a:ln>
        </p:spPr>
      </p:sp>
      <p:sp>
        <p:nvSpPr>
          <p:cNvPr id="81" name="Text 79"/>
          <p:cNvSpPr/>
          <p:nvPr/>
        </p:nvSpPr>
        <p:spPr>
          <a:xfrm>
            <a:off x="4897069" y="5202936"/>
            <a:ext cx="78226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Claude</a:t>
            </a:r>
            <a:endParaRPr lang="en-US" sz="850" dirty="0"/>
          </a:p>
        </p:txBody>
      </p:sp>
      <p:sp>
        <p:nvSpPr>
          <p:cNvPr id="82" name="Shape 80"/>
          <p:cNvSpPr/>
          <p:nvPr/>
        </p:nvSpPr>
        <p:spPr>
          <a:xfrm>
            <a:off x="5770778" y="5202936"/>
            <a:ext cx="782269" cy="256032"/>
          </a:xfrm>
          <a:prstGeom prst="roundRect">
            <a:avLst>
              <a:gd name="adj" fmla="val 17857"/>
            </a:avLst>
          </a:prstGeom>
          <a:solidFill>
            <a:srgbClr val="F0F7F0"/>
          </a:solidFill>
          <a:ln w="9525">
            <a:solidFill>
              <a:srgbClr val="6B9A6B"/>
            </a:solidFill>
            <a:prstDash val="solid"/>
          </a:ln>
        </p:spPr>
      </p:sp>
      <p:sp>
        <p:nvSpPr>
          <p:cNvPr id="83" name="Text 81"/>
          <p:cNvSpPr/>
          <p:nvPr/>
        </p:nvSpPr>
        <p:spPr>
          <a:xfrm>
            <a:off x="5770778" y="5202936"/>
            <a:ext cx="782269" cy="256032"/>
          </a:xfrm>
          <a:prstGeom prst="rect">
            <a:avLst/>
          </a:prstGeom>
          <a:noFill/>
          <a:ln/>
        </p:spPr>
        <p:txBody>
          <a:bodyPr wrap="square" rtlCol="0" anchor="ctr"/>
          <a:lstStyle/>
          <a:p>
            <a:pPr algn="ctr" indent="0" marL="0">
              <a:buNone/>
            </a:pPr>
            <a:r>
              <a:rPr lang="en-US" sz="850" dirty="0">
                <a:solidFill>
                  <a:srgbClr val="6B9A6B"/>
                </a:solidFill>
                <a:latin typeface="맑은 고딕" pitchFamily="34" charset="0"/>
                <a:ea typeface="맑은 고딕" pitchFamily="34" charset="-122"/>
                <a:cs typeface="맑은 고딕" pitchFamily="34" charset="-120"/>
              </a:rPr>
              <a:t>Cursor</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F7F4F0"/>
          </a:solidFill>
          <a:ln/>
        </p:spPr>
      </p:sp>
      <p:sp>
        <p:nvSpPr>
          <p:cNvPr id="3" name="Shape 1"/>
          <p:cNvSpPr/>
          <p:nvPr/>
        </p:nvSpPr>
        <p:spPr>
          <a:xfrm>
            <a:off x="457200" y="502920"/>
            <a:ext cx="36576" cy="457200"/>
          </a:xfrm>
          <a:prstGeom prst="rect">
            <a:avLst/>
          </a:prstGeom>
          <a:solidFill>
            <a:srgbClr val="6B9A6B"/>
          </a:solidFill>
          <a:ln/>
        </p:spPr>
      </p:sp>
      <p:sp>
        <p:nvSpPr>
          <p:cNvPr id="4" name="Text 2"/>
          <p:cNvSpPr/>
          <p:nvPr/>
        </p:nvSpPr>
        <p:spPr>
          <a:xfrm>
            <a:off x="457200" y="1051560"/>
            <a:ext cx="1737360" cy="1005840"/>
          </a:xfrm>
          <a:prstGeom prst="rect">
            <a:avLst/>
          </a:prstGeom>
          <a:noFill/>
          <a:ln/>
        </p:spPr>
        <p:txBody>
          <a:bodyPr wrap="square" rtlCol="0" anchor="t"/>
          <a:lstStyle/>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Core</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Competency</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&amp;</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Experience</a:t>
            </a:r>
            <a:endParaRPr lang="en-US" sz="1100" dirty="0"/>
          </a:p>
        </p:txBody>
      </p:sp>
      <p:sp>
        <p:nvSpPr>
          <p:cNvPr id="5" name="Text 3"/>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경력 상세 — 총 경력 12년 5개월</a:t>
            </a:r>
            <a:endParaRPr lang="en-US" sz="1200" dirty="0"/>
          </a:p>
        </p:txBody>
      </p:sp>
      <p:sp>
        <p:nvSpPr>
          <p:cNvPr id="6" name="Shape 4"/>
          <p:cNvSpPr/>
          <p:nvPr/>
        </p:nvSpPr>
        <p:spPr>
          <a:xfrm>
            <a:off x="2697480" y="777240"/>
            <a:ext cx="8961120" cy="0"/>
          </a:xfrm>
          <a:prstGeom prst="line">
            <a:avLst/>
          </a:prstGeom>
          <a:noFill/>
          <a:ln w="9525">
            <a:solidFill>
              <a:srgbClr val="6B9A6B">
                <a:alpha val="30000"/>
              </a:srgbClr>
            </a:solidFill>
            <a:prstDash val="solid"/>
          </a:ln>
        </p:spPr>
      </p:sp>
      <p:sp>
        <p:nvSpPr>
          <p:cNvPr id="7" name="Text 5"/>
          <p:cNvSpPr/>
          <p:nvPr/>
        </p:nvSpPr>
        <p:spPr>
          <a:xfrm>
            <a:off x="2697480" y="868680"/>
            <a:ext cx="3840480" cy="237744"/>
          </a:xfrm>
          <a:prstGeom prst="rect">
            <a:avLst/>
          </a:prstGeom>
          <a:noFill/>
          <a:ln/>
        </p:spPr>
        <p:txBody>
          <a:bodyPr wrap="square" rtlCol="0" anchor="t"/>
          <a:lstStyle/>
          <a:p>
            <a:pPr algn="l" indent="0" marL="0">
              <a:buNone/>
            </a:pPr>
            <a:r>
              <a:rPr lang="en-US" sz="1200" b="1" dirty="0">
                <a:solidFill>
                  <a:srgbClr val="2C2820"/>
                </a:solidFill>
              </a:rPr>
              <a:t>신성통상(주)   </a:t>
            </a:r>
            <a:pPr algn="l" indent="0" marL="0">
              <a:buNone/>
            </a:pPr>
            <a:r>
              <a:rPr lang="en-US" sz="900" dirty="0">
                <a:solidFill>
                  <a:srgbClr val="6B9A6B"/>
                </a:solidFill>
              </a:rPr>
              <a:t>정규직 · 대리</a:t>
            </a:r>
            <a:endParaRPr lang="en-US" sz="1200" dirty="0"/>
          </a:p>
        </p:txBody>
      </p:sp>
      <p:sp>
        <p:nvSpPr>
          <p:cNvPr id="8" name="Text 6"/>
          <p:cNvSpPr/>
          <p:nvPr/>
        </p:nvSpPr>
        <p:spPr>
          <a:xfrm>
            <a:off x="6537960" y="868680"/>
            <a:ext cx="1691640" cy="237744"/>
          </a:xfrm>
          <a:prstGeom prst="rect">
            <a:avLst/>
          </a:prstGeom>
          <a:noFill/>
          <a:ln/>
        </p:spPr>
        <p:txBody>
          <a:bodyPr wrap="square" rtlCol="0" anchor="t"/>
          <a:lstStyle/>
          <a:p>
            <a:pPr algn="r" indent="0" marL="0">
              <a:buNone/>
            </a:pPr>
            <a:r>
              <a:rPr lang="en-US" sz="800" dirty="0">
                <a:solidFill>
                  <a:srgbClr val="AAA8A0"/>
                </a:solidFill>
                <a:latin typeface="맑은 고딕" pitchFamily="34" charset="0"/>
                <a:ea typeface="맑은 고딕" pitchFamily="34" charset="-122"/>
                <a:cs typeface="맑은 고딕" pitchFamily="34" charset="-120"/>
              </a:rPr>
              <a:t>2016.07 — 2025.12 · 9년 6개월</a:t>
            </a:r>
            <a:endParaRPr lang="en-US" sz="800" dirty="0"/>
          </a:p>
        </p:txBody>
      </p:sp>
      <p:sp>
        <p:nvSpPr>
          <p:cNvPr id="9" name="Text 7"/>
          <p:cNvSpPr/>
          <p:nvPr/>
        </p:nvSpPr>
        <p:spPr>
          <a:xfrm>
            <a:off x="2697480" y="1188720"/>
            <a:ext cx="2743200" cy="182880"/>
          </a:xfrm>
          <a:prstGeom prst="rect">
            <a:avLst/>
          </a:prstGeom>
          <a:noFill/>
          <a:ln/>
        </p:spPr>
        <p:txBody>
          <a:bodyPr wrap="square" rtlCol="0" anchor="t"/>
          <a:lstStyle/>
          <a:p>
            <a:pPr algn="l" indent="0" marL="0">
              <a:buNone/>
            </a:pPr>
            <a:r>
              <a:rPr lang="en-US" sz="950" b="1" dirty="0">
                <a:solidFill>
                  <a:srgbClr val="4A4840"/>
                </a:solidFill>
                <a:latin typeface="맑은 고딕" pitchFamily="34" charset="0"/>
                <a:ea typeface="맑은 고딕" pitchFamily="34" charset="-122"/>
                <a:cs typeface="맑은 고딕" pitchFamily="34" charset="-120"/>
              </a:rPr>
              <a:t>임원 비서</a:t>
            </a:r>
            <a:endParaRPr lang="en-US" sz="950" dirty="0"/>
          </a:p>
        </p:txBody>
      </p:sp>
      <p:sp>
        <p:nvSpPr>
          <p:cNvPr id="10" name="Text 8"/>
          <p:cNvSpPr/>
          <p:nvPr/>
        </p:nvSpPr>
        <p:spPr>
          <a:xfrm>
            <a:off x="5440680" y="1188720"/>
            <a:ext cx="2788920" cy="182880"/>
          </a:xfrm>
          <a:prstGeom prst="rect">
            <a:avLst/>
          </a:prstGeom>
          <a:noFill/>
          <a:ln/>
        </p:spPr>
        <p:txBody>
          <a:bodyPr wrap="square" rtlCol="0" anchor="t"/>
          <a:lstStyle/>
          <a:p>
            <a:pPr algn="r" indent="0" marL="0">
              <a:buNone/>
            </a:pPr>
            <a:r>
              <a:rPr lang="en-US" sz="800" dirty="0">
                <a:solidFill>
                  <a:srgbClr val="AAA8A0"/>
                </a:solidFill>
                <a:latin typeface="맑은 고딕" pitchFamily="34" charset="0"/>
                <a:ea typeface="맑은 고딕" pitchFamily="34" charset="-122"/>
                <a:cs typeface="맑은 고딕" pitchFamily="34" charset="-120"/>
              </a:rPr>
              <a:t>2016.07 — 2022.02</a:t>
            </a:r>
            <a:endParaRPr lang="en-US" sz="800" dirty="0"/>
          </a:p>
        </p:txBody>
      </p:sp>
      <p:sp>
        <p:nvSpPr>
          <p:cNvPr id="11" name="Text 9"/>
          <p:cNvSpPr/>
          <p:nvPr/>
        </p:nvSpPr>
        <p:spPr>
          <a:xfrm>
            <a:off x="2697480" y="1426464"/>
            <a:ext cx="553212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CEO·회장·부회장·사장단 일정 관리 및 해외 컨퍼런스콜 어레인지, VIP 방문 의전·회의 준비</a:t>
            </a:r>
            <a:endParaRPr lang="en-US" sz="850" dirty="0"/>
          </a:p>
        </p:txBody>
      </p:sp>
      <p:sp>
        <p:nvSpPr>
          <p:cNvPr id="12" name="Text 10"/>
          <p:cNvSpPr/>
          <p:nvPr/>
        </p:nvSpPr>
        <p:spPr>
          <a:xfrm>
            <a:off x="2697480" y="1639951"/>
            <a:ext cx="553212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경영진 보고 체계·우선순위 조율 및 유관부서 간 운영 커뮤니케이션 조율</a:t>
            </a:r>
            <a:endParaRPr lang="en-US" sz="850" dirty="0"/>
          </a:p>
        </p:txBody>
      </p:sp>
      <p:sp>
        <p:nvSpPr>
          <p:cNvPr id="13" name="Text 11"/>
          <p:cNvSpPr/>
          <p:nvPr/>
        </p:nvSpPr>
        <p:spPr>
          <a:xfrm>
            <a:off x="2697480" y="1853438"/>
            <a:ext cx="553212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비품·소모품·자산 관리, 법인카드 경비처리·세금계산서 관리·품의서 작성 등 총무 실무 병행</a:t>
            </a:r>
            <a:endParaRPr lang="en-US" sz="850" dirty="0"/>
          </a:p>
        </p:txBody>
      </p:sp>
      <p:sp>
        <p:nvSpPr>
          <p:cNvPr id="14" name="Text 12"/>
          <p:cNvSpPr/>
          <p:nvPr/>
        </p:nvSpPr>
        <p:spPr>
          <a:xfrm>
            <a:off x="2697480" y="2066925"/>
            <a:ext cx="553212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워크샵·사내 행사 지원 및 직원 소통 기반 업무환경 개선 참여</a:t>
            </a:r>
            <a:endParaRPr lang="en-US" sz="850" dirty="0"/>
          </a:p>
        </p:txBody>
      </p:sp>
      <p:sp>
        <p:nvSpPr>
          <p:cNvPr id="15" name="Text 13"/>
          <p:cNvSpPr/>
          <p:nvPr/>
        </p:nvSpPr>
        <p:spPr>
          <a:xfrm>
            <a:off x="2697480" y="2390140"/>
            <a:ext cx="2743200" cy="182880"/>
          </a:xfrm>
          <a:prstGeom prst="rect">
            <a:avLst/>
          </a:prstGeom>
          <a:noFill/>
          <a:ln/>
        </p:spPr>
        <p:txBody>
          <a:bodyPr wrap="square" rtlCol="0" anchor="t"/>
          <a:lstStyle/>
          <a:p>
            <a:pPr algn="l" indent="0" marL="0">
              <a:buNone/>
            </a:pPr>
            <a:r>
              <a:rPr lang="en-US" sz="950" b="1" dirty="0">
                <a:solidFill>
                  <a:srgbClr val="4A4840"/>
                </a:solidFill>
                <a:latin typeface="맑은 고딕" pitchFamily="34" charset="0"/>
                <a:ea typeface="맑은 고딕" pitchFamily="34" charset="-122"/>
                <a:cs typeface="맑은 고딕" pitchFamily="34" charset="-120"/>
              </a:rPr>
              <a:t>총무·경영지원</a:t>
            </a:r>
            <a:endParaRPr lang="en-US" sz="950" dirty="0"/>
          </a:p>
        </p:txBody>
      </p:sp>
      <p:sp>
        <p:nvSpPr>
          <p:cNvPr id="16" name="Text 14"/>
          <p:cNvSpPr/>
          <p:nvPr/>
        </p:nvSpPr>
        <p:spPr>
          <a:xfrm>
            <a:off x="5440680" y="2390140"/>
            <a:ext cx="2788920" cy="182880"/>
          </a:xfrm>
          <a:prstGeom prst="rect">
            <a:avLst/>
          </a:prstGeom>
          <a:noFill/>
          <a:ln/>
        </p:spPr>
        <p:txBody>
          <a:bodyPr wrap="square" rtlCol="0" anchor="t"/>
          <a:lstStyle/>
          <a:p>
            <a:pPr algn="r" indent="0" marL="0">
              <a:buNone/>
            </a:pPr>
            <a:r>
              <a:rPr lang="en-US" sz="800" dirty="0">
                <a:solidFill>
                  <a:srgbClr val="AAA8A0"/>
                </a:solidFill>
                <a:latin typeface="맑은 고딕" pitchFamily="34" charset="0"/>
                <a:ea typeface="맑은 고딕" pitchFamily="34" charset="-122"/>
                <a:cs typeface="맑은 고딕" pitchFamily="34" charset="-120"/>
              </a:rPr>
              <a:t>2022.02 — 2025.12</a:t>
            </a:r>
            <a:endParaRPr lang="en-US" sz="800" dirty="0"/>
          </a:p>
        </p:txBody>
      </p:sp>
      <p:sp>
        <p:nvSpPr>
          <p:cNvPr id="17" name="Text 15"/>
          <p:cNvSpPr/>
          <p:nvPr/>
        </p:nvSpPr>
        <p:spPr>
          <a:xfrm>
            <a:off x="2697480" y="2627884"/>
            <a:ext cx="5532120" cy="182880"/>
          </a:xfrm>
          <a:prstGeom prst="rect">
            <a:avLst/>
          </a:prstGeom>
          <a:noFill/>
          <a:ln/>
        </p:spPr>
        <p:txBody>
          <a:bodyPr wrap="square" rtlCol="0" anchor="t"/>
          <a:lstStyle/>
          <a:p>
            <a:pPr algn="l" indent="0" marL="0">
              <a:buNone/>
            </a:pPr>
            <a:r>
              <a:rPr lang="en-US" sz="850" b="1" dirty="0">
                <a:solidFill>
                  <a:srgbClr val="6B9A6B"/>
                </a:solidFill>
                <a:latin typeface="맑은 고딕" pitchFamily="34" charset="0"/>
                <a:ea typeface="맑은 고딕" pitchFamily="34" charset="-122"/>
                <a:cs typeface="맑은 고딕" pitchFamily="34" charset="-120"/>
              </a:rPr>
              <a:t>오피스 운영</a:t>
            </a:r>
            <a:endParaRPr lang="en-US" sz="850" dirty="0"/>
          </a:p>
        </p:txBody>
      </p:sp>
      <p:sp>
        <p:nvSpPr>
          <p:cNvPr id="18" name="Text 16"/>
          <p:cNvSpPr/>
          <p:nvPr/>
        </p:nvSpPr>
        <p:spPr>
          <a:xfrm>
            <a:off x="2697480" y="2829052"/>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수출본부 오피스 전반 단독 담당 — 시설·미화·보안·좌석 배치 (산업안전 법규 기준 적용)</a:t>
            </a:r>
            <a:endParaRPr lang="en-US" sz="800" dirty="0"/>
          </a:p>
        </p:txBody>
      </p:sp>
      <p:sp>
        <p:nvSpPr>
          <p:cNvPr id="19" name="Text 17"/>
          <p:cNvSpPr/>
          <p:nvPr/>
        </p:nvSpPr>
        <p:spPr>
          <a:xfrm>
            <a:off x="2697480" y="3034284"/>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소방·방역 등 법정 점검 대응 및 시설 하자 수시 처리</a:t>
            </a:r>
            <a:endParaRPr lang="en-US" sz="800" dirty="0"/>
          </a:p>
        </p:txBody>
      </p:sp>
      <p:sp>
        <p:nvSpPr>
          <p:cNvPr id="20" name="Text 18"/>
          <p:cNvSpPr/>
          <p:nvPr/>
        </p:nvSpPr>
        <p:spPr>
          <a:xfrm>
            <a:off x="2697480" y="3239516"/>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본사 리모델링에 따른 임시 오피스 이전 셋팅·운영 참여, 업무 공백 없이 전 과정 지원</a:t>
            </a:r>
            <a:endParaRPr lang="en-US" sz="800" dirty="0"/>
          </a:p>
        </p:txBody>
      </p:sp>
      <p:sp>
        <p:nvSpPr>
          <p:cNvPr id="21" name="Text 19"/>
          <p:cNvSpPr/>
          <p:nvPr/>
        </p:nvSpPr>
        <p:spPr>
          <a:xfrm>
            <a:off x="2697480" y="3499612"/>
            <a:ext cx="5532120" cy="182880"/>
          </a:xfrm>
          <a:prstGeom prst="rect">
            <a:avLst/>
          </a:prstGeom>
          <a:noFill/>
          <a:ln/>
        </p:spPr>
        <p:txBody>
          <a:bodyPr wrap="square" rtlCol="0" anchor="t"/>
          <a:lstStyle/>
          <a:p>
            <a:pPr algn="l" indent="0" marL="0">
              <a:buNone/>
            </a:pPr>
            <a:r>
              <a:rPr lang="en-US" sz="850" b="1" dirty="0">
                <a:solidFill>
                  <a:srgbClr val="6B9A6B"/>
                </a:solidFill>
                <a:latin typeface="맑은 고딕" pitchFamily="34" charset="0"/>
                <a:ea typeface="맑은 고딕" pitchFamily="34" charset="-122"/>
                <a:cs typeface="맑은 고딕" pitchFamily="34" charset="-120"/>
              </a:rPr>
              <a:t>계약·자산 관리</a:t>
            </a:r>
            <a:endParaRPr lang="en-US" sz="850" dirty="0"/>
          </a:p>
        </p:txBody>
      </p:sp>
      <p:sp>
        <p:nvSpPr>
          <p:cNvPr id="22" name="Text 20"/>
          <p:cNvSpPr/>
          <p:nvPr/>
        </p:nvSpPr>
        <p:spPr>
          <a:xfrm>
            <a:off x="2697480" y="3700780"/>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임대차·시설·협력업체 등 외부 계약 체결·이행·갱신 관리</a:t>
            </a:r>
            <a:endParaRPr lang="en-US" sz="800" dirty="0"/>
          </a:p>
        </p:txBody>
      </p:sp>
      <p:sp>
        <p:nvSpPr>
          <p:cNvPr id="23" name="Text 21"/>
          <p:cNvSpPr/>
          <p:nvPr/>
        </p:nvSpPr>
        <p:spPr>
          <a:xfrm>
            <a:off x="2697480" y="3906012"/>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협력업체 비딩·비교 검토를 통한 비용 네고 및 최적 조건 계약 체결</a:t>
            </a:r>
            <a:endParaRPr lang="en-US" sz="800" dirty="0"/>
          </a:p>
        </p:txBody>
      </p:sp>
      <p:sp>
        <p:nvSpPr>
          <p:cNvPr id="24" name="Text 22"/>
          <p:cNvSpPr/>
          <p:nvPr/>
        </p:nvSpPr>
        <p:spPr>
          <a:xfrm>
            <a:off x="2697480" y="4111244"/>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수출본부 담당 자산 현황 파악·실사 및 총무팀 취합 프로세스 참여</a:t>
            </a:r>
            <a:endParaRPr lang="en-US" sz="800" dirty="0"/>
          </a:p>
        </p:txBody>
      </p:sp>
      <p:sp>
        <p:nvSpPr>
          <p:cNvPr id="25" name="Text 23"/>
          <p:cNvSpPr/>
          <p:nvPr/>
        </p:nvSpPr>
        <p:spPr>
          <a:xfrm>
            <a:off x="2697480" y="4371340"/>
            <a:ext cx="5532120" cy="182880"/>
          </a:xfrm>
          <a:prstGeom prst="rect">
            <a:avLst/>
          </a:prstGeom>
          <a:noFill/>
          <a:ln/>
        </p:spPr>
        <p:txBody>
          <a:bodyPr wrap="square" rtlCol="0" anchor="t"/>
          <a:lstStyle/>
          <a:p>
            <a:pPr algn="l" indent="0" marL="0">
              <a:buNone/>
            </a:pPr>
            <a:r>
              <a:rPr lang="en-US" sz="850" b="1" dirty="0">
                <a:solidFill>
                  <a:srgbClr val="6B9A6B"/>
                </a:solidFill>
                <a:latin typeface="맑은 고딕" pitchFamily="34" charset="0"/>
                <a:ea typeface="맑은 고딕" pitchFamily="34" charset="-122"/>
                <a:cs typeface="맑은 고딕" pitchFamily="34" charset="-120"/>
              </a:rPr>
              <a:t>구성원 지원</a:t>
            </a:r>
            <a:endParaRPr lang="en-US" sz="850" dirty="0"/>
          </a:p>
        </p:txBody>
      </p:sp>
      <p:sp>
        <p:nvSpPr>
          <p:cNvPr id="26" name="Text 24"/>
          <p:cNvSpPr/>
          <p:nvPr/>
        </p:nvSpPr>
        <p:spPr>
          <a:xfrm>
            <a:off x="2697480" y="4572508"/>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복리후생 운영 — 생일상품권·법인콘도·위탁보육·명절행사 등 전반 운영</a:t>
            </a:r>
            <a:endParaRPr lang="en-US" sz="800" dirty="0"/>
          </a:p>
        </p:txBody>
      </p:sp>
      <p:sp>
        <p:nvSpPr>
          <p:cNvPr id="27" name="Text 25"/>
          <p:cNvSpPr/>
          <p:nvPr/>
        </p:nvSpPr>
        <p:spPr>
          <a:xfrm>
            <a:off x="2697480" y="4777740"/>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출장·주재원 지원 — 항공권·비자·여행자보험·ABTC·해외이사 비딩까지 전 과정 단독 처리</a:t>
            </a:r>
            <a:endParaRPr lang="en-US" sz="800" dirty="0"/>
          </a:p>
        </p:txBody>
      </p:sp>
      <p:sp>
        <p:nvSpPr>
          <p:cNvPr id="28" name="Text 26"/>
          <p:cNvSpPr/>
          <p:nvPr/>
        </p:nvSpPr>
        <p:spPr>
          <a:xfrm>
            <a:off x="2697480" y="4982972"/>
            <a:ext cx="5532120" cy="17780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시즌별 사내 행사 기획 참여 및 실행</a:t>
            </a:r>
            <a:endParaRPr lang="en-US" sz="800" dirty="0"/>
          </a:p>
        </p:txBody>
      </p:sp>
      <p:sp>
        <p:nvSpPr>
          <p:cNvPr id="29" name="Text 27"/>
          <p:cNvSpPr/>
          <p:nvPr/>
        </p:nvSpPr>
        <p:spPr>
          <a:xfrm>
            <a:off x="2697480" y="5243068"/>
            <a:ext cx="5532120" cy="182880"/>
          </a:xfrm>
          <a:prstGeom prst="rect">
            <a:avLst/>
          </a:prstGeom>
          <a:noFill/>
          <a:ln/>
        </p:spPr>
        <p:txBody>
          <a:bodyPr wrap="square" rtlCol="0" anchor="t"/>
          <a:lstStyle/>
          <a:p>
            <a:pPr algn="l" indent="0" marL="0">
              <a:buNone/>
            </a:pPr>
            <a:r>
              <a:rPr lang="en-US" sz="850" b="1" dirty="0">
                <a:solidFill>
                  <a:srgbClr val="6B9A6B"/>
                </a:solidFill>
                <a:latin typeface="맑은 고딕" pitchFamily="34" charset="0"/>
                <a:ea typeface="맑은 고딕" pitchFamily="34" charset="-122"/>
                <a:cs typeface="맑은 고딕" pitchFamily="34" charset="-120"/>
              </a:rPr>
              <a:t>업무 자동화</a:t>
            </a:r>
            <a:endParaRPr lang="en-US" sz="850" dirty="0"/>
          </a:p>
        </p:txBody>
      </p:sp>
      <p:sp>
        <p:nvSpPr>
          <p:cNvPr id="30" name="Text 28"/>
          <p:cNvSpPr/>
          <p:nvPr/>
        </p:nvSpPr>
        <p:spPr>
          <a:xfrm>
            <a:off x="2697480" y="5444236"/>
            <a:ext cx="5532120" cy="309880"/>
          </a:xfrm>
          <a:prstGeom prst="rect">
            <a:avLst/>
          </a:prstGeom>
          <a:noFill/>
          <a:ln/>
        </p:spPr>
        <p:txBody>
          <a:bodyPr wrap="square" rtlCol="0" anchor="t"/>
          <a:lstStyle/>
          <a:p>
            <a:pPr algn="l" indent="0" marL="0">
              <a:lnSpc>
                <a:spcPct val="125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Google Workspace 기반 명함 신청·출장 정산 자동화 구축 — 수동 처리 오류 제거 및 검증 효율 향상</a:t>
            </a:r>
            <a:endParaRPr lang="en-US" sz="800" dirty="0"/>
          </a:p>
        </p:txBody>
      </p:sp>
      <p:sp>
        <p:nvSpPr>
          <p:cNvPr id="31" name="Text 29"/>
          <p:cNvSpPr/>
          <p:nvPr/>
        </p:nvSpPr>
        <p:spPr>
          <a:xfrm>
            <a:off x="8458200" y="868680"/>
            <a:ext cx="3200400" cy="365760"/>
          </a:xfrm>
          <a:prstGeom prst="rect">
            <a:avLst/>
          </a:prstGeom>
          <a:noFill/>
          <a:ln/>
        </p:spPr>
        <p:txBody>
          <a:bodyPr wrap="square" rtlCol="0" anchor="t"/>
          <a:lstStyle/>
          <a:p>
            <a:pPr algn="l" indent="0" marL="0">
              <a:buNone/>
            </a:pPr>
            <a:r>
              <a:rPr lang="en-US" sz="1050" b="1" dirty="0">
                <a:solidFill>
                  <a:srgbClr val="2C2820"/>
                </a:solidFill>
              </a:rPr>
              <a:t>포에버21코리아리테일(유)   </a:t>
            </a:r>
            <a:pPr algn="l" indent="0" marL="0">
              <a:buNone/>
            </a:pPr>
            <a:r>
              <a:rPr lang="en-US" sz="800" dirty="0">
                <a:solidFill>
                  <a:srgbClr val="B07A6E"/>
                </a:solidFill>
              </a:rPr>
              <a:t>정규직</a:t>
            </a:r>
            <a:endParaRPr lang="en-US" sz="1050" dirty="0"/>
          </a:p>
        </p:txBody>
      </p:sp>
      <p:sp>
        <p:nvSpPr>
          <p:cNvPr id="32" name="Text 30"/>
          <p:cNvSpPr/>
          <p:nvPr/>
        </p:nvSpPr>
        <p:spPr>
          <a:xfrm>
            <a:off x="8458200" y="1115568"/>
            <a:ext cx="3200400" cy="182880"/>
          </a:xfrm>
          <a:prstGeom prst="rect">
            <a:avLst/>
          </a:prstGeom>
          <a:noFill/>
          <a:ln/>
        </p:spPr>
        <p:txBody>
          <a:bodyPr wrap="square" rtlCol="0" anchor="t"/>
          <a:lstStyle/>
          <a:p>
            <a:pPr algn="l" indent="0" marL="0">
              <a:buNone/>
            </a:pPr>
            <a:r>
              <a:rPr lang="en-US" sz="750" dirty="0">
                <a:solidFill>
                  <a:srgbClr val="AAA8A0"/>
                </a:solidFill>
                <a:latin typeface="맑은 고딕" pitchFamily="34" charset="0"/>
                <a:ea typeface="맑은 고딕" pitchFamily="34" charset="-122"/>
                <a:cs typeface="맑은 고딕" pitchFamily="34" charset="-120"/>
              </a:rPr>
              <a:t>2010.03 — 2013.09 · 총 3년 1개월</a:t>
            </a:r>
            <a:endParaRPr lang="en-US" sz="750" dirty="0"/>
          </a:p>
        </p:txBody>
      </p:sp>
      <p:sp>
        <p:nvSpPr>
          <p:cNvPr id="33" name="Text 31"/>
          <p:cNvSpPr/>
          <p:nvPr/>
        </p:nvSpPr>
        <p:spPr>
          <a:xfrm>
            <a:off x="8458200" y="1417320"/>
            <a:ext cx="3200400" cy="182880"/>
          </a:xfrm>
          <a:prstGeom prst="rect">
            <a:avLst/>
          </a:prstGeom>
          <a:noFill/>
          <a:ln/>
        </p:spPr>
        <p:txBody>
          <a:bodyPr wrap="square" rtlCol="0" anchor="t"/>
          <a:lstStyle/>
          <a:p>
            <a:pPr algn="l" indent="0" marL="0">
              <a:buNone/>
            </a:pPr>
            <a:r>
              <a:rPr lang="en-US" sz="900" b="1" dirty="0">
                <a:solidFill>
                  <a:srgbClr val="4A4840"/>
                </a:solidFill>
                <a:latin typeface="맑은 고딕" pitchFamily="34" charset="0"/>
                <a:ea typeface="맑은 고딕" pitchFamily="34" charset="-122"/>
                <a:cs typeface="맑은 고딕" pitchFamily="34" charset="-120"/>
              </a:rPr>
              <a:t>세일즈</a:t>
            </a:r>
            <a:endParaRPr lang="en-US" sz="900" dirty="0"/>
          </a:p>
        </p:txBody>
      </p:sp>
      <p:sp>
        <p:nvSpPr>
          <p:cNvPr id="34" name="Text 32"/>
          <p:cNvSpPr/>
          <p:nvPr/>
        </p:nvSpPr>
        <p:spPr>
          <a:xfrm>
            <a:off x="8458200" y="1600200"/>
            <a:ext cx="3200400" cy="164592"/>
          </a:xfrm>
          <a:prstGeom prst="rect">
            <a:avLst/>
          </a:prstGeom>
          <a:noFill/>
          <a:ln/>
        </p:spPr>
        <p:txBody>
          <a:bodyPr wrap="square" rtlCol="0" anchor="t"/>
          <a:lstStyle/>
          <a:p>
            <a:pPr algn="l" indent="0" marL="0">
              <a:buNone/>
            </a:pPr>
            <a:r>
              <a:rPr lang="en-US" sz="750" dirty="0">
                <a:solidFill>
                  <a:srgbClr val="AAA8A0"/>
                </a:solidFill>
                <a:latin typeface="맑은 고딕" pitchFamily="34" charset="0"/>
                <a:ea typeface="맑은 고딕" pitchFamily="34" charset="-122"/>
                <a:cs typeface="맑은 고딕" pitchFamily="34" charset="-120"/>
              </a:rPr>
              <a:t>2010.03 — 2010.09</a:t>
            </a:r>
            <a:endParaRPr lang="en-US" sz="750" dirty="0"/>
          </a:p>
        </p:txBody>
      </p:sp>
      <p:sp>
        <p:nvSpPr>
          <p:cNvPr id="35" name="Text 33"/>
          <p:cNvSpPr/>
          <p:nvPr/>
        </p:nvSpPr>
        <p:spPr>
          <a:xfrm>
            <a:off x="8458200" y="1801368"/>
            <a:ext cx="3200400" cy="177800"/>
          </a:xfrm>
          <a:prstGeom prst="rect">
            <a:avLst/>
          </a:prstGeom>
          <a:noFill/>
          <a:ln/>
        </p:spPr>
        <p:txBody>
          <a:bodyPr wrap="square" rtlCol="0" anchor="t"/>
          <a:lstStyle/>
          <a:p>
            <a:pPr algn="l" indent="0" marL="0">
              <a:lnSpc>
                <a:spcPct val="125000"/>
              </a:lnSpc>
              <a:buNone/>
            </a:pPr>
            <a:r>
              <a:rPr lang="en-US" sz="80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매장 판매·고객 응대 및 판매 데이터 기반 현장 운영 경험</a:t>
            </a:r>
            <a:endParaRPr lang="en-US" sz="800" dirty="0"/>
          </a:p>
        </p:txBody>
      </p:sp>
      <p:sp>
        <p:nvSpPr>
          <p:cNvPr id="36" name="Text 34"/>
          <p:cNvSpPr/>
          <p:nvPr/>
        </p:nvSpPr>
        <p:spPr>
          <a:xfrm>
            <a:off x="8458200" y="2098040"/>
            <a:ext cx="3200400" cy="182880"/>
          </a:xfrm>
          <a:prstGeom prst="rect">
            <a:avLst/>
          </a:prstGeom>
          <a:noFill/>
          <a:ln/>
        </p:spPr>
        <p:txBody>
          <a:bodyPr wrap="square" rtlCol="0" anchor="t"/>
          <a:lstStyle/>
          <a:p>
            <a:pPr algn="l" indent="0" marL="0">
              <a:buNone/>
            </a:pPr>
            <a:r>
              <a:rPr lang="en-US" sz="900" b="1" dirty="0">
                <a:solidFill>
                  <a:srgbClr val="4A4840"/>
                </a:solidFill>
                <a:latin typeface="맑은 고딕" pitchFamily="34" charset="0"/>
                <a:ea typeface="맑은 고딕" pitchFamily="34" charset="-122"/>
                <a:cs typeface="맑은 고딕" pitchFamily="34" charset="-120"/>
              </a:rPr>
              <a:t>ACC VMD</a:t>
            </a:r>
            <a:endParaRPr lang="en-US" sz="900" dirty="0"/>
          </a:p>
        </p:txBody>
      </p:sp>
      <p:sp>
        <p:nvSpPr>
          <p:cNvPr id="37" name="Text 35"/>
          <p:cNvSpPr/>
          <p:nvPr/>
        </p:nvSpPr>
        <p:spPr>
          <a:xfrm>
            <a:off x="8458200" y="2280920"/>
            <a:ext cx="3200400" cy="164592"/>
          </a:xfrm>
          <a:prstGeom prst="rect">
            <a:avLst/>
          </a:prstGeom>
          <a:noFill/>
          <a:ln/>
        </p:spPr>
        <p:txBody>
          <a:bodyPr wrap="square" rtlCol="0" anchor="t"/>
          <a:lstStyle/>
          <a:p>
            <a:pPr algn="l" indent="0" marL="0">
              <a:buNone/>
            </a:pPr>
            <a:r>
              <a:rPr lang="en-US" sz="750" dirty="0">
                <a:solidFill>
                  <a:srgbClr val="AAA8A0"/>
                </a:solidFill>
                <a:latin typeface="맑은 고딕" pitchFamily="34" charset="0"/>
                <a:ea typeface="맑은 고딕" pitchFamily="34" charset="-122"/>
                <a:cs typeface="맑은 고딕" pitchFamily="34" charset="-120"/>
              </a:rPr>
              <a:t>2010.09 — 2011.11 / 2012.08 — 2013.09</a:t>
            </a:r>
            <a:endParaRPr lang="en-US" sz="750" dirty="0"/>
          </a:p>
        </p:txBody>
      </p:sp>
      <p:sp>
        <p:nvSpPr>
          <p:cNvPr id="38" name="Text 36"/>
          <p:cNvSpPr/>
          <p:nvPr/>
        </p:nvSpPr>
        <p:spPr>
          <a:xfrm>
            <a:off x="8458200" y="2482088"/>
            <a:ext cx="3200400" cy="177800"/>
          </a:xfrm>
          <a:prstGeom prst="rect">
            <a:avLst/>
          </a:prstGeom>
          <a:noFill/>
          <a:ln/>
        </p:spPr>
        <p:txBody>
          <a:bodyPr wrap="square" rtlCol="0" anchor="t"/>
          <a:lstStyle/>
          <a:p>
            <a:pPr algn="l" indent="0" marL="0">
              <a:lnSpc>
                <a:spcPct val="125000"/>
              </a:lnSpc>
              <a:buNone/>
            </a:pPr>
            <a:r>
              <a:rPr lang="en-US" sz="80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사내 VMD 전환 시험 합격 후 ACC VMD로 직무 전환</a:t>
            </a:r>
            <a:endParaRPr lang="en-US" sz="800" dirty="0"/>
          </a:p>
        </p:txBody>
      </p:sp>
      <p:sp>
        <p:nvSpPr>
          <p:cNvPr id="39" name="Text 37"/>
          <p:cNvSpPr/>
          <p:nvPr/>
        </p:nvSpPr>
        <p:spPr>
          <a:xfrm>
            <a:off x="8458200" y="2687320"/>
            <a:ext cx="3200400" cy="177800"/>
          </a:xfrm>
          <a:prstGeom prst="rect">
            <a:avLst/>
          </a:prstGeom>
          <a:noFill/>
          <a:ln/>
        </p:spPr>
        <p:txBody>
          <a:bodyPr wrap="square" rtlCol="0" anchor="t"/>
          <a:lstStyle/>
          <a:p>
            <a:pPr algn="l" indent="0" marL="0">
              <a:lnSpc>
                <a:spcPct val="125000"/>
              </a:lnSpc>
              <a:buNone/>
            </a:pPr>
            <a:r>
              <a:rPr lang="en-US" sz="80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해외 바이어 응대 및 판매 분석·재고 관리·컨셉 진열 관리</a:t>
            </a:r>
            <a:endParaRPr lang="en-US" sz="800" dirty="0"/>
          </a:p>
        </p:txBody>
      </p:sp>
      <p:sp>
        <p:nvSpPr>
          <p:cNvPr id="40" name="Text 38"/>
          <p:cNvSpPr/>
          <p:nvPr/>
        </p:nvSpPr>
        <p:spPr>
          <a:xfrm>
            <a:off x="8458200" y="2892552"/>
            <a:ext cx="3200400" cy="177800"/>
          </a:xfrm>
          <a:prstGeom prst="rect">
            <a:avLst/>
          </a:prstGeom>
          <a:noFill/>
          <a:ln/>
        </p:spPr>
        <p:txBody>
          <a:bodyPr wrap="square" rtlCol="0" anchor="t"/>
          <a:lstStyle/>
          <a:p>
            <a:pPr algn="l" indent="0" marL="0">
              <a:lnSpc>
                <a:spcPct val="125000"/>
              </a:lnSpc>
              <a:buNone/>
            </a:pPr>
            <a:r>
              <a:rPr lang="en-US" sz="80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매장 오픈·리뉴얼 셋업 현장 운영</a:t>
            </a:r>
            <a:endParaRPr lang="en-US" sz="800" dirty="0"/>
          </a:p>
        </p:txBody>
      </p:sp>
      <p:sp>
        <p:nvSpPr>
          <p:cNvPr id="41" name="Text 39"/>
          <p:cNvSpPr/>
          <p:nvPr/>
        </p:nvSpPr>
        <p:spPr>
          <a:xfrm>
            <a:off x="8458200" y="3097784"/>
            <a:ext cx="3200400" cy="309880"/>
          </a:xfrm>
          <a:prstGeom prst="rect">
            <a:avLst/>
          </a:prstGeom>
          <a:noFill/>
          <a:ln/>
        </p:spPr>
        <p:txBody>
          <a:bodyPr wrap="square" rtlCol="0" anchor="t"/>
          <a:lstStyle/>
          <a:p>
            <a:pPr algn="l" indent="0" marL="0">
              <a:lnSpc>
                <a:spcPct val="125000"/>
              </a:lnSpc>
              <a:buNone/>
            </a:pPr>
            <a:r>
              <a:rPr lang="en-US" sz="80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00" dirty="0">
                <a:solidFill>
                  <a:srgbClr val="5A5850"/>
                </a:solidFill>
                <a:latin typeface="맑은 고딕" pitchFamily="34" charset="0"/>
                <a:ea typeface="맑은 고딕" pitchFamily="34" charset="-122"/>
                <a:cs typeface="맑은 고딕" pitchFamily="34" charset="-120"/>
              </a:rPr>
              <a:t>신사점 오픈, 명동점 리뉴얼 오픈 셋팅 참여 — 일 매출 1억 5천만 원 달성</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F7F4F0"/>
          </a:solidFill>
          <a:ln/>
        </p:spPr>
      </p:sp>
      <p:sp>
        <p:nvSpPr>
          <p:cNvPr id="3" name="Shape 1"/>
          <p:cNvSpPr/>
          <p:nvPr/>
        </p:nvSpPr>
        <p:spPr>
          <a:xfrm>
            <a:off x="457200" y="502920"/>
            <a:ext cx="36576" cy="457200"/>
          </a:xfrm>
          <a:prstGeom prst="rect">
            <a:avLst/>
          </a:prstGeom>
          <a:solidFill>
            <a:srgbClr val="6B9A6B"/>
          </a:solidFill>
          <a:ln/>
        </p:spPr>
      </p:sp>
      <p:sp>
        <p:nvSpPr>
          <p:cNvPr id="4" name="Text 2"/>
          <p:cNvSpPr/>
          <p:nvPr/>
        </p:nvSpPr>
        <p:spPr>
          <a:xfrm>
            <a:off x="457200" y="1051560"/>
            <a:ext cx="1737360" cy="1005840"/>
          </a:xfrm>
          <a:prstGeom prst="rect">
            <a:avLst/>
          </a:prstGeom>
          <a:noFill/>
          <a:ln/>
        </p:spPr>
        <p:txBody>
          <a:bodyPr wrap="square" rtlCol="0" anchor="t"/>
          <a:lstStyle/>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Motivation</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&amp;</a:t>
            </a:r>
            <a:endParaRPr lang="en-US" sz="1100" dirty="0"/>
          </a:p>
          <a:p>
            <a:pPr algn="l" indent="0" marL="0">
              <a:lnSpc>
                <a:spcPct val="150000"/>
              </a:lnSpc>
              <a:buNone/>
            </a:pPr>
            <a:r>
              <a:rPr lang="en-US" sz="1100" b="1" spc="200" kern="0" dirty="0">
                <a:solidFill>
                  <a:srgbClr val="6B9A6B"/>
                </a:solidFill>
                <a:latin typeface="맑은 고딕" pitchFamily="34" charset="0"/>
                <a:ea typeface="맑은 고딕" pitchFamily="34" charset="-122"/>
                <a:cs typeface="맑은 고딕" pitchFamily="34" charset="-120"/>
              </a:rPr>
              <a:t>Goals</a:t>
            </a:r>
            <a:endParaRPr lang="en-US" sz="1100" dirty="0"/>
          </a:p>
        </p:txBody>
      </p:sp>
      <p:sp>
        <p:nvSpPr>
          <p:cNvPr id="5" name="Text 3"/>
          <p:cNvSpPr/>
          <p:nvPr/>
        </p:nvSpPr>
        <p:spPr>
          <a:xfrm>
            <a:off x="457200" y="2286000"/>
            <a:ext cx="1737360" cy="1188720"/>
          </a:xfrm>
          <a:prstGeom prst="rect">
            <a:avLst/>
          </a:prstGeom>
          <a:noFill/>
          <a:ln/>
        </p:spPr>
        <p:txBody>
          <a:bodyPr wrap="square" rtlCol="0" anchor="t"/>
          <a:lstStyle/>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토스페이먼츠</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General Affairs</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Manager</a:t>
            </a:r>
            <a:endParaRPr lang="en-US" sz="1050" dirty="0"/>
          </a:p>
        </p:txBody>
      </p:sp>
      <p:sp>
        <p:nvSpPr>
          <p:cNvPr id="6" name="Text 4"/>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01 — 지원 동기 및 적합 이유</a:t>
            </a:r>
            <a:endParaRPr lang="en-US" sz="1200" dirty="0"/>
          </a:p>
        </p:txBody>
      </p:sp>
      <p:sp>
        <p:nvSpPr>
          <p:cNvPr id="7" name="Shape 5"/>
          <p:cNvSpPr/>
          <p:nvPr/>
        </p:nvSpPr>
        <p:spPr>
          <a:xfrm>
            <a:off x="2697480" y="777240"/>
            <a:ext cx="8961120" cy="0"/>
          </a:xfrm>
          <a:prstGeom prst="line">
            <a:avLst/>
          </a:prstGeom>
          <a:noFill/>
          <a:ln w="9525">
            <a:solidFill>
              <a:srgbClr val="6B9A6B">
                <a:alpha val="30000"/>
              </a:srgbClr>
            </a:solidFill>
            <a:prstDash val="solid"/>
          </a:ln>
        </p:spPr>
      </p:sp>
      <p:sp>
        <p:nvSpPr>
          <p:cNvPr id="8" name="Text 6"/>
          <p:cNvSpPr/>
          <p:nvPr/>
        </p:nvSpPr>
        <p:spPr>
          <a:xfrm>
            <a:off x="2697480" y="914400"/>
            <a:ext cx="8961120" cy="411480"/>
          </a:xfrm>
          <a:prstGeom prst="rect">
            <a:avLst/>
          </a:prstGeom>
          <a:noFill/>
          <a:ln/>
        </p:spPr>
        <p:txBody>
          <a:bodyPr wrap="square" rtlCol="0" anchor="t"/>
          <a:lstStyle/>
          <a:p>
            <a:pPr algn="l" indent="0" marL="0">
              <a:buNone/>
            </a:pPr>
            <a:r>
              <a:rPr lang="en-US" sz="1600" b="1" dirty="0">
                <a:solidFill>
                  <a:srgbClr val="2C2820"/>
                </a:solidFill>
                <a:latin typeface="맑은 고딕" pitchFamily="34" charset="0"/>
                <a:ea typeface="맑은 고딕" pitchFamily="34" charset="-122"/>
                <a:cs typeface="맑은 고딕" pitchFamily="34" charset="-120"/>
              </a:rPr>
              <a:t>“저는 이타적인 마음을 가진 E성향의 사람입니다.”</a:t>
            </a:r>
            <a:endParaRPr lang="en-US" sz="1600" dirty="0"/>
          </a:p>
        </p:txBody>
      </p:sp>
      <p:sp>
        <p:nvSpPr>
          <p:cNvPr id="9" name="Text 7"/>
          <p:cNvSpPr/>
          <p:nvPr/>
        </p:nvSpPr>
        <p:spPr>
          <a:xfrm>
            <a:off x="2697480" y="1417320"/>
            <a:ext cx="8961120" cy="1417320"/>
          </a:xfrm>
          <a:prstGeom prst="rect">
            <a:avLst/>
          </a:prstGeom>
          <a:noFill/>
          <a:ln/>
        </p:spPr>
        <p:txBody>
          <a:bodyPr wrap="square" rtlCol="0" anchor="t"/>
          <a:lstStyle/>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상대의 니즈를 파악하고 불편을 개선하는 것이 자연스럽게 즐거운 일이고, 지금까지의 경력이 모두 그 방향으로 이어져 왔습니다. VMD로 고객과 공간을 연결하고, 임원 비서로 경영진의 필요를 선제적으로 파악하며, 총무로 구성원의 운영 환경을 개선해온 경험 모두가 결국 '상대가 체감할 수 있는 서비스'를 만드는 일이었습니다.</a:t>
            </a:r>
            <a:endParaRPr lang="en-US" sz="1100" dirty="0"/>
          </a:p>
          <a:p>
            <a:pPr algn="l" indent="0" marL="0">
              <a:lnSpc>
                <a:spcPct val="135000"/>
              </a:lnSpc>
              <a:buNone/>
            </a:pPr>
            <a:endParaRPr lang="en-US" sz="1100" dirty="0"/>
          </a:p>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최고 경영진의 니즈를 먼저 파악하고 맞추는 임원 비서로 시작해, 총무·경영지원으로 전환한 이후에도 으로 구성원이 말하기 전에 먼저 불편을 발견하고, 직접 기획해 개선하는 것이 저의 업무 방식이었습니다.</a:t>
            </a:r>
            <a:endParaRPr lang="en-US" sz="1100" dirty="0"/>
          </a:p>
        </p:txBody>
      </p:sp>
      <p:sp>
        <p:nvSpPr>
          <p:cNvPr id="10" name="Shape 8"/>
          <p:cNvSpPr/>
          <p:nvPr/>
        </p:nvSpPr>
        <p:spPr>
          <a:xfrm>
            <a:off x="2697480" y="2971800"/>
            <a:ext cx="2862072" cy="868680"/>
          </a:xfrm>
          <a:prstGeom prst="rect">
            <a:avLst/>
          </a:prstGeom>
          <a:solidFill>
            <a:srgbClr val="F7F4F0"/>
          </a:solidFill>
          <a:ln/>
        </p:spPr>
      </p:sp>
      <p:sp>
        <p:nvSpPr>
          <p:cNvPr id="11" name="Shape 9"/>
          <p:cNvSpPr/>
          <p:nvPr/>
        </p:nvSpPr>
        <p:spPr>
          <a:xfrm>
            <a:off x="2697480" y="2971800"/>
            <a:ext cx="2862072" cy="36576"/>
          </a:xfrm>
          <a:prstGeom prst="rect">
            <a:avLst/>
          </a:prstGeom>
          <a:solidFill>
            <a:srgbClr val="6B9A6B"/>
          </a:solidFill>
          <a:ln/>
        </p:spPr>
      </p:sp>
      <p:sp>
        <p:nvSpPr>
          <p:cNvPr id="12" name="Text 10"/>
          <p:cNvSpPr/>
          <p:nvPr/>
        </p:nvSpPr>
        <p:spPr>
          <a:xfrm>
            <a:off x="2834640" y="3063240"/>
            <a:ext cx="2587752" cy="274320"/>
          </a:xfrm>
          <a:prstGeom prst="rect">
            <a:avLst/>
          </a:prstGeom>
          <a:noFill/>
          <a:ln/>
        </p:spPr>
        <p:txBody>
          <a:bodyPr wrap="square" rtlCol="0" anchor="t"/>
          <a:lstStyle/>
          <a:p>
            <a:pPr algn="l" indent="0" marL="0">
              <a:buNone/>
            </a:pPr>
            <a:r>
              <a:rPr lang="en-US" sz="1050" b="1" dirty="0">
                <a:solidFill>
                  <a:srgbClr val="2C2820"/>
                </a:solidFill>
                <a:latin typeface="맑은 고딕" pitchFamily="34" charset="0"/>
                <a:ea typeface="맑은 고딕" pitchFamily="34" charset="-122"/>
                <a:cs typeface="맑은 고딕" pitchFamily="34" charset="-120"/>
              </a:rPr>
              <a:t>주차 시스템 전산화</a:t>
            </a:r>
            <a:endParaRPr lang="en-US" sz="1050" dirty="0"/>
          </a:p>
        </p:txBody>
      </p:sp>
      <p:sp>
        <p:nvSpPr>
          <p:cNvPr id="13" name="Text 11"/>
          <p:cNvSpPr/>
          <p:nvPr/>
        </p:nvSpPr>
        <p:spPr>
          <a:xfrm>
            <a:off x="2834640" y="3355848"/>
            <a:ext cx="2587752" cy="457200"/>
          </a:xfrm>
          <a:prstGeom prst="rect">
            <a:avLst/>
          </a:prstGeom>
          <a:noFill/>
          <a:ln/>
        </p:spPr>
        <p:txBody>
          <a:bodyPr wrap="square" rtlCol="0" anchor="t"/>
          <a:lstStyle/>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요청 없이</a:t>
            </a:r>
            <a:endParaRPr lang="en-US" sz="900" dirty="0"/>
          </a:p>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즉시 사용 가능한 환경 구축</a:t>
            </a:r>
            <a:endParaRPr lang="en-US" sz="900" dirty="0"/>
          </a:p>
        </p:txBody>
      </p:sp>
      <p:sp>
        <p:nvSpPr>
          <p:cNvPr id="14" name="Shape 12"/>
          <p:cNvSpPr/>
          <p:nvPr/>
        </p:nvSpPr>
        <p:spPr>
          <a:xfrm>
            <a:off x="5742432" y="2971800"/>
            <a:ext cx="2862072" cy="868680"/>
          </a:xfrm>
          <a:prstGeom prst="rect">
            <a:avLst/>
          </a:prstGeom>
          <a:solidFill>
            <a:srgbClr val="F7F4F0"/>
          </a:solidFill>
          <a:ln/>
        </p:spPr>
      </p:sp>
      <p:sp>
        <p:nvSpPr>
          <p:cNvPr id="15" name="Shape 13"/>
          <p:cNvSpPr/>
          <p:nvPr/>
        </p:nvSpPr>
        <p:spPr>
          <a:xfrm>
            <a:off x="5742432" y="2971800"/>
            <a:ext cx="2862072" cy="36576"/>
          </a:xfrm>
          <a:prstGeom prst="rect">
            <a:avLst/>
          </a:prstGeom>
          <a:solidFill>
            <a:srgbClr val="6B9A6B"/>
          </a:solidFill>
          <a:ln/>
        </p:spPr>
      </p:sp>
      <p:sp>
        <p:nvSpPr>
          <p:cNvPr id="16" name="Text 14"/>
          <p:cNvSpPr/>
          <p:nvPr/>
        </p:nvSpPr>
        <p:spPr>
          <a:xfrm>
            <a:off x="5879592" y="3063240"/>
            <a:ext cx="2587752" cy="274320"/>
          </a:xfrm>
          <a:prstGeom prst="rect">
            <a:avLst/>
          </a:prstGeom>
          <a:noFill/>
          <a:ln/>
        </p:spPr>
        <p:txBody>
          <a:bodyPr wrap="square" rtlCol="0" anchor="t"/>
          <a:lstStyle/>
          <a:p>
            <a:pPr algn="l" indent="0" marL="0">
              <a:buNone/>
            </a:pPr>
            <a:r>
              <a:rPr lang="en-US" sz="1050" b="1" dirty="0">
                <a:solidFill>
                  <a:srgbClr val="2C2820"/>
                </a:solidFill>
                <a:latin typeface="맑은 고딕" pitchFamily="34" charset="0"/>
                <a:ea typeface="맑은 고딕" pitchFamily="34" charset="-122"/>
                <a:cs typeface="맑은 고딕" pitchFamily="34" charset="-120"/>
              </a:rPr>
              <a:t>명함 신청 프로세스</a:t>
            </a:r>
            <a:endParaRPr lang="en-US" sz="1050" dirty="0"/>
          </a:p>
        </p:txBody>
      </p:sp>
      <p:sp>
        <p:nvSpPr>
          <p:cNvPr id="17" name="Text 15"/>
          <p:cNvSpPr/>
          <p:nvPr/>
        </p:nvSpPr>
        <p:spPr>
          <a:xfrm>
            <a:off x="5879592" y="3355848"/>
            <a:ext cx="2587752" cy="457200"/>
          </a:xfrm>
          <a:prstGeom prst="rect">
            <a:avLst/>
          </a:prstGeom>
          <a:noFill/>
          <a:ln/>
        </p:spPr>
        <p:txBody>
          <a:bodyPr wrap="square" rtlCol="0" anchor="t"/>
          <a:lstStyle/>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Forms·Sheets·Apps Script로</a:t>
            </a:r>
            <a:endParaRPr lang="en-US" sz="900" dirty="0"/>
          </a:p>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다이렉트 소통 구조화</a:t>
            </a:r>
            <a:endParaRPr lang="en-US" sz="900" dirty="0"/>
          </a:p>
        </p:txBody>
      </p:sp>
      <p:sp>
        <p:nvSpPr>
          <p:cNvPr id="18" name="Shape 16"/>
          <p:cNvSpPr/>
          <p:nvPr/>
        </p:nvSpPr>
        <p:spPr>
          <a:xfrm>
            <a:off x="8787384" y="2971800"/>
            <a:ext cx="2862072" cy="868680"/>
          </a:xfrm>
          <a:prstGeom prst="rect">
            <a:avLst/>
          </a:prstGeom>
          <a:solidFill>
            <a:srgbClr val="F7F4F0"/>
          </a:solidFill>
          <a:ln/>
        </p:spPr>
      </p:sp>
      <p:sp>
        <p:nvSpPr>
          <p:cNvPr id="19" name="Shape 17"/>
          <p:cNvSpPr/>
          <p:nvPr/>
        </p:nvSpPr>
        <p:spPr>
          <a:xfrm>
            <a:off x="8787384" y="2971800"/>
            <a:ext cx="2862072" cy="36576"/>
          </a:xfrm>
          <a:prstGeom prst="rect">
            <a:avLst/>
          </a:prstGeom>
          <a:solidFill>
            <a:srgbClr val="6B9A6B"/>
          </a:solidFill>
          <a:ln/>
        </p:spPr>
      </p:sp>
      <p:sp>
        <p:nvSpPr>
          <p:cNvPr id="20" name="Text 18"/>
          <p:cNvSpPr/>
          <p:nvPr/>
        </p:nvSpPr>
        <p:spPr>
          <a:xfrm>
            <a:off x="8924544" y="3063240"/>
            <a:ext cx="2587752" cy="274320"/>
          </a:xfrm>
          <a:prstGeom prst="rect">
            <a:avLst/>
          </a:prstGeom>
          <a:noFill/>
          <a:ln/>
        </p:spPr>
        <p:txBody>
          <a:bodyPr wrap="square" rtlCol="0" anchor="t"/>
          <a:lstStyle/>
          <a:p>
            <a:pPr algn="l" indent="0" marL="0">
              <a:buNone/>
            </a:pPr>
            <a:r>
              <a:rPr lang="en-US" sz="1050" b="1" dirty="0">
                <a:solidFill>
                  <a:srgbClr val="2C2820"/>
                </a:solidFill>
                <a:latin typeface="맑은 고딕" pitchFamily="34" charset="0"/>
                <a:ea typeface="맑은 고딕" pitchFamily="34" charset="-122"/>
                <a:cs typeface="맑은 고딕" pitchFamily="34" charset="-120"/>
              </a:rPr>
              <a:t>법인콘도 이벤트</a:t>
            </a:r>
            <a:endParaRPr lang="en-US" sz="1050" dirty="0"/>
          </a:p>
        </p:txBody>
      </p:sp>
      <p:sp>
        <p:nvSpPr>
          <p:cNvPr id="21" name="Text 19"/>
          <p:cNvSpPr/>
          <p:nvPr/>
        </p:nvSpPr>
        <p:spPr>
          <a:xfrm>
            <a:off x="8924544" y="3355848"/>
            <a:ext cx="2587752" cy="457200"/>
          </a:xfrm>
          <a:prstGeom prst="rect">
            <a:avLst/>
          </a:prstGeom>
          <a:noFill/>
          <a:ln/>
        </p:spPr>
        <p:txBody>
          <a:bodyPr wrap="square" rtlCol="0" anchor="t"/>
          <a:lstStyle/>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바코드 신청 방식 도입으로</a:t>
            </a:r>
            <a:endParaRPr lang="en-US" sz="900" dirty="0"/>
          </a:p>
          <a:p>
            <a:pPr algn="l" indent="0" marL="0">
              <a:lnSpc>
                <a:spcPct val="125000"/>
              </a:lnSpc>
              <a:buNone/>
            </a:pPr>
            <a:r>
              <a:rPr lang="en-US" sz="900" dirty="0">
                <a:solidFill>
                  <a:srgbClr val="7A7868"/>
                </a:solidFill>
                <a:latin typeface="맑은 고딕" pitchFamily="34" charset="0"/>
                <a:ea typeface="맑은 고딕" pitchFamily="34" charset="-122"/>
                <a:cs typeface="맑은 고딕" pitchFamily="34" charset="-120"/>
              </a:rPr>
              <a:t>참여율 개선</a:t>
            </a:r>
            <a:endParaRPr lang="en-US" sz="900" dirty="0"/>
          </a:p>
        </p:txBody>
      </p:sp>
      <p:sp>
        <p:nvSpPr>
          <p:cNvPr id="22" name="Text 20"/>
          <p:cNvSpPr/>
          <p:nvPr/>
        </p:nvSpPr>
        <p:spPr>
          <a:xfrm>
            <a:off x="2697480" y="4069080"/>
            <a:ext cx="8961120" cy="777240"/>
          </a:xfrm>
          <a:prstGeom prst="rect">
            <a:avLst/>
          </a:prstGeom>
          <a:noFill/>
          <a:ln/>
        </p:spPr>
        <p:txBody>
          <a:bodyPr wrap="square" rtlCol="0" anchor="t"/>
          <a:lstStyle/>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세 경험 모두 구성원의 불편을 먼저 발견하여 기획해 실행했습니다. 9년간 사내 봉사 동호회에서 총무·회계를 직접 맡아온 것도 같은 이유입니다. 누가 시켜서가 아니라 필요한 일이 보이면 먼저 움직이는 것이 저에게 익숙한 방식이고, 그게 업무 밖에서도 자연스럽게 이어졌습니다.</a:t>
            </a:r>
            <a:endParaRPr lang="en-US" sz="1100" dirty="0"/>
          </a:p>
        </p:txBody>
      </p:sp>
      <p:sp>
        <p:nvSpPr>
          <p:cNvPr id="23" name="Shape 21"/>
          <p:cNvSpPr/>
          <p:nvPr/>
        </p:nvSpPr>
        <p:spPr>
          <a:xfrm>
            <a:off x="2697480" y="5029200"/>
            <a:ext cx="36576" cy="1051560"/>
          </a:xfrm>
          <a:prstGeom prst="rect">
            <a:avLst/>
          </a:prstGeom>
          <a:solidFill>
            <a:srgbClr val="6B9A6B"/>
          </a:solidFill>
          <a:ln/>
        </p:spPr>
      </p:sp>
      <p:sp>
        <p:nvSpPr>
          <p:cNvPr id="24" name="Text 22"/>
          <p:cNvSpPr/>
          <p:nvPr/>
        </p:nvSpPr>
        <p:spPr>
          <a:xfrm>
            <a:off x="2926080" y="5029200"/>
            <a:ext cx="8686800" cy="1051560"/>
          </a:xfrm>
          <a:prstGeom prst="rect">
            <a:avLst/>
          </a:prstGeom>
          <a:noFill/>
          <a:ln/>
        </p:spPr>
        <p:txBody>
          <a:bodyPr wrap="square" rtlCol="0" anchor="t"/>
          <a:lstStyle/>
          <a:p>
            <a:pPr algn="l" indent="0" marL="0">
              <a:lnSpc>
                <a:spcPct val="140000"/>
              </a:lnSpc>
              <a:buNone/>
            </a:pPr>
            <a:r>
              <a:rPr lang="en-US" sz="1200" dirty="0">
                <a:solidFill>
                  <a:srgbClr val="3A3830"/>
                </a:solidFill>
                <a:latin typeface="맑은 고딕" pitchFamily="34" charset="0"/>
                <a:ea typeface="맑은 고딕" pitchFamily="34" charset="-122"/>
                <a:cs typeface="맑은 고딕" pitchFamily="34" charset="-120"/>
              </a:rPr>
              <a:t>토스페이먼츠 GA팀이 추구하는 “Small Wins”의 파트너로서의 역할이 제가 지금까지 일해온 방식과 일치하다고 생각되어, 합류하게 된다면 적응보다 실행이 가능한 사람일 것 같습니다.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377440" cy="6858000"/>
          </a:xfrm>
          <a:prstGeom prst="rect">
            <a:avLst/>
          </a:prstGeom>
          <a:solidFill>
            <a:srgbClr val="F7F4F0"/>
          </a:solidFill>
          <a:ln/>
        </p:spPr>
      </p:sp>
      <p:sp>
        <p:nvSpPr>
          <p:cNvPr id="3" name="Shape 1"/>
          <p:cNvSpPr/>
          <p:nvPr/>
        </p:nvSpPr>
        <p:spPr>
          <a:xfrm>
            <a:off x="457200" y="502920"/>
            <a:ext cx="36576" cy="457200"/>
          </a:xfrm>
          <a:prstGeom prst="rect">
            <a:avLst/>
          </a:prstGeom>
          <a:solidFill>
            <a:srgbClr val="B07A6E"/>
          </a:solidFill>
          <a:ln/>
        </p:spPr>
      </p:sp>
      <p:sp>
        <p:nvSpPr>
          <p:cNvPr id="4" name="Text 2"/>
          <p:cNvSpPr/>
          <p:nvPr/>
        </p:nvSpPr>
        <p:spPr>
          <a:xfrm>
            <a:off x="457200" y="1051560"/>
            <a:ext cx="1737360" cy="1005840"/>
          </a:xfrm>
          <a:prstGeom prst="rect">
            <a:avLst/>
          </a:prstGeom>
          <a:noFill/>
          <a:ln/>
        </p:spPr>
        <p:txBody>
          <a:bodyPr wrap="square" rtlCol="0" anchor="t"/>
          <a:lstStyle/>
          <a:p>
            <a:pPr algn="l" indent="0" marL="0">
              <a:lnSpc>
                <a:spcPct val="150000"/>
              </a:lnSpc>
              <a:buNone/>
            </a:pPr>
            <a:r>
              <a:rPr lang="en-US" sz="1100" b="1" spc="200" kern="0" dirty="0">
                <a:solidFill>
                  <a:srgbClr val="B07A6E"/>
                </a:solidFill>
                <a:latin typeface="맑은 고딕" pitchFamily="34" charset="0"/>
                <a:ea typeface="맑은 고딕" pitchFamily="34" charset="-122"/>
                <a:cs typeface="맑은 고딕" pitchFamily="34" charset="-120"/>
              </a:rPr>
              <a:t>Motivation</a:t>
            </a:r>
            <a:endParaRPr lang="en-US" sz="1100" dirty="0"/>
          </a:p>
          <a:p>
            <a:pPr algn="l" indent="0" marL="0">
              <a:lnSpc>
                <a:spcPct val="150000"/>
              </a:lnSpc>
              <a:buNone/>
            </a:pPr>
            <a:r>
              <a:rPr lang="en-US" sz="1100" b="1" spc="200" kern="0" dirty="0">
                <a:solidFill>
                  <a:srgbClr val="B07A6E"/>
                </a:solidFill>
                <a:latin typeface="맑은 고딕" pitchFamily="34" charset="0"/>
                <a:ea typeface="맑은 고딕" pitchFamily="34" charset="-122"/>
                <a:cs typeface="맑은 고딕" pitchFamily="34" charset="-120"/>
              </a:rPr>
              <a:t>&amp;</a:t>
            </a:r>
            <a:endParaRPr lang="en-US" sz="1100" dirty="0"/>
          </a:p>
          <a:p>
            <a:pPr algn="l" indent="0" marL="0">
              <a:lnSpc>
                <a:spcPct val="150000"/>
              </a:lnSpc>
              <a:buNone/>
            </a:pPr>
            <a:r>
              <a:rPr lang="en-US" sz="1100" b="1" spc="200" kern="0" dirty="0">
                <a:solidFill>
                  <a:srgbClr val="B07A6E"/>
                </a:solidFill>
                <a:latin typeface="맑은 고딕" pitchFamily="34" charset="0"/>
                <a:ea typeface="맑은 고딕" pitchFamily="34" charset="-122"/>
                <a:cs typeface="맑은 고딕" pitchFamily="34" charset="-120"/>
              </a:rPr>
              <a:t>Goals</a:t>
            </a:r>
            <a:endParaRPr lang="en-US" sz="1100" dirty="0"/>
          </a:p>
        </p:txBody>
      </p:sp>
      <p:sp>
        <p:nvSpPr>
          <p:cNvPr id="5" name="Text 3"/>
          <p:cNvSpPr/>
          <p:nvPr/>
        </p:nvSpPr>
        <p:spPr>
          <a:xfrm>
            <a:off x="457200" y="2286000"/>
            <a:ext cx="1737360" cy="1188720"/>
          </a:xfrm>
          <a:prstGeom prst="rect">
            <a:avLst/>
          </a:prstGeom>
          <a:noFill/>
          <a:ln/>
        </p:spPr>
        <p:txBody>
          <a:bodyPr wrap="square" rtlCol="0" anchor="t"/>
          <a:lstStyle/>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토스페이먼츠</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General Affairs</a:t>
            </a:r>
            <a:endParaRPr lang="en-US" sz="1050" dirty="0"/>
          </a:p>
          <a:p>
            <a:pPr algn="l" indent="0" marL="0">
              <a:lnSpc>
                <a:spcPct val="130000"/>
              </a:lnSpc>
              <a:buNone/>
            </a:pPr>
            <a:r>
              <a:rPr lang="en-US" sz="1050" dirty="0">
                <a:solidFill>
                  <a:srgbClr val="AAA8A0"/>
                </a:solidFill>
                <a:latin typeface="맑은 고딕" pitchFamily="34" charset="0"/>
                <a:ea typeface="맑은 고딕" pitchFamily="34" charset="-122"/>
                <a:cs typeface="맑은 고딕" pitchFamily="34" charset="-120"/>
              </a:rPr>
              <a:t>Manager</a:t>
            </a:r>
            <a:endParaRPr lang="en-US" sz="1050" dirty="0"/>
          </a:p>
        </p:txBody>
      </p:sp>
      <p:sp>
        <p:nvSpPr>
          <p:cNvPr id="6" name="Text 4"/>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B07A6E"/>
                </a:solidFill>
                <a:latin typeface="맑은 고딕" pitchFamily="34" charset="0"/>
                <a:ea typeface="맑은 고딕" pitchFamily="34" charset="-122"/>
                <a:cs typeface="맑은 고딕" pitchFamily="34" charset="-120"/>
              </a:rPr>
              <a:t>02 — General Affairs Manager로서 목표하는 점</a:t>
            </a:r>
            <a:endParaRPr lang="en-US" sz="1200" dirty="0"/>
          </a:p>
        </p:txBody>
      </p:sp>
      <p:sp>
        <p:nvSpPr>
          <p:cNvPr id="7" name="Shape 5"/>
          <p:cNvSpPr/>
          <p:nvPr/>
        </p:nvSpPr>
        <p:spPr>
          <a:xfrm>
            <a:off x="2697480" y="777240"/>
            <a:ext cx="8961120" cy="0"/>
          </a:xfrm>
          <a:prstGeom prst="line">
            <a:avLst/>
          </a:prstGeom>
          <a:noFill/>
          <a:ln w="9525">
            <a:solidFill>
              <a:srgbClr val="B07A6E">
                <a:alpha val="30000"/>
              </a:srgbClr>
            </a:solidFill>
            <a:prstDash val="solid"/>
          </a:ln>
        </p:spPr>
      </p:sp>
      <p:sp>
        <p:nvSpPr>
          <p:cNvPr id="8" name="Text 6"/>
          <p:cNvSpPr/>
          <p:nvPr/>
        </p:nvSpPr>
        <p:spPr>
          <a:xfrm>
            <a:off x="2697480" y="914400"/>
            <a:ext cx="8961120" cy="457200"/>
          </a:xfrm>
          <a:prstGeom prst="rect">
            <a:avLst/>
          </a:prstGeom>
          <a:noFill/>
          <a:ln/>
        </p:spPr>
        <p:txBody>
          <a:bodyPr wrap="square" rtlCol="0" anchor="t"/>
          <a:lstStyle/>
          <a:p>
            <a:pPr algn="l" indent="0" marL="0">
              <a:buNone/>
            </a:pPr>
            <a:r>
              <a:rPr lang="en-US" sz="1600" b="1" dirty="0">
                <a:solidFill>
                  <a:srgbClr val="2C2820"/>
                </a:solidFill>
                <a:latin typeface="맑은 고딕" pitchFamily="34" charset="0"/>
                <a:ea typeface="맑은 고딕" pitchFamily="34" charset="-122"/>
                <a:cs typeface="맑은 고딕" pitchFamily="34" charset="-120"/>
              </a:rPr>
              <a:t>“구성원이 불편함을 느끼기 전에 먼저 파악하고, 체감할 수 있는 환경을 만드는 것.”</a:t>
            </a:r>
            <a:endParaRPr lang="en-US" sz="1600" dirty="0"/>
          </a:p>
        </p:txBody>
      </p:sp>
      <p:sp>
        <p:nvSpPr>
          <p:cNvPr id="9" name="Text 7"/>
          <p:cNvSpPr/>
          <p:nvPr/>
        </p:nvSpPr>
        <p:spPr>
          <a:xfrm>
            <a:off x="2697480" y="1508760"/>
            <a:ext cx="8961120" cy="868680"/>
          </a:xfrm>
          <a:prstGeom prst="rect">
            <a:avLst/>
          </a:prstGeom>
          <a:noFill/>
          <a:ln/>
        </p:spPr>
        <p:txBody>
          <a:bodyPr wrap="square" rtlCol="0" anchor="t"/>
          <a:lstStyle/>
          <a:p>
            <a:pPr algn="l" indent="0" marL="0">
              <a:lnSpc>
                <a:spcPct val="135000"/>
              </a:lnSpc>
              <a:buNone/>
            </a:pPr>
            <a:r>
              <a:rPr lang="en-US" sz="1100" dirty="0">
                <a:solidFill>
                  <a:srgbClr val="5A5850"/>
                </a:solidFill>
                <a:latin typeface="맑은 고딕" pitchFamily="34" charset="0"/>
                <a:ea typeface="맑은 고딕" pitchFamily="34" charset="-122"/>
                <a:cs typeface="맑은 고딕" pitchFamily="34" charset="-120"/>
              </a:rPr>
              <a:t>주차권 하나, 명함 신청 방식 하나, 콘도 이벤트 신청 방법 하나. 작은 불편 하나를 개선했을 때 구성원의 움직임이 달라지는 걸 직접 경험했습니다. 거창한 변화보다 작은 개선이 반복될 때 구성원이 실제로 체감하고, 그것이 쌓이면 일하는 환경 자체가 달라진다는 것을 알고 있습니다.</a:t>
            </a:r>
            <a:endParaRPr lang="en-US" sz="1100" dirty="0"/>
          </a:p>
        </p:txBody>
      </p:sp>
      <p:sp>
        <p:nvSpPr>
          <p:cNvPr id="10" name="Text 8"/>
          <p:cNvSpPr/>
          <p:nvPr/>
        </p:nvSpPr>
        <p:spPr>
          <a:xfrm>
            <a:off x="2697480" y="2514600"/>
            <a:ext cx="8961120" cy="320040"/>
          </a:xfrm>
          <a:prstGeom prst="rect">
            <a:avLst/>
          </a:prstGeom>
          <a:noFill/>
          <a:ln/>
        </p:spPr>
        <p:txBody>
          <a:bodyPr wrap="square" rtlCol="0" anchor="t"/>
          <a:lstStyle/>
          <a:p>
            <a:pPr algn="l" indent="0" marL="0">
              <a:buNone/>
            </a:pPr>
            <a:r>
              <a:rPr lang="en-US" sz="1050" spc="100" kern="0" dirty="0">
                <a:solidFill>
                  <a:srgbClr val="AAA8A0"/>
                </a:solidFill>
                <a:latin typeface="맑은 고딕" pitchFamily="34" charset="0"/>
                <a:ea typeface="맑은 고딕" pitchFamily="34" charset="-122"/>
                <a:cs typeface="맑은 고딕" pitchFamily="34" charset="-120"/>
              </a:rPr>
              <a:t>이를 위해 세 가지를 실행하겠습니다 —</a:t>
            </a:r>
            <a:endParaRPr lang="en-US" sz="1050" dirty="0"/>
          </a:p>
        </p:txBody>
      </p:sp>
      <p:sp>
        <p:nvSpPr>
          <p:cNvPr id="11" name="Text 9"/>
          <p:cNvSpPr/>
          <p:nvPr/>
        </p:nvSpPr>
        <p:spPr>
          <a:xfrm>
            <a:off x="2697480" y="2971800"/>
            <a:ext cx="457200" cy="320040"/>
          </a:xfrm>
          <a:prstGeom prst="rect">
            <a:avLst/>
          </a:prstGeom>
          <a:noFill/>
          <a:ln/>
        </p:spPr>
        <p:txBody>
          <a:bodyPr wrap="square" rtlCol="0" anchor="t"/>
          <a:lstStyle/>
          <a:p>
            <a:pPr algn="l" indent="0" marL="0">
              <a:buNone/>
            </a:pPr>
            <a:r>
              <a:rPr lang="en-US" sz="1400" b="1" dirty="0">
                <a:solidFill>
                  <a:srgbClr val="B07A6E"/>
                </a:solidFill>
                <a:latin typeface="맑은 고딕" pitchFamily="34" charset="0"/>
                <a:ea typeface="맑은 고딕" pitchFamily="34" charset="-122"/>
                <a:cs typeface="맑은 고딕" pitchFamily="34" charset="-120"/>
              </a:rPr>
              <a:t>01</a:t>
            </a:r>
            <a:endParaRPr lang="en-US" sz="1400" dirty="0"/>
          </a:p>
        </p:txBody>
      </p:sp>
      <p:sp>
        <p:nvSpPr>
          <p:cNvPr id="12" name="Text 10"/>
          <p:cNvSpPr/>
          <p:nvPr/>
        </p:nvSpPr>
        <p:spPr>
          <a:xfrm>
            <a:off x="3200400" y="2971800"/>
            <a:ext cx="8412480" cy="274320"/>
          </a:xfrm>
          <a:prstGeom prst="rect">
            <a:avLst/>
          </a:prstGeom>
          <a:noFill/>
          <a:ln/>
        </p:spPr>
        <p:txBody>
          <a:bodyPr wrap="square" rtlCol="0" anchor="t"/>
          <a:lstStyle/>
          <a:p>
            <a:pPr algn="l" indent="0" marL="0">
              <a:buNone/>
            </a:pPr>
            <a:r>
              <a:rPr lang="en-US" sz="1150" b="1" dirty="0">
                <a:solidFill>
                  <a:srgbClr val="2C2820"/>
                </a:solidFill>
                <a:latin typeface="맑은 고딕" pitchFamily="34" charset="0"/>
                <a:ea typeface="맑은 고딕" pitchFamily="34" charset="-122"/>
                <a:cs typeface="맑은 고딕" pitchFamily="34" charset="-120"/>
              </a:rPr>
              <a:t>경험하고 개선하는 파트너</a:t>
            </a:r>
            <a:endParaRPr lang="en-US" sz="1150" dirty="0"/>
          </a:p>
        </p:txBody>
      </p:sp>
      <p:sp>
        <p:nvSpPr>
          <p:cNvPr id="13" name="Text 11"/>
          <p:cNvSpPr/>
          <p:nvPr/>
        </p:nvSpPr>
        <p:spPr>
          <a:xfrm>
            <a:off x="3200400" y="3264408"/>
            <a:ext cx="8412480" cy="640080"/>
          </a:xfrm>
          <a:prstGeom prst="rect">
            <a:avLst/>
          </a:prstGeom>
          <a:noFill/>
          <a:ln/>
        </p:spPr>
        <p:txBody>
          <a:bodyPr wrap="square" rtlCol="0" anchor="t"/>
          <a:lstStyle/>
          <a:p>
            <a:pPr algn="l" indent="0" marL="0">
              <a:lnSpc>
                <a:spcPct val="130000"/>
              </a:lnSpc>
              <a:buNone/>
            </a:pPr>
            <a:r>
              <a:rPr lang="en-US" sz="1050" dirty="0">
                <a:solidFill>
                  <a:srgbClr val="5A5850"/>
                </a:solidFill>
                <a:latin typeface="맑은 고딕" pitchFamily="34" charset="0"/>
                <a:ea typeface="맑은 고딕" pitchFamily="34" charset="-122"/>
                <a:cs typeface="맑은 고딕" pitchFamily="34" charset="-120"/>
              </a:rPr>
              <a:t>관리자가 아닌 파트너로서 먼저 경험하고 개선하는 방식으로 일하겠습니다. 직접 써보고 부딪혀봐야 불편한 지점이 보이고, 요청이 들어오기 전에 먼저 움직일 수 있는 것은 그 경험에서 나온다고 생각합니다.</a:t>
            </a:r>
            <a:endParaRPr lang="en-US" sz="1050" dirty="0"/>
          </a:p>
        </p:txBody>
      </p:sp>
      <p:sp>
        <p:nvSpPr>
          <p:cNvPr id="14" name="Shape 12"/>
          <p:cNvSpPr/>
          <p:nvPr/>
        </p:nvSpPr>
        <p:spPr>
          <a:xfrm>
            <a:off x="2697480" y="4050792"/>
            <a:ext cx="8961120" cy="0"/>
          </a:xfrm>
          <a:prstGeom prst="line">
            <a:avLst/>
          </a:prstGeom>
          <a:noFill/>
          <a:ln w="6350">
            <a:solidFill>
              <a:srgbClr val="000000">
                <a:alpha val="8000"/>
              </a:srgbClr>
            </a:solidFill>
            <a:prstDash val="solid"/>
          </a:ln>
        </p:spPr>
      </p:sp>
      <p:sp>
        <p:nvSpPr>
          <p:cNvPr id="15" name="Text 13"/>
          <p:cNvSpPr/>
          <p:nvPr/>
        </p:nvSpPr>
        <p:spPr>
          <a:xfrm>
            <a:off x="2697480" y="4206240"/>
            <a:ext cx="457200" cy="320040"/>
          </a:xfrm>
          <a:prstGeom prst="rect">
            <a:avLst/>
          </a:prstGeom>
          <a:noFill/>
          <a:ln/>
        </p:spPr>
        <p:txBody>
          <a:bodyPr wrap="square" rtlCol="0" anchor="t"/>
          <a:lstStyle/>
          <a:p>
            <a:pPr algn="l" indent="0" marL="0">
              <a:buNone/>
            </a:pPr>
            <a:r>
              <a:rPr lang="en-US" sz="1400" b="1" dirty="0">
                <a:solidFill>
                  <a:srgbClr val="B07A6E"/>
                </a:solidFill>
                <a:latin typeface="맑은 고딕" pitchFamily="34" charset="0"/>
                <a:ea typeface="맑은 고딕" pitchFamily="34" charset="-122"/>
                <a:cs typeface="맑은 고딕" pitchFamily="34" charset="-120"/>
              </a:rPr>
              <a:t>02</a:t>
            </a:r>
            <a:endParaRPr lang="en-US" sz="1400" dirty="0"/>
          </a:p>
        </p:txBody>
      </p:sp>
      <p:sp>
        <p:nvSpPr>
          <p:cNvPr id="16" name="Text 14"/>
          <p:cNvSpPr/>
          <p:nvPr/>
        </p:nvSpPr>
        <p:spPr>
          <a:xfrm>
            <a:off x="3200400" y="4206240"/>
            <a:ext cx="8412480" cy="274320"/>
          </a:xfrm>
          <a:prstGeom prst="rect">
            <a:avLst/>
          </a:prstGeom>
          <a:noFill/>
          <a:ln/>
        </p:spPr>
        <p:txBody>
          <a:bodyPr wrap="square" rtlCol="0" anchor="t"/>
          <a:lstStyle/>
          <a:p>
            <a:pPr algn="l" indent="0" marL="0">
              <a:buNone/>
            </a:pPr>
            <a:r>
              <a:rPr lang="en-US" sz="1150" b="1" dirty="0">
                <a:solidFill>
                  <a:srgbClr val="2C2820"/>
                </a:solidFill>
                <a:latin typeface="맑은 고딕" pitchFamily="34" charset="0"/>
                <a:ea typeface="맑은 고딕" pitchFamily="34" charset="-122"/>
                <a:cs typeface="맑은 고딕" pitchFamily="34" charset="-120"/>
              </a:rPr>
              <a:t>Google Workspace·AI 도구로 반복 업무 축소</a:t>
            </a:r>
            <a:endParaRPr lang="en-US" sz="1150" dirty="0"/>
          </a:p>
        </p:txBody>
      </p:sp>
      <p:sp>
        <p:nvSpPr>
          <p:cNvPr id="17" name="Text 15"/>
          <p:cNvSpPr/>
          <p:nvPr/>
        </p:nvSpPr>
        <p:spPr>
          <a:xfrm>
            <a:off x="3200400" y="4498848"/>
            <a:ext cx="8412480" cy="640080"/>
          </a:xfrm>
          <a:prstGeom prst="rect">
            <a:avLst/>
          </a:prstGeom>
          <a:noFill/>
          <a:ln/>
        </p:spPr>
        <p:txBody>
          <a:bodyPr wrap="square" rtlCol="0" anchor="t"/>
          <a:lstStyle/>
          <a:p>
            <a:pPr algn="l" indent="0" marL="0">
              <a:lnSpc>
                <a:spcPct val="130000"/>
              </a:lnSpc>
              <a:buNone/>
            </a:pPr>
            <a:r>
              <a:rPr lang="en-US" sz="1050" dirty="0">
                <a:solidFill>
                  <a:srgbClr val="5A5850"/>
                </a:solidFill>
                <a:latin typeface="맑은 고딕" pitchFamily="34" charset="0"/>
                <a:ea typeface="맑은 고딕" pitchFamily="34" charset="-122"/>
                <a:cs typeface="맑은 고딕" pitchFamily="34" charset="-120"/>
              </a:rPr>
              <a:t>자동화로 처리 시간이 줄어들면 구성원 입장에서 기다림이 사라지고, 담당자는 더 중요한 일에 집중할 수 있습니다. 새로운 툴과 운영 방식에 빠르게 적용하는 것도 GA Manager의 중요한 역할이라고 생각합니다.</a:t>
            </a:r>
            <a:endParaRPr lang="en-US" sz="1050" dirty="0"/>
          </a:p>
        </p:txBody>
      </p:sp>
      <p:sp>
        <p:nvSpPr>
          <p:cNvPr id="18" name="Shape 16"/>
          <p:cNvSpPr/>
          <p:nvPr/>
        </p:nvSpPr>
        <p:spPr>
          <a:xfrm>
            <a:off x="2697480" y="5285232"/>
            <a:ext cx="8961120" cy="0"/>
          </a:xfrm>
          <a:prstGeom prst="line">
            <a:avLst/>
          </a:prstGeom>
          <a:noFill/>
          <a:ln w="6350">
            <a:solidFill>
              <a:srgbClr val="000000">
                <a:alpha val="8000"/>
              </a:srgbClr>
            </a:solidFill>
            <a:prstDash val="solid"/>
          </a:ln>
        </p:spPr>
      </p:sp>
      <p:sp>
        <p:nvSpPr>
          <p:cNvPr id="19" name="Text 17"/>
          <p:cNvSpPr/>
          <p:nvPr/>
        </p:nvSpPr>
        <p:spPr>
          <a:xfrm>
            <a:off x="2697480" y="5440680"/>
            <a:ext cx="457200" cy="320040"/>
          </a:xfrm>
          <a:prstGeom prst="rect">
            <a:avLst/>
          </a:prstGeom>
          <a:noFill/>
          <a:ln/>
        </p:spPr>
        <p:txBody>
          <a:bodyPr wrap="square" rtlCol="0" anchor="t"/>
          <a:lstStyle/>
          <a:p>
            <a:pPr algn="l" indent="0" marL="0">
              <a:buNone/>
            </a:pPr>
            <a:r>
              <a:rPr lang="en-US" sz="1400" b="1" dirty="0">
                <a:solidFill>
                  <a:srgbClr val="B07A6E"/>
                </a:solidFill>
                <a:latin typeface="맑은 고딕" pitchFamily="34" charset="0"/>
                <a:ea typeface="맑은 고딕" pitchFamily="34" charset="-122"/>
                <a:cs typeface="맑은 고딕" pitchFamily="34" charset="-120"/>
              </a:rPr>
              <a:t>03</a:t>
            </a:r>
            <a:endParaRPr lang="en-US" sz="1400" dirty="0"/>
          </a:p>
        </p:txBody>
      </p:sp>
      <p:sp>
        <p:nvSpPr>
          <p:cNvPr id="20" name="Text 18"/>
          <p:cNvSpPr/>
          <p:nvPr/>
        </p:nvSpPr>
        <p:spPr>
          <a:xfrm>
            <a:off x="3200400" y="5440680"/>
            <a:ext cx="8412480" cy="274320"/>
          </a:xfrm>
          <a:prstGeom prst="rect">
            <a:avLst/>
          </a:prstGeom>
          <a:noFill/>
          <a:ln/>
        </p:spPr>
        <p:txBody>
          <a:bodyPr wrap="square" rtlCol="0" anchor="t"/>
          <a:lstStyle/>
          <a:p>
            <a:pPr algn="l" indent="0" marL="0">
              <a:buNone/>
            </a:pPr>
            <a:r>
              <a:rPr lang="en-US" sz="1150" b="1" dirty="0">
                <a:solidFill>
                  <a:srgbClr val="2C2820"/>
                </a:solidFill>
                <a:latin typeface="맑은 고딕" pitchFamily="34" charset="0"/>
                <a:ea typeface="맑은 고딕" pitchFamily="34" charset="-122"/>
                <a:cs typeface="맑은 고딕" pitchFamily="34" charset="-120"/>
              </a:rPr>
              <a:t>수치보다 체감에 집중</a:t>
            </a:r>
            <a:endParaRPr lang="en-US" sz="1150" dirty="0"/>
          </a:p>
        </p:txBody>
      </p:sp>
      <p:sp>
        <p:nvSpPr>
          <p:cNvPr id="21" name="Text 19"/>
          <p:cNvSpPr/>
          <p:nvPr/>
        </p:nvSpPr>
        <p:spPr>
          <a:xfrm>
            <a:off x="3200400" y="5733288"/>
            <a:ext cx="8412480" cy="640080"/>
          </a:xfrm>
          <a:prstGeom prst="rect">
            <a:avLst/>
          </a:prstGeom>
          <a:noFill/>
          <a:ln/>
        </p:spPr>
        <p:txBody>
          <a:bodyPr wrap="square" rtlCol="0" anchor="t"/>
          <a:lstStyle/>
          <a:p>
            <a:pPr algn="l" indent="0" marL="0">
              <a:lnSpc>
                <a:spcPct val="130000"/>
              </a:lnSpc>
              <a:buNone/>
            </a:pPr>
            <a:r>
              <a:rPr lang="en-US" sz="1050" dirty="0">
                <a:solidFill>
                  <a:srgbClr val="5A5850"/>
                </a:solidFill>
                <a:latin typeface="맑은 고딕" pitchFamily="34" charset="0"/>
                <a:ea typeface="맑은 고딕" pitchFamily="34" charset="-122"/>
                <a:cs typeface="맑은 고딕" pitchFamily="34" charset="-120"/>
              </a:rPr>
              <a:t>구성원이 “예전보다 편해졌다”고 느끼는 환경을 만드는 것이 GA Manager로서 제가 추구하는 진짜 목표입니다.</a:t>
            </a:r>
            <a:endParaRPr lang="en-US" sz="1050" dirty="0"/>
          </a:p>
        </p:txBody>
      </p:sp>
      <p:sp>
        <p:nvSpPr>
          <p:cNvPr id="22" name="Shape 20"/>
          <p:cNvSpPr/>
          <p:nvPr/>
        </p:nvSpPr>
        <p:spPr>
          <a:xfrm>
            <a:off x="2697480" y="6519672"/>
            <a:ext cx="8961120" cy="0"/>
          </a:xfrm>
          <a:prstGeom prst="line">
            <a:avLst/>
          </a:prstGeom>
          <a:noFill/>
          <a:ln w="6350">
            <a:solidFill>
              <a:srgbClr val="000000">
                <a:alpha val="8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822960"/>
            <a:ext cx="5486400" cy="274320"/>
          </a:xfrm>
          <a:prstGeom prst="rect">
            <a:avLst/>
          </a:prstGeom>
          <a:noFill/>
          <a:ln/>
        </p:spPr>
        <p:txBody>
          <a:bodyPr wrap="square" rtlCol="0" anchor="t"/>
          <a:lstStyle/>
          <a:p>
            <a:pPr algn="l" indent="0" marL="0">
              <a:buNone/>
            </a:pPr>
            <a:r>
              <a:rPr lang="en-US" sz="1000" spc="300" kern="0" dirty="0">
                <a:solidFill>
                  <a:srgbClr val="6B9A6B"/>
                </a:solidFill>
                <a:latin typeface="맑은 고딕" pitchFamily="34" charset="0"/>
                <a:ea typeface="맑은 고딕" pitchFamily="34" charset="-122"/>
                <a:cs typeface="맑은 고딕" pitchFamily="34" charset="-120"/>
              </a:rPr>
              <a:t>PORTFOLIO · 2026</a:t>
            </a:r>
            <a:endParaRPr lang="en-US" sz="1000" dirty="0"/>
          </a:p>
        </p:txBody>
      </p:sp>
      <p:sp>
        <p:nvSpPr>
          <p:cNvPr id="3" name="Text 1"/>
          <p:cNvSpPr/>
          <p:nvPr/>
        </p:nvSpPr>
        <p:spPr>
          <a:xfrm>
            <a:off x="731520" y="1188720"/>
            <a:ext cx="6400800" cy="1097280"/>
          </a:xfrm>
          <a:prstGeom prst="rect">
            <a:avLst/>
          </a:prstGeom>
          <a:noFill/>
          <a:ln/>
        </p:spPr>
        <p:txBody>
          <a:bodyPr wrap="square" rtlCol="0" anchor="t"/>
          <a:lstStyle/>
          <a:p>
            <a:pPr algn="l" indent="0" marL="0">
              <a:buNone/>
            </a:pPr>
            <a:r>
              <a:rPr lang="en-US" sz="5400" dirty="0">
                <a:solidFill>
                  <a:srgbClr val="2C3028"/>
                </a:solidFill>
                <a:latin typeface="Cormorant Garamond" pitchFamily="34" charset="0"/>
                <a:ea typeface="Cormorant Garamond" pitchFamily="34" charset="-122"/>
                <a:cs typeface="Cormorant Garamond" pitchFamily="34" charset="-120"/>
              </a:rPr>
              <a:t>박 </a:t>
            </a:r>
            <a:pPr algn="l" indent="0" marL="0">
              <a:buNone/>
            </a:pPr>
            <a:r>
              <a:rPr lang="en-US" sz="5400" dirty="0">
                <a:solidFill>
                  <a:srgbClr val="333030"/>
                </a:solidFill>
                <a:latin typeface="Cormorant Garamond" pitchFamily="34" charset="0"/>
                <a:ea typeface="Cormorant Garamond" pitchFamily="34" charset="-122"/>
                <a:cs typeface="Cormorant Garamond" pitchFamily="34" charset="-120"/>
              </a:rPr>
              <a:t>세형</a:t>
            </a:r>
            <a:endParaRPr lang="en-US" sz="5400" dirty="0"/>
          </a:p>
        </p:txBody>
      </p:sp>
      <p:sp>
        <p:nvSpPr>
          <p:cNvPr id="4" name="Text 2"/>
          <p:cNvSpPr/>
          <p:nvPr/>
        </p:nvSpPr>
        <p:spPr>
          <a:xfrm>
            <a:off x="731520" y="2240280"/>
            <a:ext cx="5486400" cy="365760"/>
          </a:xfrm>
          <a:prstGeom prst="rect">
            <a:avLst/>
          </a:prstGeom>
          <a:noFill/>
          <a:ln/>
        </p:spPr>
        <p:txBody>
          <a:bodyPr wrap="square" rtlCol="0" anchor="t"/>
          <a:lstStyle/>
          <a:p>
            <a:pPr algn="l" indent="0" marL="0">
              <a:buNone/>
            </a:pPr>
            <a:r>
              <a:rPr lang="en-US" sz="1600" dirty="0">
                <a:solidFill>
                  <a:srgbClr val="A0A098"/>
                </a:solidFill>
                <a:latin typeface="Cormorant Garamond" pitchFamily="34" charset="0"/>
                <a:ea typeface="Cormorant Garamond" pitchFamily="34" charset="-122"/>
                <a:cs typeface="Cormorant Garamond" pitchFamily="34" charset="-120"/>
              </a:rPr>
              <a:t>Park Sehyung</a:t>
            </a:r>
            <a:endParaRPr lang="en-US" sz="1600" dirty="0"/>
          </a:p>
        </p:txBody>
      </p:sp>
      <p:sp>
        <p:nvSpPr>
          <p:cNvPr id="5" name="Shape 3"/>
          <p:cNvSpPr/>
          <p:nvPr/>
        </p:nvSpPr>
        <p:spPr>
          <a:xfrm>
            <a:off x="731520" y="2788920"/>
            <a:ext cx="932688" cy="310896"/>
          </a:xfrm>
          <a:prstGeom prst="roundRect">
            <a:avLst>
              <a:gd name="adj" fmla="val 14706"/>
            </a:avLst>
          </a:prstGeom>
          <a:solidFill>
            <a:srgbClr val="F0F7F0"/>
          </a:solidFill>
          <a:ln w="9525">
            <a:solidFill>
              <a:srgbClr val="6B9A6B"/>
            </a:solidFill>
            <a:prstDash val="solid"/>
          </a:ln>
        </p:spPr>
      </p:sp>
      <p:sp>
        <p:nvSpPr>
          <p:cNvPr id="6" name="Text 4"/>
          <p:cNvSpPr/>
          <p:nvPr/>
        </p:nvSpPr>
        <p:spPr>
          <a:xfrm>
            <a:off x="731520" y="2788920"/>
            <a:ext cx="932688" cy="310896"/>
          </a:xfrm>
          <a:prstGeom prst="rect">
            <a:avLst/>
          </a:prstGeom>
          <a:noFill/>
          <a:ln/>
        </p:spPr>
        <p:txBody>
          <a:bodyPr wrap="square" rtlCol="0" anchor="ctr"/>
          <a:lstStyle/>
          <a:p>
            <a:pPr algn="ctr" indent="0" marL="0">
              <a:buNone/>
            </a:pPr>
            <a:r>
              <a:rPr lang="en-US" sz="1000" dirty="0">
                <a:solidFill>
                  <a:srgbClr val="6B9A6B"/>
                </a:solidFill>
                <a:latin typeface="맑은 고딕" pitchFamily="34" charset="0"/>
                <a:ea typeface="맑은 고딕" pitchFamily="34" charset="-122"/>
                <a:cs typeface="맑은 고딕" pitchFamily="34" charset="-120"/>
              </a:rPr>
              <a:t>총무·경영지원</a:t>
            </a:r>
            <a:endParaRPr lang="en-US" sz="1000" dirty="0"/>
          </a:p>
        </p:txBody>
      </p:sp>
      <p:sp>
        <p:nvSpPr>
          <p:cNvPr id="7" name="Shape 5"/>
          <p:cNvSpPr/>
          <p:nvPr/>
        </p:nvSpPr>
        <p:spPr>
          <a:xfrm>
            <a:off x="1755648" y="2788920"/>
            <a:ext cx="841248" cy="310896"/>
          </a:xfrm>
          <a:prstGeom prst="roundRect">
            <a:avLst>
              <a:gd name="adj" fmla="val 14706"/>
            </a:avLst>
          </a:prstGeom>
          <a:solidFill>
            <a:srgbClr val="F0F7F0"/>
          </a:solidFill>
          <a:ln w="9525">
            <a:solidFill>
              <a:srgbClr val="6B9A6B"/>
            </a:solidFill>
            <a:prstDash val="solid"/>
          </a:ln>
        </p:spPr>
      </p:sp>
      <p:sp>
        <p:nvSpPr>
          <p:cNvPr id="8" name="Text 6"/>
          <p:cNvSpPr/>
          <p:nvPr/>
        </p:nvSpPr>
        <p:spPr>
          <a:xfrm>
            <a:off x="1755648" y="2788920"/>
            <a:ext cx="841248" cy="310896"/>
          </a:xfrm>
          <a:prstGeom prst="rect">
            <a:avLst/>
          </a:prstGeom>
          <a:noFill/>
          <a:ln/>
        </p:spPr>
        <p:txBody>
          <a:bodyPr wrap="square" rtlCol="0" anchor="ctr"/>
          <a:lstStyle/>
          <a:p>
            <a:pPr algn="ctr" indent="0" marL="0">
              <a:buNone/>
            </a:pPr>
            <a:r>
              <a:rPr lang="en-US" sz="1000" dirty="0">
                <a:solidFill>
                  <a:srgbClr val="6B9A6B"/>
                </a:solidFill>
                <a:latin typeface="맑은 고딕" pitchFamily="34" charset="0"/>
                <a:ea typeface="맑은 고딕" pitchFamily="34" charset="-122"/>
                <a:cs typeface="맑은 고딕" pitchFamily="34" charset="-120"/>
              </a:rPr>
              <a:t>오피스 운영</a:t>
            </a:r>
            <a:endParaRPr lang="en-US" sz="1000" dirty="0"/>
          </a:p>
        </p:txBody>
      </p:sp>
      <p:sp>
        <p:nvSpPr>
          <p:cNvPr id="9" name="Shape 7"/>
          <p:cNvSpPr/>
          <p:nvPr/>
        </p:nvSpPr>
        <p:spPr>
          <a:xfrm>
            <a:off x="2688336" y="2788920"/>
            <a:ext cx="841248" cy="310896"/>
          </a:xfrm>
          <a:prstGeom prst="roundRect">
            <a:avLst>
              <a:gd name="adj" fmla="val 14706"/>
            </a:avLst>
          </a:prstGeom>
          <a:solidFill>
            <a:srgbClr val="F0F7F0"/>
          </a:solidFill>
          <a:ln w="9525">
            <a:solidFill>
              <a:srgbClr val="6B9A6B"/>
            </a:solidFill>
            <a:prstDash val="solid"/>
          </a:ln>
        </p:spPr>
      </p:sp>
      <p:sp>
        <p:nvSpPr>
          <p:cNvPr id="10" name="Text 8"/>
          <p:cNvSpPr/>
          <p:nvPr/>
        </p:nvSpPr>
        <p:spPr>
          <a:xfrm>
            <a:off x="2688336" y="2788920"/>
            <a:ext cx="841248" cy="310896"/>
          </a:xfrm>
          <a:prstGeom prst="rect">
            <a:avLst/>
          </a:prstGeom>
          <a:noFill/>
          <a:ln/>
        </p:spPr>
        <p:txBody>
          <a:bodyPr wrap="square" rtlCol="0" anchor="ctr"/>
          <a:lstStyle/>
          <a:p>
            <a:pPr algn="ctr" indent="0" marL="0">
              <a:buNone/>
            </a:pPr>
            <a:r>
              <a:rPr lang="en-US" sz="1000" dirty="0">
                <a:solidFill>
                  <a:srgbClr val="6B9A6B"/>
                </a:solidFill>
                <a:latin typeface="맑은 고딕" pitchFamily="34" charset="0"/>
                <a:ea typeface="맑은 고딕" pitchFamily="34" charset="-122"/>
                <a:cs typeface="맑은 고딕" pitchFamily="34" charset="-120"/>
              </a:rPr>
              <a:t>업무 자동화</a:t>
            </a:r>
            <a:endParaRPr lang="en-US" sz="1000" dirty="0"/>
          </a:p>
        </p:txBody>
      </p:sp>
      <p:sp>
        <p:nvSpPr>
          <p:cNvPr id="11" name="Shape 9"/>
          <p:cNvSpPr/>
          <p:nvPr/>
        </p:nvSpPr>
        <p:spPr>
          <a:xfrm>
            <a:off x="3621024" y="2788920"/>
            <a:ext cx="1755648" cy="310896"/>
          </a:xfrm>
          <a:prstGeom prst="roundRect">
            <a:avLst>
              <a:gd name="adj" fmla="val 14706"/>
            </a:avLst>
          </a:prstGeom>
          <a:solidFill>
            <a:srgbClr val="F0F7F0"/>
          </a:solidFill>
          <a:ln w="9525">
            <a:solidFill>
              <a:srgbClr val="6B9A6B"/>
            </a:solidFill>
            <a:prstDash val="solid"/>
          </a:ln>
        </p:spPr>
      </p:sp>
      <p:sp>
        <p:nvSpPr>
          <p:cNvPr id="12" name="Text 10"/>
          <p:cNvSpPr/>
          <p:nvPr/>
        </p:nvSpPr>
        <p:spPr>
          <a:xfrm>
            <a:off x="3621024" y="2788920"/>
            <a:ext cx="1755648" cy="310896"/>
          </a:xfrm>
          <a:prstGeom prst="rect">
            <a:avLst/>
          </a:prstGeom>
          <a:noFill/>
          <a:ln/>
        </p:spPr>
        <p:txBody>
          <a:bodyPr wrap="square" rtlCol="0" anchor="ctr"/>
          <a:lstStyle/>
          <a:p>
            <a:pPr algn="ctr" indent="0" marL="0">
              <a:buNone/>
            </a:pPr>
            <a:r>
              <a:rPr lang="en-US" sz="1000" dirty="0">
                <a:solidFill>
                  <a:srgbClr val="6B9A6B"/>
                </a:solidFill>
                <a:latin typeface="맑은 고딕" pitchFamily="34" charset="0"/>
                <a:ea typeface="맑은 고딕" pitchFamily="34" charset="-122"/>
                <a:cs typeface="맑은 고딕" pitchFamily="34" charset="-120"/>
              </a:rPr>
              <a:t>Google Workspace</a:t>
            </a:r>
            <a:endParaRPr lang="en-US" sz="1000" dirty="0"/>
          </a:p>
        </p:txBody>
      </p:sp>
      <p:sp>
        <p:nvSpPr>
          <p:cNvPr id="13" name="Text 11"/>
          <p:cNvSpPr/>
          <p:nvPr/>
        </p:nvSpPr>
        <p:spPr>
          <a:xfrm>
            <a:off x="731520" y="3429000"/>
            <a:ext cx="5943600" cy="640080"/>
          </a:xfrm>
          <a:prstGeom prst="rect">
            <a:avLst/>
          </a:prstGeom>
          <a:noFill/>
          <a:ln/>
        </p:spPr>
        <p:txBody>
          <a:bodyPr wrap="square" rtlCol="0" anchor="t"/>
          <a:lstStyle/>
          <a:p>
            <a:pPr algn="l" indent="0" marL="0">
              <a:lnSpc>
                <a:spcPct val="160000"/>
              </a:lnSpc>
              <a:buNone/>
            </a:pPr>
            <a:r>
              <a:rPr lang="en-US" sz="1300" dirty="0">
                <a:solidFill>
                  <a:srgbClr val="5A5850"/>
                </a:solidFill>
                <a:latin typeface="Noto Serif KR" pitchFamily="34" charset="0"/>
                <a:ea typeface="Noto Serif KR" pitchFamily="34" charset="-122"/>
                <a:cs typeface="Noto Serif KR" pitchFamily="34" charset="-120"/>
              </a:rPr>
              <a:t>총무·경영지원 9년 실무 경력을 바탕으로</a:t>
            </a:r>
            <a:endParaRPr lang="en-US" sz="1300" dirty="0"/>
          </a:p>
          <a:p>
            <a:pPr algn="l" indent="0" marL="0">
              <a:lnSpc>
                <a:spcPct val="160000"/>
              </a:lnSpc>
              <a:buNone/>
            </a:pPr>
            <a:r>
              <a:rPr lang="en-US" sz="1300" dirty="0">
                <a:solidFill>
                  <a:srgbClr val="5A5850"/>
                </a:solidFill>
                <a:latin typeface="Noto Serif KR" pitchFamily="34" charset="0"/>
                <a:ea typeface="Noto Serif KR" pitchFamily="34" charset="-122"/>
                <a:cs typeface="Noto Serif KR" pitchFamily="34" charset="-120"/>
              </a:rPr>
              <a:t>오피스 운영과 업무 효율화를 직접 실행해온 실무자</a:t>
            </a:r>
            <a:endParaRPr lang="en-US" sz="1300" dirty="0"/>
          </a:p>
        </p:txBody>
      </p:sp>
      <p:sp>
        <p:nvSpPr>
          <p:cNvPr id="14" name="Text 12"/>
          <p:cNvSpPr/>
          <p:nvPr/>
        </p:nvSpPr>
        <p:spPr>
          <a:xfrm>
            <a:off x="731520" y="4297680"/>
            <a:ext cx="1463040" cy="411480"/>
          </a:xfrm>
          <a:prstGeom prst="rect">
            <a:avLst/>
          </a:prstGeom>
          <a:noFill/>
          <a:ln/>
        </p:spPr>
        <p:txBody>
          <a:bodyPr wrap="square" rtlCol="0" anchor="t"/>
          <a:lstStyle/>
          <a:p>
            <a:pPr algn="l" indent="0" marL="0">
              <a:buNone/>
            </a:pPr>
            <a:r>
              <a:rPr lang="en-US" sz="2600" dirty="0">
                <a:solidFill>
                  <a:srgbClr val="6B9A6B"/>
                </a:solidFill>
                <a:latin typeface="Cormorant Garamond" pitchFamily="34" charset="0"/>
                <a:ea typeface="Cormorant Garamond" pitchFamily="34" charset="-122"/>
                <a:cs typeface="Cormorant Garamond" pitchFamily="34" charset="-120"/>
              </a:rPr>
              <a:t>9년+</a:t>
            </a:r>
            <a:endParaRPr lang="en-US" sz="2600" dirty="0"/>
          </a:p>
        </p:txBody>
      </p:sp>
      <p:sp>
        <p:nvSpPr>
          <p:cNvPr id="15" name="Text 13"/>
          <p:cNvSpPr/>
          <p:nvPr/>
        </p:nvSpPr>
        <p:spPr>
          <a:xfrm>
            <a:off x="731520" y="4754880"/>
            <a:ext cx="1463040" cy="274320"/>
          </a:xfrm>
          <a:prstGeom prst="rect">
            <a:avLst/>
          </a:prstGeom>
          <a:noFill/>
          <a:ln/>
        </p:spPr>
        <p:txBody>
          <a:bodyPr wrap="square" rtlCol="0" anchor="t"/>
          <a:lstStyle/>
          <a:p>
            <a:pPr algn="l" indent="0" marL="0">
              <a:buNone/>
            </a:pPr>
            <a:r>
              <a:rPr lang="en-US" sz="850" dirty="0">
                <a:solidFill>
                  <a:srgbClr val="AAA8A0"/>
                </a:solidFill>
                <a:latin typeface="맑은 고딕" pitchFamily="34" charset="0"/>
                <a:ea typeface="맑은 고딕" pitchFamily="34" charset="-122"/>
                <a:cs typeface="맑은 고딕" pitchFamily="34" charset="-120"/>
              </a:rPr>
              <a:t>총무·경영지원 경력</a:t>
            </a:r>
            <a:endParaRPr lang="en-US" sz="850" dirty="0"/>
          </a:p>
        </p:txBody>
      </p:sp>
      <p:sp>
        <p:nvSpPr>
          <p:cNvPr id="16" name="Text 14"/>
          <p:cNvSpPr/>
          <p:nvPr/>
        </p:nvSpPr>
        <p:spPr>
          <a:xfrm>
            <a:off x="2377440" y="4297680"/>
            <a:ext cx="1463040" cy="411480"/>
          </a:xfrm>
          <a:prstGeom prst="rect">
            <a:avLst/>
          </a:prstGeom>
          <a:noFill/>
          <a:ln/>
        </p:spPr>
        <p:txBody>
          <a:bodyPr wrap="square" rtlCol="0" anchor="t"/>
          <a:lstStyle/>
          <a:p>
            <a:pPr algn="l" indent="0" marL="0">
              <a:buNone/>
            </a:pPr>
            <a:r>
              <a:rPr lang="en-US" sz="2600" dirty="0">
                <a:solidFill>
                  <a:srgbClr val="6B9A6B"/>
                </a:solidFill>
                <a:latin typeface="Cormorant Garamond" pitchFamily="34" charset="0"/>
                <a:ea typeface="Cormorant Garamond" pitchFamily="34" charset="-122"/>
                <a:cs typeface="Cormorant Garamond" pitchFamily="34" charset="-120"/>
              </a:rPr>
              <a:t>12년+</a:t>
            </a:r>
            <a:endParaRPr lang="en-US" sz="2600" dirty="0"/>
          </a:p>
        </p:txBody>
      </p:sp>
      <p:sp>
        <p:nvSpPr>
          <p:cNvPr id="17" name="Text 15"/>
          <p:cNvSpPr/>
          <p:nvPr/>
        </p:nvSpPr>
        <p:spPr>
          <a:xfrm>
            <a:off x="2377440" y="4754880"/>
            <a:ext cx="1463040" cy="274320"/>
          </a:xfrm>
          <a:prstGeom prst="rect">
            <a:avLst/>
          </a:prstGeom>
          <a:noFill/>
          <a:ln/>
        </p:spPr>
        <p:txBody>
          <a:bodyPr wrap="square" rtlCol="0" anchor="t"/>
          <a:lstStyle/>
          <a:p>
            <a:pPr algn="l" indent="0" marL="0">
              <a:buNone/>
            </a:pPr>
            <a:r>
              <a:rPr lang="en-US" sz="850" dirty="0">
                <a:solidFill>
                  <a:srgbClr val="AAA8A0"/>
                </a:solidFill>
                <a:latin typeface="맑은 고딕" pitchFamily="34" charset="0"/>
                <a:ea typeface="맑은 고딕" pitchFamily="34" charset="-122"/>
                <a:cs typeface="맑은 고딕" pitchFamily="34" charset="-120"/>
              </a:rPr>
              <a:t>총 실무 경력</a:t>
            </a:r>
            <a:endParaRPr lang="en-US" sz="850" dirty="0"/>
          </a:p>
        </p:txBody>
      </p:sp>
      <p:sp>
        <p:nvSpPr>
          <p:cNvPr id="18" name="Shape 16"/>
          <p:cNvSpPr/>
          <p:nvPr/>
        </p:nvSpPr>
        <p:spPr>
          <a:xfrm>
            <a:off x="731520" y="5349240"/>
            <a:ext cx="1737360" cy="457200"/>
          </a:xfrm>
          <a:prstGeom prst="roundRect">
            <a:avLst>
              <a:gd name="adj" fmla="val 6000"/>
            </a:avLst>
          </a:prstGeom>
          <a:solidFill>
            <a:srgbClr val="6B9A6B"/>
          </a:solidFill>
          <a:ln/>
        </p:spPr>
      </p:sp>
      <p:sp>
        <p:nvSpPr>
          <p:cNvPr id="19" name="Text 17"/>
          <p:cNvSpPr/>
          <p:nvPr/>
        </p:nvSpPr>
        <p:spPr>
          <a:xfrm>
            <a:off x="731520" y="5349240"/>
            <a:ext cx="1737360" cy="457200"/>
          </a:xfrm>
          <a:prstGeom prst="rect">
            <a:avLst/>
          </a:prstGeom>
          <a:noFill/>
          <a:ln/>
        </p:spPr>
        <p:txBody>
          <a:bodyPr wrap="square" rtlCol="0" anchor="ctr"/>
          <a:lstStyle/>
          <a:p>
            <a:pPr algn="ctr" indent="0" marL="0">
              <a:buNone/>
            </a:pPr>
            <a:r>
              <a:rPr lang="en-US" sz="1000" spc="100" kern="0" dirty="0">
                <a:solidFill>
                  <a:srgbClr val="FFFFFF"/>
                </a:solidFill>
                <a:latin typeface="맑은 고딕" pitchFamily="34" charset="0"/>
                <a:ea typeface="맑은 고딕" pitchFamily="34" charset="-122"/>
                <a:cs typeface="맑은 고딕" pitchFamily="34" charset="-120"/>
              </a:rPr>
              <a:t>자세히 보기 ↓</a:t>
            </a:r>
            <a:endParaRPr lang="en-US" sz="1000" dirty="0"/>
          </a:p>
        </p:txBody>
      </p:sp>
      <p:sp>
        <p:nvSpPr>
          <p:cNvPr id="20" name="Shape 18"/>
          <p:cNvSpPr/>
          <p:nvPr/>
        </p:nvSpPr>
        <p:spPr>
          <a:xfrm>
            <a:off x="8778240" y="1645920"/>
            <a:ext cx="2377440" cy="2926080"/>
          </a:xfrm>
          <a:prstGeom prst="rect">
            <a:avLst/>
          </a:prstGeom>
          <a:solidFill>
            <a:srgbClr val="F0ECE4"/>
          </a:solidFill>
          <a:ln w="19050">
            <a:solidFill>
              <a:srgbClr val="D4C9BD"/>
            </a:solidFill>
            <a:prstDash val="solid"/>
          </a:ln>
        </p:spPr>
      </p:sp>
      <p:sp>
        <p:nvSpPr>
          <p:cNvPr id="21" name="Text 19"/>
          <p:cNvSpPr/>
          <p:nvPr/>
        </p:nvSpPr>
        <p:spPr>
          <a:xfrm>
            <a:off x="8778240" y="1645920"/>
            <a:ext cx="2377440" cy="2926080"/>
          </a:xfrm>
          <a:prstGeom prst="rect">
            <a:avLst/>
          </a:prstGeom>
          <a:noFill/>
          <a:ln/>
        </p:spPr>
        <p:txBody>
          <a:bodyPr wrap="square" rtlCol="0" anchor="ctr"/>
          <a:lstStyle/>
          <a:p>
            <a:pPr algn="ctr" indent="0" marL="0">
              <a:buNone/>
            </a:pPr>
            <a:r>
              <a:rPr lang="en-US" sz="1000" dirty="0">
                <a:solidFill>
                  <a:srgbClr val="AAA8A0"/>
                </a:solidFill>
                <a:latin typeface="맑은 고딕" pitchFamily="34" charset="0"/>
                <a:ea typeface="맑은 고딕" pitchFamily="34" charset="-122"/>
                <a:cs typeface="맑은 고딕" pitchFamily="34" charset="-120"/>
              </a:rPr>
              <a:t>[ 프로필 사진 ]</a:t>
            </a:r>
            <a:endParaRPr lang="en-US" sz="1000" dirty="0"/>
          </a:p>
        </p:txBody>
      </p:sp>
      <p:sp>
        <p:nvSpPr>
          <p:cNvPr id="22" name="Text 20"/>
          <p:cNvSpPr/>
          <p:nvPr/>
        </p:nvSpPr>
        <p:spPr>
          <a:xfrm>
            <a:off x="8778240" y="4160520"/>
            <a:ext cx="2377440" cy="411480"/>
          </a:xfrm>
          <a:prstGeom prst="rect">
            <a:avLst/>
          </a:prstGeom>
          <a:solidFill>
            <a:srgbClr val="2C3028">
              <a:alpha val="70000"/>
            </a:srgbClr>
          </a:solidFill>
          <a:ln/>
        </p:spPr>
        <p:txBody>
          <a:bodyPr wrap="square" rtlCol="0" anchor="t"/>
          <a:lstStyle/>
          <a:p>
            <a:pPr algn="l" indent="0" marL="0">
              <a:buNone/>
            </a:pPr>
            <a:r>
              <a:rPr lang="en-US" sz="1300" dirty="0">
                <a:solidFill>
                  <a:srgbClr val="FFFFFF"/>
                </a:solidFill>
                <a:latin typeface="Cormorant Garamond" pitchFamily="34" charset="0"/>
                <a:ea typeface="Cormorant Garamond" pitchFamily="34" charset="-122"/>
                <a:cs typeface="Cormorant Garamond" pitchFamily="34" charset="-120"/>
              </a:rPr>
              <a:t>박 세 형
</a:t>
            </a:r>
            <a:pPr algn="l" indent="0" marL="0">
              <a:buNone/>
            </a:pPr>
            <a:r>
              <a:rPr lang="en-US" sz="800" dirty="0">
                <a:solidFill>
                  <a:srgbClr val="E8E6E0"/>
                </a:solidFill>
              </a:rPr>
              <a:t>총무·경영지원 · 오피스 운영</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Career — 총 경력 12년 5개월 · 총무·경영지원 9년 6개월 / 리테일 VMD 3년 1개월 (1/3)</a:t>
            </a:r>
            <a:endParaRPr lang="en-US" sz="1200" dirty="0"/>
          </a:p>
        </p:txBody>
      </p:sp>
      <p:sp>
        <p:nvSpPr>
          <p:cNvPr id="3" name="Shape 1"/>
          <p:cNvSpPr/>
          <p:nvPr/>
        </p:nvSpPr>
        <p:spPr>
          <a:xfrm>
            <a:off x="2697480" y="777240"/>
            <a:ext cx="8961120" cy="0"/>
          </a:xfrm>
          <a:prstGeom prst="line">
            <a:avLst/>
          </a:prstGeom>
          <a:noFill/>
          <a:ln w="9525">
            <a:solidFill>
              <a:srgbClr val="6B9A6B">
                <a:alpha val="30000"/>
              </a:srgbClr>
            </a:solidFill>
            <a:prstDash val="solid"/>
          </a:ln>
        </p:spPr>
      </p:sp>
      <p:sp>
        <p:nvSpPr>
          <p:cNvPr id="4" name="Shape 2"/>
          <p:cNvSpPr/>
          <p:nvPr/>
        </p:nvSpPr>
        <p:spPr>
          <a:xfrm>
            <a:off x="2697480" y="914400"/>
            <a:ext cx="8961120" cy="502920"/>
          </a:xfrm>
          <a:prstGeom prst="rect">
            <a:avLst/>
          </a:prstGeom>
          <a:solidFill>
            <a:srgbClr val="6B9A6B">
              <a:alpha val="10000"/>
            </a:srgbClr>
          </a:solidFill>
          <a:ln w="9525">
            <a:solidFill>
              <a:srgbClr val="6B9A6B">
                <a:alpha val="22000"/>
              </a:srgbClr>
            </a:solidFill>
            <a:prstDash val="solid"/>
          </a:ln>
        </p:spPr>
      </p:sp>
      <p:sp>
        <p:nvSpPr>
          <p:cNvPr id="5" name="Text 3"/>
          <p:cNvSpPr/>
          <p:nvPr/>
        </p:nvSpPr>
        <p:spPr>
          <a:xfrm>
            <a:off x="2880360" y="914400"/>
            <a:ext cx="6035040" cy="502920"/>
          </a:xfrm>
          <a:prstGeom prst="rect">
            <a:avLst/>
          </a:prstGeom>
          <a:noFill/>
          <a:ln/>
        </p:spPr>
        <p:txBody>
          <a:bodyPr wrap="square" rtlCol="0" anchor="ctr"/>
          <a:lstStyle/>
          <a:p>
            <a:pPr algn="l" indent="0" marL="0">
              <a:buNone/>
            </a:pPr>
            <a:r>
              <a:rPr lang="en-US" sz="1500" dirty="0">
                <a:solidFill>
                  <a:srgbClr val="2C2820"/>
                </a:solidFill>
                <a:latin typeface="Cormorant Garamond" pitchFamily="34" charset="0"/>
                <a:ea typeface="Cormorant Garamond" pitchFamily="34" charset="-122"/>
                <a:cs typeface="Cormorant Garamond" pitchFamily="34" charset="-120"/>
              </a:rPr>
              <a:t>신성통상(주)   </a:t>
            </a:r>
            <a:pPr algn="l" indent="0" marL="0">
              <a:buNone/>
            </a:pPr>
            <a:r>
              <a:rPr lang="en-US" sz="900" spc="100" kern="0" dirty="0">
                <a:solidFill>
                  <a:srgbClr val="6B9A6B"/>
                </a:solidFill>
                <a:latin typeface="맑은 고딕" pitchFamily="34" charset="0"/>
                <a:ea typeface="맑은 고딕" pitchFamily="34" charset="-122"/>
                <a:cs typeface="맑은 고딕" pitchFamily="34" charset="-120"/>
              </a:rPr>
              <a:t>대리 · 임원비서 / 총무·경영지원</a:t>
            </a:r>
            <a:endParaRPr lang="en-US" sz="1500" dirty="0"/>
          </a:p>
        </p:txBody>
      </p:sp>
      <p:sp>
        <p:nvSpPr>
          <p:cNvPr id="6" name="Text 4"/>
          <p:cNvSpPr/>
          <p:nvPr/>
        </p:nvSpPr>
        <p:spPr>
          <a:xfrm>
            <a:off x="8915400" y="914400"/>
            <a:ext cx="2560320" cy="502920"/>
          </a:xfrm>
          <a:prstGeom prst="rect">
            <a:avLst/>
          </a:prstGeom>
          <a:noFill/>
          <a:ln/>
        </p:spPr>
        <p:txBody>
          <a:bodyPr wrap="square" rtlCol="0" anchor="ctr"/>
          <a:lstStyle/>
          <a:p>
            <a:pPr algn="r" indent="0" marL="0">
              <a:lnSpc>
                <a:spcPct val="130000"/>
              </a:lnSpc>
              <a:buNone/>
            </a:pPr>
            <a:r>
              <a:rPr lang="en-US" sz="850" dirty="0">
                <a:solidFill>
                  <a:srgbClr val="AAA8A0"/>
                </a:solidFill>
              </a:rPr>
              <a:t>2016.07 — 2025.12
</a:t>
            </a:r>
            <a:pPr algn="r" indent="0" marL="0">
              <a:lnSpc>
                <a:spcPct val="130000"/>
              </a:lnSpc>
              <a:buNone/>
            </a:pPr>
            <a:r>
              <a:rPr lang="en-US" sz="1200" dirty="0">
                <a:solidFill>
                  <a:srgbClr val="6B9A6B"/>
                </a:solidFill>
                <a:latin typeface="Cormorant Garamond" pitchFamily="34" charset="0"/>
                <a:ea typeface="Cormorant Garamond" pitchFamily="34" charset="-122"/>
                <a:cs typeface="Cormorant Garamond" pitchFamily="34" charset="-120"/>
              </a:rPr>
              <a:t>9년 6개월</a:t>
            </a:r>
            <a:endParaRPr lang="en-US" sz="850" dirty="0"/>
          </a:p>
        </p:txBody>
      </p:sp>
      <p:sp>
        <p:nvSpPr>
          <p:cNvPr id="7" name="Text 5"/>
          <p:cNvSpPr/>
          <p:nvPr/>
        </p:nvSpPr>
        <p:spPr>
          <a:xfrm>
            <a:off x="2697480" y="1554480"/>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임원 비서</a:t>
            </a:r>
            <a:endParaRPr lang="en-US" sz="1050" dirty="0"/>
          </a:p>
        </p:txBody>
      </p:sp>
      <p:sp>
        <p:nvSpPr>
          <p:cNvPr id="8" name="Text 6"/>
          <p:cNvSpPr/>
          <p:nvPr/>
        </p:nvSpPr>
        <p:spPr>
          <a:xfrm>
            <a:off x="2697480" y="1773936"/>
            <a:ext cx="4297680" cy="164592"/>
          </a:xfrm>
          <a:prstGeom prst="rect">
            <a:avLst/>
          </a:prstGeom>
          <a:noFill/>
          <a:ln/>
        </p:spPr>
        <p:txBody>
          <a:bodyPr wrap="square" rtlCol="0" anchor="t"/>
          <a:lstStyle/>
          <a:p>
            <a:pPr algn="l" indent="0" marL="0">
              <a:buNone/>
            </a:pPr>
            <a:r>
              <a:rPr lang="en-US" sz="750" dirty="0">
                <a:solidFill>
                  <a:srgbClr val="AAA8A0"/>
                </a:solidFill>
                <a:latin typeface="맑은 고딕" pitchFamily="34" charset="0"/>
                <a:ea typeface="맑은 고딕" pitchFamily="34" charset="-122"/>
                <a:cs typeface="맑은 고딕" pitchFamily="34" charset="-120"/>
              </a:rPr>
              <a:t>2016.07 — 2022.02</a:t>
            </a:r>
            <a:endParaRPr lang="en-US" sz="750" dirty="0"/>
          </a:p>
        </p:txBody>
      </p:sp>
      <p:sp>
        <p:nvSpPr>
          <p:cNvPr id="9" name="Shape 7"/>
          <p:cNvSpPr/>
          <p:nvPr/>
        </p:nvSpPr>
        <p:spPr>
          <a:xfrm>
            <a:off x="2697480" y="1975104"/>
            <a:ext cx="4297680" cy="0"/>
          </a:xfrm>
          <a:prstGeom prst="line">
            <a:avLst/>
          </a:prstGeom>
          <a:noFill/>
          <a:ln w="9525">
            <a:solidFill>
              <a:srgbClr val="6B9A6B">
                <a:alpha val="40000"/>
              </a:srgbClr>
            </a:solidFill>
            <a:prstDash val="solid"/>
          </a:ln>
        </p:spPr>
      </p:sp>
      <p:sp>
        <p:nvSpPr>
          <p:cNvPr id="10" name="Text 8"/>
          <p:cNvSpPr/>
          <p:nvPr/>
        </p:nvSpPr>
        <p:spPr>
          <a:xfrm>
            <a:off x="2697480" y="2066544"/>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CEO·회장·부회장·사장단 다수 경영진 동시 지원 체계 장기 안정적 운영</a:t>
            </a:r>
            <a:endParaRPr lang="en-US" sz="850" dirty="0"/>
          </a:p>
        </p:txBody>
      </p:sp>
      <p:sp>
        <p:nvSpPr>
          <p:cNvPr id="11" name="Text 9"/>
          <p:cNvSpPr/>
          <p:nvPr/>
        </p:nvSpPr>
        <p:spPr>
          <a:xfrm>
            <a:off x="2697480" y="2280031"/>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해외 바이어·컨퍼런스 및 VIP 방문 의전·회의 준비</a:t>
            </a:r>
            <a:endParaRPr lang="en-US" sz="850" dirty="0"/>
          </a:p>
        </p:txBody>
      </p:sp>
      <p:sp>
        <p:nvSpPr>
          <p:cNvPr id="12" name="Text 10"/>
          <p:cNvSpPr/>
          <p:nvPr/>
        </p:nvSpPr>
        <p:spPr>
          <a:xfrm>
            <a:off x="2697480" y="2493518"/>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경영진 보고 체계·우선순위 조율 및 유관부서 간 운영 커뮤니케이션 조율</a:t>
            </a:r>
            <a:endParaRPr lang="en-US" sz="850" dirty="0"/>
          </a:p>
        </p:txBody>
      </p:sp>
      <p:sp>
        <p:nvSpPr>
          <p:cNvPr id="13" name="Text 11"/>
          <p:cNvSpPr/>
          <p:nvPr/>
        </p:nvSpPr>
        <p:spPr>
          <a:xfrm>
            <a:off x="2697480" y="2707005"/>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비품·소모품·자산 관리, 법인카드 경비처리·세금계산서 관리·품의서 작성 등 총무 실무 병행</a:t>
            </a:r>
            <a:endParaRPr lang="en-US" sz="850" dirty="0"/>
          </a:p>
        </p:txBody>
      </p:sp>
      <p:sp>
        <p:nvSpPr>
          <p:cNvPr id="14" name="Text 12"/>
          <p:cNvSpPr/>
          <p:nvPr/>
        </p:nvSpPr>
        <p:spPr>
          <a:xfrm>
            <a:off x="2697480" y="3060827"/>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워크샵·사내 행사 지원 및 직원 소통 기반 업무환경 개선 참여</a:t>
            </a:r>
            <a:endParaRPr lang="en-US" sz="850" dirty="0"/>
          </a:p>
        </p:txBody>
      </p:sp>
      <p:sp>
        <p:nvSpPr>
          <p:cNvPr id="15" name="Text 13"/>
          <p:cNvSpPr/>
          <p:nvPr/>
        </p:nvSpPr>
        <p:spPr>
          <a:xfrm>
            <a:off x="2880360" y="3274314"/>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비서 업무와 총무 실무 병행으로 경영지원 전반 역량 선행 축적</a:t>
            </a:r>
            <a:endParaRPr lang="en-US" sz="800" dirty="0"/>
          </a:p>
        </p:txBody>
      </p:sp>
      <p:sp>
        <p:nvSpPr>
          <p:cNvPr id="16" name="Text 14"/>
          <p:cNvSpPr/>
          <p:nvPr/>
        </p:nvSpPr>
        <p:spPr>
          <a:xfrm>
            <a:off x="7360920" y="1554480"/>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오피스 운영</a:t>
            </a:r>
            <a:endParaRPr lang="en-US" sz="1050" dirty="0"/>
          </a:p>
        </p:txBody>
      </p:sp>
      <p:sp>
        <p:nvSpPr>
          <p:cNvPr id="17" name="Shape 15"/>
          <p:cNvSpPr/>
          <p:nvPr/>
        </p:nvSpPr>
        <p:spPr>
          <a:xfrm>
            <a:off x="7360920" y="1792224"/>
            <a:ext cx="4297680" cy="0"/>
          </a:xfrm>
          <a:prstGeom prst="line">
            <a:avLst/>
          </a:prstGeom>
          <a:noFill/>
          <a:ln w="9525">
            <a:solidFill>
              <a:srgbClr val="6B9A6B">
                <a:alpha val="40000"/>
              </a:srgbClr>
            </a:solidFill>
            <a:prstDash val="solid"/>
          </a:ln>
        </p:spPr>
      </p:sp>
      <p:sp>
        <p:nvSpPr>
          <p:cNvPr id="18" name="Text 16"/>
          <p:cNvSpPr/>
          <p:nvPr/>
        </p:nvSpPr>
        <p:spPr>
          <a:xfrm>
            <a:off x="7360920" y="1883664"/>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오피스 운영 전반 단독 담당 — 시설·미화·보안·좌석 배치 관리 (산업안전 법규 기준 적용)</a:t>
            </a:r>
            <a:endParaRPr lang="en-US" sz="850" dirty="0"/>
          </a:p>
        </p:txBody>
      </p:sp>
      <p:sp>
        <p:nvSpPr>
          <p:cNvPr id="19" name="Text 17"/>
          <p:cNvSpPr/>
          <p:nvPr/>
        </p:nvSpPr>
        <p:spPr>
          <a:xfrm>
            <a:off x="7360920" y="2237486"/>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시설물 운영 — 조명·공조·전기·통신 하자 점검·조치, 소방·방역 등 법정 점검 대응</a:t>
            </a:r>
            <a:endParaRPr lang="en-US" sz="850" dirty="0"/>
          </a:p>
        </p:txBody>
      </p:sp>
      <p:sp>
        <p:nvSpPr>
          <p:cNvPr id="20" name="Text 18"/>
          <p:cNvSpPr/>
          <p:nvPr/>
        </p:nvSpPr>
        <p:spPr>
          <a:xfrm>
            <a:off x="7360920" y="2591308"/>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주차 시스템 전산화 전환 시 운영 방식 개선 — 구성원 요청 없이 즉시 사용 가능한 환경 구축</a:t>
            </a:r>
            <a:endParaRPr lang="en-US" sz="850" dirty="0"/>
          </a:p>
        </p:txBody>
      </p:sp>
      <p:sp>
        <p:nvSpPr>
          <p:cNvPr id="21" name="Text 19"/>
          <p:cNvSpPr/>
          <p:nvPr/>
        </p:nvSpPr>
        <p:spPr>
          <a:xfrm>
            <a:off x="7543800" y="2945130"/>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수동 요청 방식 제거로 구성원 편의성 향상, 월 1회 정산 처리 구조로 효율화</a:t>
            </a:r>
            <a:endParaRPr lang="en-US" sz="800" dirty="0"/>
          </a:p>
        </p:txBody>
      </p:sp>
      <p:sp>
        <p:nvSpPr>
          <p:cNvPr id="22" name="Text 20"/>
          <p:cNvSpPr/>
          <p:nvPr/>
        </p:nvSpPr>
        <p:spPr>
          <a:xfrm>
            <a:off x="7360920" y="3177794"/>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본사 리모델링에 따른 임시 오피스 이전 셋팅·운영 참여</a:t>
            </a:r>
            <a:endParaRPr lang="en-US" sz="850" dirty="0"/>
          </a:p>
        </p:txBody>
      </p:sp>
      <p:sp>
        <p:nvSpPr>
          <p:cNvPr id="23" name="Text 21"/>
          <p:cNvSpPr/>
          <p:nvPr/>
        </p:nvSpPr>
        <p:spPr>
          <a:xfrm>
            <a:off x="7543800" y="3391281"/>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수출본부 오피스 독립 운영 체계 구축, 이전 기간 업무 공백 없이 지원</a:t>
            </a:r>
            <a:endParaRPr lang="en-US" sz="800" dirty="0"/>
          </a:p>
        </p:txBody>
      </p:sp>
      <p:sp>
        <p:nvSpPr>
          <p:cNvPr id="24" name="Text 22"/>
          <p:cNvSpPr/>
          <p:nvPr/>
        </p:nvSpPr>
        <p:spPr>
          <a:xfrm>
            <a:off x="2697480" y="3852545"/>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계약·자산 관리</a:t>
            </a:r>
            <a:endParaRPr lang="en-US" sz="1050" dirty="0"/>
          </a:p>
        </p:txBody>
      </p:sp>
      <p:sp>
        <p:nvSpPr>
          <p:cNvPr id="25" name="Shape 23"/>
          <p:cNvSpPr/>
          <p:nvPr/>
        </p:nvSpPr>
        <p:spPr>
          <a:xfrm>
            <a:off x="2697480" y="4090289"/>
            <a:ext cx="4297680" cy="0"/>
          </a:xfrm>
          <a:prstGeom prst="line">
            <a:avLst/>
          </a:prstGeom>
          <a:noFill/>
          <a:ln w="9525">
            <a:solidFill>
              <a:srgbClr val="6B9A6B">
                <a:alpha val="40000"/>
              </a:srgbClr>
            </a:solidFill>
            <a:prstDash val="solid"/>
          </a:ln>
        </p:spPr>
      </p:sp>
      <p:sp>
        <p:nvSpPr>
          <p:cNvPr id="26" name="Text 24"/>
          <p:cNvSpPr/>
          <p:nvPr/>
        </p:nvSpPr>
        <p:spPr>
          <a:xfrm>
            <a:off x="2697480" y="4181729"/>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임대차·시설·협력업체 등 외부 계약 체결·이행·갱신 관리</a:t>
            </a:r>
            <a:endParaRPr lang="en-US" sz="850" dirty="0"/>
          </a:p>
        </p:txBody>
      </p:sp>
      <p:sp>
        <p:nvSpPr>
          <p:cNvPr id="27" name="Text 25"/>
          <p:cNvSpPr/>
          <p:nvPr/>
        </p:nvSpPr>
        <p:spPr>
          <a:xfrm>
            <a:off x="2880360" y="4395216"/>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다수 업체 비딩·비교 검토로 비용 절감 및 최적 조건 계약 체결</a:t>
            </a:r>
            <a:endParaRPr lang="en-US" sz="800" dirty="0"/>
          </a:p>
        </p:txBody>
      </p:sp>
      <p:sp>
        <p:nvSpPr>
          <p:cNvPr id="28" name="Text 26"/>
          <p:cNvSpPr/>
          <p:nvPr/>
        </p:nvSpPr>
        <p:spPr>
          <a:xfrm>
            <a:off x="2697480" y="4627880"/>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수출본부 담당 자산 현황 파악·실사 및 총무팀 취합 프로세스 참여</a:t>
            </a:r>
            <a:endParaRPr lang="en-US" sz="850" dirty="0"/>
          </a:p>
        </p:txBody>
      </p:sp>
      <p:sp>
        <p:nvSpPr>
          <p:cNvPr id="29" name="Text 27"/>
          <p:cNvSpPr/>
          <p:nvPr/>
        </p:nvSpPr>
        <p:spPr>
          <a:xfrm>
            <a:off x="2880360" y="4841367"/>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계약 갱신 누락 없이 지속 관리, 수출본부 담당 자산 누락 없이 보고</a:t>
            </a:r>
            <a:endParaRPr lang="en-US" sz="800" dirty="0"/>
          </a:p>
        </p:txBody>
      </p:sp>
      <p:sp>
        <p:nvSpPr>
          <p:cNvPr id="30" name="Text 28"/>
          <p:cNvSpPr/>
          <p:nvPr/>
        </p:nvSpPr>
        <p:spPr>
          <a:xfrm>
            <a:off x="7360920" y="3852545"/>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보안·차량·통신</a:t>
            </a:r>
            <a:endParaRPr lang="en-US" sz="1050" dirty="0"/>
          </a:p>
        </p:txBody>
      </p:sp>
      <p:sp>
        <p:nvSpPr>
          <p:cNvPr id="31" name="Shape 29"/>
          <p:cNvSpPr/>
          <p:nvPr/>
        </p:nvSpPr>
        <p:spPr>
          <a:xfrm>
            <a:off x="7360920" y="4090289"/>
            <a:ext cx="4297680" cy="0"/>
          </a:xfrm>
          <a:prstGeom prst="line">
            <a:avLst/>
          </a:prstGeom>
          <a:noFill/>
          <a:ln w="9525">
            <a:solidFill>
              <a:srgbClr val="6B9A6B">
                <a:alpha val="40000"/>
              </a:srgbClr>
            </a:solidFill>
            <a:prstDash val="solid"/>
          </a:ln>
        </p:spPr>
      </p:sp>
      <p:sp>
        <p:nvSpPr>
          <p:cNvPr id="32" name="Text 30"/>
          <p:cNvSpPr/>
          <p:nvPr/>
        </p:nvSpPr>
        <p:spPr>
          <a:xfrm>
            <a:off x="7360920" y="4181729"/>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보안·차량·통신 관리 — 세콤 운영, 법인차량 정비·과태료 처리, 통신요금 정산 및 내선 관리</a:t>
            </a:r>
            <a:endParaRPr lang="en-US" sz="850" dirty="0"/>
          </a:p>
        </p:txBody>
      </p:sp>
      <p:sp>
        <p:nvSpPr>
          <p:cNvPr id="33" name="Text 31"/>
          <p:cNvSpPr/>
          <p:nvPr/>
        </p:nvSpPr>
        <p:spPr>
          <a:xfrm>
            <a:off x="7543800" y="4535551"/>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월간 점검 루틴 및 수시 대응 병행으로 운영 공백 없이 유지</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Career — 신성통상(주) · 총무·경영지원 (2/3)</a:t>
            </a:r>
            <a:endParaRPr lang="en-US" sz="1200" dirty="0"/>
          </a:p>
        </p:txBody>
      </p:sp>
      <p:sp>
        <p:nvSpPr>
          <p:cNvPr id="3" name="Shape 1"/>
          <p:cNvSpPr/>
          <p:nvPr/>
        </p:nvSpPr>
        <p:spPr>
          <a:xfrm>
            <a:off x="2697480" y="777240"/>
            <a:ext cx="8961120" cy="0"/>
          </a:xfrm>
          <a:prstGeom prst="line">
            <a:avLst/>
          </a:prstGeom>
          <a:noFill/>
          <a:ln w="9525">
            <a:solidFill>
              <a:srgbClr val="6B9A6B">
                <a:alpha val="30000"/>
              </a:srgbClr>
            </a:solidFill>
            <a:prstDash val="solid"/>
          </a:ln>
        </p:spPr>
      </p:sp>
      <p:sp>
        <p:nvSpPr>
          <p:cNvPr id="4" name="Text 2"/>
          <p:cNvSpPr/>
          <p:nvPr/>
        </p:nvSpPr>
        <p:spPr>
          <a:xfrm>
            <a:off x="2697480" y="914400"/>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복리후생·행사</a:t>
            </a:r>
            <a:endParaRPr lang="en-US" sz="1050" dirty="0"/>
          </a:p>
        </p:txBody>
      </p:sp>
      <p:sp>
        <p:nvSpPr>
          <p:cNvPr id="5" name="Shape 3"/>
          <p:cNvSpPr/>
          <p:nvPr/>
        </p:nvSpPr>
        <p:spPr>
          <a:xfrm>
            <a:off x="2697480" y="1152144"/>
            <a:ext cx="4297680" cy="0"/>
          </a:xfrm>
          <a:prstGeom prst="line">
            <a:avLst/>
          </a:prstGeom>
          <a:noFill/>
          <a:ln w="9525">
            <a:solidFill>
              <a:srgbClr val="6B9A6B">
                <a:alpha val="40000"/>
              </a:srgbClr>
            </a:solidFill>
            <a:prstDash val="solid"/>
          </a:ln>
        </p:spPr>
      </p:sp>
      <p:sp>
        <p:nvSpPr>
          <p:cNvPr id="6" name="Text 4"/>
          <p:cNvSpPr/>
          <p:nvPr/>
        </p:nvSpPr>
        <p:spPr>
          <a:xfrm>
            <a:off x="2697480" y="1243584"/>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복리후생 운영 — 생일상품권·법인콘도·위탁보육·명절행사·간식 등 구성원 복지 전반 운영</a:t>
            </a:r>
            <a:endParaRPr lang="en-US" sz="850" dirty="0"/>
          </a:p>
        </p:txBody>
      </p:sp>
      <p:sp>
        <p:nvSpPr>
          <p:cNvPr id="7" name="Text 5"/>
          <p:cNvSpPr/>
          <p:nvPr/>
        </p:nvSpPr>
        <p:spPr>
          <a:xfrm>
            <a:off x="2697480" y="1597406"/>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법인콘도 이벤트 참여 방식 개선 — 바코드 신청 방식으로 전환</a:t>
            </a:r>
            <a:endParaRPr lang="en-US" sz="850" dirty="0"/>
          </a:p>
        </p:txBody>
      </p:sp>
      <p:sp>
        <p:nvSpPr>
          <p:cNvPr id="8" name="Text 6"/>
          <p:cNvSpPr/>
          <p:nvPr/>
        </p:nvSpPr>
        <p:spPr>
          <a:xfrm>
            <a:off x="2880360" y="1810893"/>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법인콘도 바코드 신청 방식 전환으로 참여 접근성 개선 및 참여율 향상</a:t>
            </a:r>
            <a:endParaRPr lang="en-US" sz="800" dirty="0"/>
          </a:p>
        </p:txBody>
      </p:sp>
      <p:sp>
        <p:nvSpPr>
          <p:cNvPr id="9" name="Text 7"/>
          <p:cNvSpPr/>
          <p:nvPr/>
        </p:nvSpPr>
        <p:spPr>
          <a:xfrm>
            <a:off x="2697480" y="2043557"/>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사내 행사 운영 — 명절·복날·한우데이·연말 다이어리 등 시즌별 행사 기획 참여·실행</a:t>
            </a:r>
            <a:endParaRPr lang="en-US" sz="850" dirty="0"/>
          </a:p>
        </p:txBody>
      </p:sp>
      <p:sp>
        <p:nvSpPr>
          <p:cNvPr id="10" name="Text 8"/>
          <p:cNvSpPr/>
          <p:nvPr/>
        </p:nvSpPr>
        <p:spPr>
          <a:xfrm>
            <a:off x="2880360" y="2397379"/>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구성원 수요 반영한 복지 항목 운영 및 연간 고정 행사 선제적 준비 수행</a:t>
            </a:r>
            <a:endParaRPr lang="en-US" sz="800" dirty="0"/>
          </a:p>
        </p:txBody>
      </p:sp>
      <p:sp>
        <p:nvSpPr>
          <p:cNvPr id="11" name="Text 9"/>
          <p:cNvSpPr/>
          <p:nvPr/>
        </p:nvSpPr>
        <p:spPr>
          <a:xfrm>
            <a:off x="7360920" y="914400"/>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출장·주재원 지원</a:t>
            </a:r>
            <a:endParaRPr lang="en-US" sz="1050" dirty="0"/>
          </a:p>
        </p:txBody>
      </p:sp>
      <p:sp>
        <p:nvSpPr>
          <p:cNvPr id="12" name="Shape 10"/>
          <p:cNvSpPr/>
          <p:nvPr/>
        </p:nvSpPr>
        <p:spPr>
          <a:xfrm>
            <a:off x="7360920" y="1152144"/>
            <a:ext cx="4297680" cy="0"/>
          </a:xfrm>
          <a:prstGeom prst="line">
            <a:avLst/>
          </a:prstGeom>
          <a:noFill/>
          <a:ln w="9525">
            <a:solidFill>
              <a:srgbClr val="6B9A6B">
                <a:alpha val="40000"/>
              </a:srgbClr>
            </a:solidFill>
            <a:prstDash val="solid"/>
          </a:ln>
        </p:spPr>
      </p:sp>
      <p:sp>
        <p:nvSpPr>
          <p:cNvPr id="13" name="Text 11"/>
          <p:cNvSpPr/>
          <p:nvPr/>
        </p:nvSpPr>
        <p:spPr>
          <a:xfrm>
            <a:off x="7360920" y="1243584"/>
            <a:ext cx="4297680" cy="326390"/>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출장·주재원 지원 — 항공권·비자·여행자보험·ABTC·마일리지·해외이사 비딩까지 전 과정 관리</a:t>
            </a:r>
            <a:endParaRPr lang="en-US" sz="850" dirty="0"/>
          </a:p>
        </p:txBody>
      </p:sp>
      <p:sp>
        <p:nvSpPr>
          <p:cNvPr id="14" name="Text 12"/>
          <p:cNvSpPr/>
          <p:nvPr/>
        </p:nvSpPr>
        <p:spPr>
          <a:xfrm>
            <a:off x="7543800" y="1597406"/>
            <a:ext cx="4114800" cy="30988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출장 전 과정 단독 처리 및 주재원 이동 시 해외이사 업체 비딩·계약 관리 직접 수행</a:t>
            </a:r>
            <a:endParaRPr lang="en-US" sz="800" dirty="0"/>
          </a:p>
        </p:txBody>
      </p:sp>
      <p:sp>
        <p:nvSpPr>
          <p:cNvPr id="15" name="Text 13"/>
          <p:cNvSpPr/>
          <p:nvPr/>
        </p:nvSpPr>
        <p:spPr>
          <a:xfrm>
            <a:off x="2697480" y="2858643"/>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시스템·조직 지원</a:t>
            </a:r>
            <a:endParaRPr lang="en-US" sz="1050" dirty="0"/>
          </a:p>
        </p:txBody>
      </p:sp>
      <p:sp>
        <p:nvSpPr>
          <p:cNvPr id="16" name="Shape 14"/>
          <p:cNvSpPr/>
          <p:nvPr/>
        </p:nvSpPr>
        <p:spPr>
          <a:xfrm>
            <a:off x="2697480" y="3096387"/>
            <a:ext cx="4297680" cy="0"/>
          </a:xfrm>
          <a:prstGeom prst="line">
            <a:avLst/>
          </a:prstGeom>
          <a:noFill/>
          <a:ln w="9525">
            <a:solidFill>
              <a:srgbClr val="6B9A6B">
                <a:alpha val="40000"/>
              </a:srgbClr>
            </a:solidFill>
            <a:prstDash val="solid"/>
          </a:ln>
        </p:spPr>
      </p:sp>
      <p:sp>
        <p:nvSpPr>
          <p:cNvPr id="17" name="Text 15"/>
          <p:cNvSpPr/>
          <p:nvPr/>
        </p:nvSpPr>
        <p:spPr>
          <a:xfrm>
            <a:off x="2697480" y="3187827"/>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부서별 시스템 접근 권한 요청 취합·기안 작성 및 IT 부서 연계 처리 지원</a:t>
            </a:r>
            <a:endParaRPr lang="en-US" sz="850" dirty="0"/>
          </a:p>
        </p:txBody>
      </p:sp>
      <p:sp>
        <p:nvSpPr>
          <p:cNvPr id="18" name="Text 16"/>
          <p:cNvSpPr/>
          <p:nvPr/>
        </p:nvSpPr>
        <p:spPr>
          <a:xfrm>
            <a:off x="2697480" y="3401314"/>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본사·수출본부·유관부서 간 운영 조율 및 이슈 대응</a:t>
            </a:r>
            <a:endParaRPr lang="en-US" sz="850" dirty="0"/>
          </a:p>
        </p:txBody>
      </p:sp>
      <p:sp>
        <p:nvSpPr>
          <p:cNvPr id="19" name="Text 17"/>
          <p:cNvSpPr/>
          <p:nvPr/>
        </p:nvSpPr>
        <p:spPr>
          <a:xfrm>
            <a:off x="2880360" y="3614801"/>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물리적으로 분리된 조직 간 운영 이슈 단독 조율, 업무 연속성 유지</a:t>
            </a:r>
            <a:endParaRPr lang="en-US" sz="800" dirty="0"/>
          </a:p>
        </p:txBody>
      </p:sp>
      <p:sp>
        <p:nvSpPr>
          <p:cNvPr id="20" name="Text 18"/>
          <p:cNvSpPr/>
          <p:nvPr/>
        </p:nvSpPr>
        <p:spPr>
          <a:xfrm>
            <a:off x="7360920" y="2858643"/>
            <a:ext cx="4297680" cy="237744"/>
          </a:xfrm>
          <a:prstGeom prst="rect">
            <a:avLst/>
          </a:prstGeom>
          <a:noFill/>
          <a:ln/>
        </p:spPr>
        <p:txBody>
          <a:bodyPr wrap="square" rtlCol="0" anchor="t"/>
          <a:lstStyle/>
          <a:p>
            <a:pPr algn="l" indent="0" marL="0">
              <a:buNone/>
            </a:pPr>
            <a:r>
              <a:rPr lang="en-US" sz="1050" b="1" dirty="0">
                <a:solidFill>
                  <a:srgbClr val="6B9A6B"/>
                </a:solidFill>
                <a:latin typeface="맑은 고딕" pitchFamily="34" charset="0"/>
                <a:ea typeface="맑은 고딕" pitchFamily="34" charset="-122"/>
                <a:cs typeface="맑은 고딕" pitchFamily="34" charset="-120"/>
              </a:rPr>
              <a:t>업무 자동화</a:t>
            </a:r>
            <a:endParaRPr lang="en-US" sz="1050" dirty="0"/>
          </a:p>
        </p:txBody>
      </p:sp>
      <p:sp>
        <p:nvSpPr>
          <p:cNvPr id="21" name="Shape 19"/>
          <p:cNvSpPr/>
          <p:nvPr/>
        </p:nvSpPr>
        <p:spPr>
          <a:xfrm>
            <a:off x="7360920" y="3096387"/>
            <a:ext cx="4297680" cy="0"/>
          </a:xfrm>
          <a:prstGeom prst="line">
            <a:avLst/>
          </a:prstGeom>
          <a:noFill/>
          <a:ln w="9525">
            <a:solidFill>
              <a:srgbClr val="6B9A6B">
                <a:alpha val="40000"/>
              </a:srgbClr>
            </a:solidFill>
            <a:prstDash val="solid"/>
          </a:ln>
        </p:spPr>
      </p:sp>
      <p:sp>
        <p:nvSpPr>
          <p:cNvPr id="22" name="Text 20"/>
          <p:cNvSpPr/>
          <p:nvPr/>
        </p:nvSpPr>
        <p:spPr>
          <a:xfrm>
            <a:off x="7360920" y="3187827"/>
            <a:ext cx="4297680" cy="46672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Google Workspace 기반 명함 신청 자동화 구축 — Forms 신청 접수 → Sheets 자동 취합 → Apps Script로 디자이너</a:t>
            </a:r>
            <a:endParaRPr lang="en-US" sz="850" dirty="0"/>
          </a:p>
          <a:p>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자동 메일 발송 → PDF 업로드 시 신청자 자동 알림까지 전 과정 직접 구축</a:t>
            </a:r>
            <a:endParaRPr lang="en-US" sz="850" dirty="0"/>
          </a:p>
        </p:txBody>
      </p:sp>
      <p:sp>
        <p:nvSpPr>
          <p:cNvPr id="23" name="Text 21"/>
          <p:cNvSpPr/>
          <p:nvPr/>
        </p:nvSpPr>
        <p:spPr>
          <a:xfrm>
            <a:off x="7543800" y="3681984"/>
            <a:ext cx="4114800" cy="30988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중간 전달 과정 제거로 처리 속도 향상, 신청자·디자이너 간 다이렉트 소통 구조 실현</a:t>
            </a:r>
            <a:endParaRPr lang="en-US" sz="800" dirty="0"/>
          </a:p>
        </p:txBody>
      </p:sp>
      <p:sp>
        <p:nvSpPr>
          <p:cNvPr id="24" name="Text 22"/>
          <p:cNvSpPr/>
          <p:nvPr/>
        </p:nvSpPr>
        <p:spPr>
          <a:xfrm>
            <a:off x="7360920" y="4046728"/>
            <a:ext cx="4297680" cy="186055"/>
          </a:xfrm>
          <a:prstGeom prst="rect">
            <a:avLst/>
          </a:prstGeom>
          <a:noFill/>
          <a:ln/>
        </p:spPr>
        <p:txBody>
          <a:bodyPr wrap="square" rtlCol="0" anchor="t"/>
          <a:lstStyle/>
          <a:p>
            <a:pPr algn="l" indent="0" marL="0">
              <a:lnSpc>
                <a:spcPct val="125000"/>
              </a:lnSpc>
              <a:buNone/>
            </a:pPr>
            <a:r>
              <a:rPr lang="en-US" sz="850" b="1" dirty="0">
                <a:solidFill>
                  <a:srgbClr val="6B9A6B"/>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Excel VBA 기반 출장 정산 자동화 구축</a:t>
            </a:r>
            <a:endParaRPr lang="en-US" sz="850" dirty="0"/>
          </a:p>
        </p:txBody>
      </p:sp>
      <p:sp>
        <p:nvSpPr>
          <p:cNvPr id="25" name="Text 23"/>
          <p:cNvSpPr/>
          <p:nvPr/>
        </p:nvSpPr>
        <p:spPr>
          <a:xfrm>
            <a:off x="7543800" y="4260215"/>
            <a:ext cx="4114800" cy="177800"/>
          </a:xfrm>
          <a:prstGeom prst="rect">
            <a:avLst/>
          </a:prstGeom>
          <a:noFill/>
          <a:ln/>
        </p:spPr>
        <p:txBody>
          <a:bodyPr wrap="square" rtlCol="0" anchor="t"/>
          <a:lstStyle/>
          <a:p>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6B9A6B"/>
                </a:solidFill>
                <a:latin typeface="맑은 고딕" pitchFamily="34" charset="0"/>
                <a:ea typeface="맑은 고딕" pitchFamily="34" charset="-122"/>
                <a:cs typeface="맑은 고딕" pitchFamily="34" charset="-120"/>
              </a:rPr>
              <a:t>수동 검토 오류 제거 및 정산 검증 효율 향상</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B07A6E"/>
                </a:solidFill>
                <a:latin typeface="맑은 고딕" pitchFamily="34" charset="0"/>
                <a:ea typeface="맑은 고딕" pitchFamily="34" charset="-122"/>
                <a:cs typeface="맑은 고딕" pitchFamily="34" charset="-120"/>
              </a:rPr>
              <a:t>Career — 포에버21코리아리테일(유) / 방송·공연 활동 (3/3)</a:t>
            </a:r>
            <a:endParaRPr lang="en-US" sz="1200" dirty="0"/>
          </a:p>
        </p:txBody>
      </p:sp>
      <p:sp>
        <p:nvSpPr>
          <p:cNvPr id="3" name="Shape 1"/>
          <p:cNvSpPr/>
          <p:nvPr/>
        </p:nvSpPr>
        <p:spPr>
          <a:xfrm>
            <a:off x="2697480" y="777240"/>
            <a:ext cx="8961120" cy="0"/>
          </a:xfrm>
          <a:prstGeom prst="line">
            <a:avLst/>
          </a:prstGeom>
          <a:noFill/>
          <a:ln w="9525">
            <a:solidFill>
              <a:srgbClr val="B07A6E">
                <a:alpha val="30000"/>
              </a:srgbClr>
            </a:solidFill>
            <a:prstDash val="solid"/>
          </a:ln>
        </p:spPr>
      </p:sp>
      <p:sp>
        <p:nvSpPr>
          <p:cNvPr id="4" name="Shape 2"/>
          <p:cNvSpPr/>
          <p:nvPr/>
        </p:nvSpPr>
        <p:spPr>
          <a:xfrm>
            <a:off x="2697480" y="914400"/>
            <a:ext cx="8961120" cy="502920"/>
          </a:xfrm>
          <a:prstGeom prst="rect">
            <a:avLst/>
          </a:prstGeom>
          <a:solidFill>
            <a:srgbClr val="B07A6E">
              <a:alpha val="10000"/>
            </a:srgbClr>
          </a:solidFill>
          <a:ln w="9525">
            <a:solidFill>
              <a:srgbClr val="B07A6E">
                <a:alpha val="22000"/>
              </a:srgbClr>
            </a:solidFill>
            <a:prstDash val="solid"/>
          </a:ln>
        </p:spPr>
      </p:sp>
      <p:sp>
        <p:nvSpPr>
          <p:cNvPr id="5" name="Text 3"/>
          <p:cNvSpPr/>
          <p:nvPr/>
        </p:nvSpPr>
        <p:spPr>
          <a:xfrm>
            <a:off x="2880360" y="914400"/>
            <a:ext cx="6035040" cy="502920"/>
          </a:xfrm>
          <a:prstGeom prst="rect">
            <a:avLst/>
          </a:prstGeom>
          <a:noFill/>
          <a:ln/>
        </p:spPr>
        <p:txBody>
          <a:bodyPr wrap="square" rtlCol="0" anchor="ctr"/>
          <a:lstStyle/>
          <a:p>
            <a:pPr algn="l" indent="0" marL="0">
              <a:buNone/>
            </a:pPr>
            <a:r>
              <a:rPr lang="en-US" sz="1500" dirty="0">
                <a:solidFill>
                  <a:srgbClr val="2C2820"/>
                </a:solidFill>
                <a:latin typeface="Cormorant Garamond" pitchFamily="34" charset="0"/>
                <a:ea typeface="Cormorant Garamond" pitchFamily="34" charset="-122"/>
                <a:cs typeface="Cormorant Garamond" pitchFamily="34" charset="-120"/>
              </a:rPr>
              <a:t>포에버21코리아리테일(유)   </a:t>
            </a:r>
            <a:pPr algn="l" indent="0" marL="0">
              <a:buNone/>
            </a:pPr>
            <a:r>
              <a:rPr lang="en-US" sz="900" spc="100" kern="0" dirty="0">
                <a:solidFill>
                  <a:srgbClr val="B07A6E"/>
                </a:solidFill>
                <a:latin typeface="맑은 고딕" pitchFamily="34" charset="0"/>
                <a:ea typeface="맑은 고딕" pitchFamily="34" charset="-122"/>
                <a:cs typeface="맑은 고딕" pitchFamily="34" charset="-120"/>
              </a:rPr>
              <a:t>ACC VMD</a:t>
            </a:r>
            <a:endParaRPr lang="en-US" sz="1500" dirty="0"/>
          </a:p>
        </p:txBody>
      </p:sp>
      <p:sp>
        <p:nvSpPr>
          <p:cNvPr id="6" name="Text 4"/>
          <p:cNvSpPr/>
          <p:nvPr/>
        </p:nvSpPr>
        <p:spPr>
          <a:xfrm>
            <a:off x="8915400" y="914400"/>
            <a:ext cx="2560320" cy="502920"/>
          </a:xfrm>
          <a:prstGeom prst="rect">
            <a:avLst/>
          </a:prstGeom>
          <a:noFill/>
          <a:ln/>
        </p:spPr>
        <p:txBody>
          <a:bodyPr wrap="square" rtlCol="0" anchor="ctr"/>
          <a:lstStyle/>
          <a:p>
            <a:pPr algn="r" indent="0" marL="0">
              <a:lnSpc>
                <a:spcPct val="130000"/>
              </a:lnSpc>
              <a:buNone/>
            </a:pPr>
            <a:r>
              <a:rPr lang="en-US" sz="850" dirty="0">
                <a:solidFill>
                  <a:srgbClr val="AAA8A0"/>
                </a:solidFill>
              </a:rPr>
              <a:t>2010.03 — 2011.11  /  2012.08 — 2013.09
</a:t>
            </a:r>
            <a:pPr algn="r" indent="0" marL="0">
              <a:lnSpc>
                <a:spcPct val="130000"/>
              </a:lnSpc>
              <a:buNone/>
            </a:pPr>
            <a:r>
              <a:rPr lang="en-US" sz="1200" dirty="0">
                <a:solidFill>
                  <a:srgbClr val="B07A6E"/>
                </a:solidFill>
                <a:latin typeface="Cormorant Garamond" pitchFamily="34" charset="0"/>
                <a:ea typeface="Cormorant Garamond" pitchFamily="34" charset="-122"/>
                <a:cs typeface="Cormorant Garamond" pitchFamily="34" charset="-120"/>
              </a:rPr>
              <a:t>총 3년 1개월</a:t>
            </a:r>
            <a:endParaRPr lang="en-US" sz="850" dirty="0"/>
          </a:p>
        </p:txBody>
      </p:sp>
      <p:sp>
        <p:nvSpPr>
          <p:cNvPr id="7" name="Text 5"/>
          <p:cNvSpPr/>
          <p:nvPr/>
        </p:nvSpPr>
        <p:spPr>
          <a:xfrm>
            <a:off x="2697480" y="1554480"/>
            <a:ext cx="8961120" cy="237744"/>
          </a:xfrm>
          <a:prstGeom prst="rect">
            <a:avLst/>
          </a:prstGeom>
          <a:noFill/>
          <a:ln/>
        </p:spPr>
        <p:txBody>
          <a:bodyPr wrap="square" rtlCol="0" anchor="t"/>
          <a:lstStyle/>
          <a:p>
            <a:pPr algn="l" indent="0" marL="0">
              <a:buNone/>
            </a:pPr>
            <a:r>
              <a:rPr lang="en-US" sz="1050" b="1" dirty="0">
                <a:solidFill>
                  <a:srgbClr val="B07A6E"/>
                </a:solidFill>
                <a:latin typeface="맑은 고딕" pitchFamily="34" charset="0"/>
                <a:ea typeface="맑은 고딕" pitchFamily="34" charset="-122"/>
                <a:cs typeface="맑은 고딕" pitchFamily="34" charset="-120"/>
              </a:rPr>
              <a:t>VMD 운영</a:t>
            </a:r>
            <a:endParaRPr lang="en-US" sz="1050" dirty="0"/>
          </a:p>
        </p:txBody>
      </p:sp>
      <p:sp>
        <p:nvSpPr>
          <p:cNvPr id="8" name="Shape 6"/>
          <p:cNvSpPr/>
          <p:nvPr/>
        </p:nvSpPr>
        <p:spPr>
          <a:xfrm>
            <a:off x="2697480" y="1792224"/>
            <a:ext cx="8961120" cy="0"/>
          </a:xfrm>
          <a:prstGeom prst="line">
            <a:avLst/>
          </a:prstGeom>
          <a:noFill/>
          <a:ln w="9525">
            <a:solidFill>
              <a:srgbClr val="B07A6E">
                <a:alpha val="40000"/>
              </a:srgbClr>
            </a:solidFill>
            <a:prstDash val="solid"/>
          </a:ln>
        </p:spPr>
      </p:sp>
      <p:sp>
        <p:nvSpPr>
          <p:cNvPr id="9" name="Text 7"/>
          <p:cNvSpPr/>
          <p:nvPr/>
        </p:nvSpPr>
        <p:spPr>
          <a:xfrm>
            <a:off x="2697480" y="1883664"/>
            <a:ext cx="8961120" cy="186055"/>
          </a:xfrm>
          <a:prstGeom prst="rect">
            <a:avLst/>
          </a:prstGeom>
          <a:noFill/>
          <a:ln/>
        </p:spPr>
        <p:txBody>
          <a:bodyPr wrap="square" rtlCol="0" anchor="t"/>
          <a:lstStyle/>
          <a:p>
            <a:pPr algn="l" indent="0" marL="0">
              <a:lnSpc>
                <a:spcPct val="125000"/>
              </a:lnSpc>
              <a:buNone/>
            </a:pPr>
            <a:r>
              <a:rPr lang="en-US" sz="85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매장 오픈·리뉴얼 셋팅 및 현장 운영</a:t>
            </a:r>
            <a:endParaRPr lang="en-US" sz="850" dirty="0"/>
          </a:p>
        </p:txBody>
      </p:sp>
      <p:sp>
        <p:nvSpPr>
          <p:cNvPr id="10" name="Text 8"/>
          <p:cNvSpPr/>
          <p:nvPr/>
        </p:nvSpPr>
        <p:spPr>
          <a:xfrm>
            <a:off x="2697480" y="2097151"/>
            <a:ext cx="8961120" cy="186055"/>
          </a:xfrm>
          <a:prstGeom prst="rect">
            <a:avLst/>
          </a:prstGeom>
          <a:noFill/>
          <a:ln/>
        </p:spPr>
        <p:txBody>
          <a:bodyPr wrap="square" rtlCol="0" anchor="t"/>
          <a:lstStyle/>
          <a:p>
            <a:pPr algn="l" indent="0" marL="0">
              <a:lnSpc>
                <a:spcPct val="125000"/>
              </a:lnSpc>
              <a:buNone/>
            </a:pPr>
            <a:r>
              <a:rPr lang="en-US" sz="850" b="1" dirty="0">
                <a:solidFill>
                  <a:srgbClr val="B07A6E"/>
                </a:solidFill>
                <a:latin typeface="맑은 고딕" pitchFamily="34" charset="0"/>
                <a:ea typeface="맑은 고딕" pitchFamily="34" charset="-122"/>
                <a:cs typeface="맑은 고딕" pitchFamily="34" charset="-120"/>
              </a:rPr>
              <a:t>◆  </a:t>
            </a:r>
            <a:pPr algn="l" indent="0" marL="0">
              <a:lnSpc>
                <a:spcPct val="125000"/>
              </a:lnSpc>
              <a:buNone/>
            </a:pPr>
            <a:r>
              <a:rPr lang="en-US" sz="850" dirty="0">
                <a:solidFill>
                  <a:srgbClr val="5A5850"/>
                </a:solidFill>
                <a:latin typeface="맑은 고딕" pitchFamily="34" charset="0"/>
                <a:ea typeface="맑은 고딕" pitchFamily="34" charset="-122"/>
                <a:cs typeface="맑은 고딕" pitchFamily="34" charset="-120"/>
              </a:rPr>
              <a:t>발주·재고 관리 및 판매 분석·리포트 작성</a:t>
            </a:r>
            <a:endParaRPr lang="en-US" sz="850" dirty="0"/>
          </a:p>
        </p:txBody>
      </p:sp>
      <p:sp>
        <p:nvSpPr>
          <p:cNvPr id="11" name="Text 9"/>
          <p:cNvSpPr/>
          <p:nvPr/>
        </p:nvSpPr>
        <p:spPr>
          <a:xfrm>
            <a:off x="2880360" y="2310638"/>
            <a:ext cx="8778240" cy="177800"/>
          </a:xfrm>
          <a:prstGeom prst="rect">
            <a:avLst/>
          </a:prstGeom>
          <a:noFill/>
          <a:ln/>
        </p:spPr>
        <p:txBody>
          <a:bodyPr wrap="square" rtlCol="0" anchor="t"/>
          <a:lstStyle/>
          <a:p>
            <a:pPr algn="l" indent="0" marL="0">
              <a:lnSpc>
                <a:spcPct val="120000"/>
              </a:lnSpc>
              <a:buNone/>
            </a:pPr>
            <a:r>
              <a:rPr lang="en-US" sz="800" b="1" dirty="0">
                <a:solidFill>
                  <a:srgbClr val="B07A6E"/>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B07A6E"/>
                </a:solidFill>
                <a:latin typeface="맑은 고딕" pitchFamily="34" charset="0"/>
                <a:ea typeface="맑은 고딕" pitchFamily="34" charset="-122"/>
                <a:cs typeface="맑은 고딕" pitchFamily="34" charset="-120"/>
              </a:rPr>
              <a:t>신사점 오픈, 명동점 리뉴얼 오픈 셋팅 참여 — 일 매출 1억 5천만 원 달성</a:t>
            </a:r>
            <a:endParaRPr lang="en-US" sz="800" dirty="0"/>
          </a:p>
        </p:txBody>
      </p:sp>
      <p:sp>
        <p:nvSpPr>
          <p:cNvPr id="12" name="Shape 10"/>
          <p:cNvSpPr/>
          <p:nvPr/>
        </p:nvSpPr>
        <p:spPr>
          <a:xfrm>
            <a:off x="2697480" y="2726182"/>
            <a:ext cx="8961120" cy="502920"/>
          </a:xfrm>
          <a:prstGeom prst="rect">
            <a:avLst/>
          </a:prstGeom>
          <a:solidFill>
            <a:srgbClr val="8A7AB0">
              <a:alpha val="10000"/>
            </a:srgbClr>
          </a:solidFill>
          <a:ln w="9525">
            <a:solidFill>
              <a:srgbClr val="8A7AB0">
                <a:alpha val="22000"/>
              </a:srgbClr>
            </a:solidFill>
            <a:prstDash val="solid"/>
          </a:ln>
        </p:spPr>
      </p:sp>
      <p:sp>
        <p:nvSpPr>
          <p:cNvPr id="13" name="Text 11"/>
          <p:cNvSpPr/>
          <p:nvPr/>
        </p:nvSpPr>
        <p:spPr>
          <a:xfrm>
            <a:off x="2880360" y="2726182"/>
            <a:ext cx="6035040" cy="502920"/>
          </a:xfrm>
          <a:prstGeom prst="rect">
            <a:avLst/>
          </a:prstGeom>
          <a:noFill/>
          <a:ln/>
        </p:spPr>
        <p:txBody>
          <a:bodyPr wrap="square" rtlCol="0" anchor="ctr"/>
          <a:lstStyle/>
          <a:p>
            <a:pPr algn="l" indent="0" marL="0">
              <a:buNone/>
            </a:pPr>
            <a:r>
              <a:rPr lang="en-US" sz="1500" dirty="0">
                <a:solidFill>
                  <a:srgbClr val="2C2820"/>
                </a:solidFill>
                <a:latin typeface="Cormorant Garamond" pitchFamily="34" charset="0"/>
                <a:ea typeface="Cormorant Garamond" pitchFamily="34" charset="-122"/>
                <a:cs typeface="Cormorant Garamond" pitchFamily="34" charset="-120"/>
              </a:rPr>
              <a:t>방송·공연 활동   </a:t>
            </a:r>
            <a:pPr algn="l" indent="0" marL="0">
              <a:buNone/>
            </a:pPr>
            <a:r>
              <a:rPr lang="en-US" sz="900" spc="100" kern="0" dirty="0">
                <a:solidFill>
                  <a:srgbClr val="8A7AB0"/>
                </a:solidFill>
                <a:latin typeface="맑은 고딕" pitchFamily="34" charset="0"/>
                <a:ea typeface="맑은 고딕" pitchFamily="34" charset="-122"/>
                <a:cs typeface="맑은 고딕" pitchFamily="34" charset="-120"/>
              </a:rPr>
              <a:t>코러스 / 뮤지컬 배우</a:t>
            </a:r>
            <a:endParaRPr lang="en-US" sz="1500" dirty="0"/>
          </a:p>
        </p:txBody>
      </p:sp>
      <p:sp>
        <p:nvSpPr>
          <p:cNvPr id="14" name="Text 12"/>
          <p:cNvSpPr/>
          <p:nvPr/>
        </p:nvSpPr>
        <p:spPr>
          <a:xfrm>
            <a:off x="8915400" y="2726182"/>
            <a:ext cx="2560320" cy="502920"/>
          </a:xfrm>
          <a:prstGeom prst="rect">
            <a:avLst/>
          </a:prstGeom>
          <a:noFill/>
          <a:ln/>
        </p:spPr>
        <p:txBody>
          <a:bodyPr wrap="square" rtlCol="0" anchor="ctr"/>
          <a:lstStyle/>
          <a:p>
            <a:pPr algn="r" indent="0" marL="0">
              <a:lnSpc>
                <a:spcPct val="130000"/>
              </a:lnSpc>
              <a:buNone/>
            </a:pPr>
            <a:r>
              <a:rPr lang="en-US" sz="850" dirty="0">
                <a:solidFill>
                  <a:srgbClr val="AAA8A0"/>
                </a:solidFill>
              </a:rPr>
              <a:t>2014 — 2016
</a:t>
            </a:r>
            <a:pPr algn="r" indent="0" marL="0">
              <a:lnSpc>
                <a:spcPct val="130000"/>
              </a:lnSpc>
              <a:buNone/>
            </a:pPr>
            <a:r>
              <a:rPr lang="en-US" sz="1200" dirty="0">
                <a:solidFill>
                  <a:srgbClr val="8A7AB0"/>
                </a:solidFill>
                <a:latin typeface="Cormorant Garamond" pitchFamily="34" charset="0"/>
                <a:ea typeface="Cormorant Garamond" pitchFamily="34" charset="-122"/>
                <a:cs typeface="Cormorant Garamond" pitchFamily="34" charset="-120"/>
              </a:rPr>
              <a:t>방송·공연</a:t>
            </a:r>
            <a:endParaRPr lang="en-US" sz="850" dirty="0"/>
          </a:p>
        </p:txBody>
      </p:sp>
      <p:sp>
        <p:nvSpPr>
          <p:cNvPr id="15" name="Text 13"/>
          <p:cNvSpPr/>
          <p:nvPr/>
        </p:nvSpPr>
        <p:spPr>
          <a:xfrm>
            <a:off x="2697480" y="3366262"/>
            <a:ext cx="8961120" cy="237744"/>
          </a:xfrm>
          <a:prstGeom prst="rect">
            <a:avLst/>
          </a:prstGeom>
          <a:noFill/>
          <a:ln/>
        </p:spPr>
        <p:txBody>
          <a:bodyPr wrap="square" rtlCol="0" anchor="t"/>
          <a:lstStyle/>
          <a:p>
            <a:pPr algn="l" indent="0" marL="0">
              <a:buNone/>
            </a:pPr>
            <a:r>
              <a:rPr lang="en-US" sz="1050" b="1" dirty="0">
                <a:solidFill>
                  <a:srgbClr val="8A7AB0"/>
                </a:solidFill>
                <a:latin typeface="맑은 고딕" pitchFamily="34" charset="0"/>
                <a:ea typeface="맑은 고딕" pitchFamily="34" charset="-122"/>
                <a:cs typeface="맑은 고딕" pitchFamily="34" charset="-120"/>
              </a:rPr>
              <a:t>방송·공연</a:t>
            </a:r>
            <a:endParaRPr lang="en-US" sz="1050" dirty="0"/>
          </a:p>
        </p:txBody>
      </p:sp>
      <p:sp>
        <p:nvSpPr>
          <p:cNvPr id="16" name="Shape 14"/>
          <p:cNvSpPr/>
          <p:nvPr/>
        </p:nvSpPr>
        <p:spPr>
          <a:xfrm>
            <a:off x="2697480" y="3604006"/>
            <a:ext cx="8961120" cy="0"/>
          </a:xfrm>
          <a:prstGeom prst="line">
            <a:avLst/>
          </a:prstGeom>
          <a:noFill/>
          <a:ln w="9525">
            <a:solidFill>
              <a:srgbClr val="8A7AB0">
                <a:alpha val="40000"/>
              </a:srgbClr>
            </a:solidFill>
            <a:prstDash val="solid"/>
          </a:ln>
        </p:spPr>
      </p:sp>
      <p:sp>
        <p:nvSpPr>
          <p:cNvPr id="17" name="Text 15"/>
          <p:cNvSpPr/>
          <p:nvPr/>
        </p:nvSpPr>
        <p:spPr>
          <a:xfrm>
            <a:off x="2697480" y="3695446"/>
            <a:ext cx="8961120" cy="177800"/>
          </a:xfrm>
          <a:prstGeom prst="rect">
            <a:avLst/>
          </a:prstGeom>
          <a:noFill/>
          <a:ln/>
        </p:spPr>
        <p:txBody>
          <a:bodyPr wrap="square" rtlCol="0" anchor="t"/>
          <a:lstStyle/>
          <a:p>
            <a:pPr algn="l" indent="0" marL="0">
              <a:lnSpc>
                <a:spcPct val="120000"/>
              </a:lnSpc>
              <a:buNone/>
            </a:pPr>
            <a:r>
              <a:rPr lang="en-US" sz="800" b="1" dirty="0">
                <a:solidFill>
                  <a:srgbClr val="8A7AB0"/>
                </a:solidFill>
                <a:latin typeface="맑은 고딕" pitchFamily="34" charset="0"/>
                <a:ea typeface="맑은 고딕" pitchFamily="34" charset="-122"/>
                <a:cs typeface="맑은 고딕" pitchFamily="34" charset="-120"/>
              </a:rPr>
              <a:t>✦  </a:t>
            </a:r>
            <a:pPr algn="l" indent="0" marL="0">
              <a:lnSpc>
                <a:spcPct val="120000"/>
              </a:lnSpc>
              <a:buNone/>
            </a:pPr>
            <a:r>
              <a:rPr lang="en-US" sz="800" b="1" dirty="0">
                <a:solidFill>
                  <a:srgbClr val="8A7AB0"/>
                </a:solidFill>
                <a:latin typeface="맑은 고딕" pitchFamily="34" charset="0"/>
                <a:ea typeface="맑은 고딕" pitchFamily="34" charset="-122"/>
                <a:cs typeface="맑은 고딕" pitchFamily="34" charset="-120"/>
              </a:rPr>
              <a:t>SBS·KBS 방송 코러스 및 가족 뮤지컬 공연 참여</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02 — 핵심역량 · 실무에서 직접 구축하고, 운영하며, 개선한 경험</a:t>
            </a:r>
            <a:endParaRPr lang="en-US" sz="1200" dirty="0"/>
          </a:p>
        </p:txBody>
      </p:sp>
      <p:sp>
        <p:nvSpPr>
          <p:cNvPr id="3" name="Shape 1"/>
          <p:cNvSpPr/>
          <p:nvPr/>
        </p:nvSpPr>
        <p:spPr>
          <a:xfrm>
            <a:off x="2697480" y="777240"/>
            <a:ext cx="8961120" cy="0"/>
          </a:xfrm>
          <a:prstGeom prst="line">
            <a:avLst/>
          </a:prstGeom>
          <a:noFill/>
          <a:ln w="9525">
            <a:solidFill>
              <a:srgbClr val="6B9A6B">
                <a:alpha val="30000"/>
              </a:srgbClr>
            </a:solidFill>
            <a:prstDash val="solid"/>
          </a:ln>
        </p:spPr>
      </p:sp>
      <p:sp>
        <p:nvSpPr>
          <p:cNvPr id="4" name="Shape 2"/>
          <p:cNvSpPr/>
          <p:nvPr/>
        </p:nvSpPr>
        <p:spPr>
          <a:xfrm>
            <a:off x="2697480" y="914400"/>
            <a:ext cx="8961120" cy="777240"/>
          </a:xfrm>
          <a:prstGeom prst="rect">
            <a:avLst/>
          </a:prstGeom>
          <a:solidFill>
            <a:srgbClr val="6B9A6B">
              <a:alpha val="8000"/>
            </a:srgbClr>
          </a:solidFill>
          <a:ln w="9525">
            <a:solidFill>
              <a:srgbClr val="6B9A6B">
                <a:alpha val="22000"/>
              </a:srgbClr>
            </a:solidFill>
            <a:prstDash val="solid"/>
          </a:ln>
        </p:spPr>
      </p:sp>
      <p:sp>
        <p:nvSpPr>
          <p:cNvPr id="5" name="Text 3"/>
          <p:cNvSpPr/>
          <p:nvPr/>
        </p:nvSpPr>
        <p:spPr>
          <a:xfrm>
            <a:off x="2926080" y="914400"/>
            <a:ext cx="8503920" cy="777240"/>
          </a:xfrm>
          <a:prstGeom prst="rect">
            <a:avLst/>
          </a:prstGeom>
          <a:noFill/>
          <a:ln/>
        </p:spPr>
        <p:txBody>
          <a:bodyPr wrap="square" rtlCol="0" anchor="ctr"/>
          <a:lstStyle/>
          <a:p>
            <a:pPr algn="ctr" indent="0" marL="0">
              <a:lnSpc>
                <a:spcPct val="150000"/>
              </a:lnSpc>
              <a:buNone/>
            </a:pPr>
            <a:r>
              <a:rPr lang="en-US" sz="1100" dirty="0">
                <a:solidFill>
                  <a:srgbClr val="4A4840"/>
                </a:solidFill>
                <a:latin typeface="Noto Serif KR" pitchFamily="34" charset="0"/>
                <a:ea typeface="Noto Serif KR" pitchFamily="34" charset="-122"/>
                <a:cs typeface="Noto Serif KR" pitchFamily="34" charset="-120"/>
              </a:rPr>
              <a:t>비개발자이지만 현장의 반복 업무와 불편을 직접 관찰하고, Google 도구와 Apps Script·Python을 활용해 실무 자동화를 직접 구축하여 운영 개선을 수행해왔습니다.</a:t>
            </a:r>
            <a:endParaRPr lang="en-US" sz="1100" dirty="0"/>
          </a:p>
        </p:txBody>
      </p:sp>
      <p:sp>
        <p:nvSpPr>
          <p:cNvPr id="6" name="Shape 4"/>
          <p:cNvSpPr/>
          <p:nvPr/>
        </p:nvSpPr>
        <p:spPr>
          <a:xfrm>
            <a:off x="2697480" y="1965960"/>
            <a:ext cx="2862072" cy="3108960"/>
          </a:xfrm>
          <a:prstGeom prst="rect">
            <a:avLst/>
          </a:prstGeom>
          <a:solidFill>
            <a:srgbClr val="FFFFFF"/>
          </a:solidFill>
          <a:ln w="12700">
            <a:solidFill>
              <a:srgbClr val="B07A6E">
                <a:alpha val="40000"/>
              </a:srgbClr>
            </a:solidFill>
            <a:prstDash val="solid"/>
          </a:ln>
        </p:spPr>
      </p:sp>
      <p:sp>
        <p:nvSpPr>
          <p:cNvPr id="7" name="Shape 5"/>
          <p:cNvSpPr/>
          <p:nvPr/>
        </p:nvSpPr>
        <p:spPr>
          <a:xfrm>
            <a:off x="2926080" y="2240280"/>
            <a:ext cx="36576" cy="457200"/>
          </a:xfrm>
          <a:prstGeom prst="rect">
            <a:avLst/>
          </a:prstGeom>
          <a:solidFill>
            <a:srgbClr val="B07A6E"/>
          </a:solidFill>
          <a:ln/>
        </p:spPr>
      </p:sp>
      <p:sp>
        <p:nvSpPr>
          <p:cNvPr id="8" name="Text 6"/>
          <p:cNvSpPr/>
          <p:nvPr/>
        </p:nvSpPr>
        <p:spPr>
          <a:xfrm>
            <a:off x="3063240" y="2194560"/>
            <a:ext cx="2313432" cy="548640"/>
          </a:xfrm>
          <a:prstGeom prst="rect">
            <a:avLst/>
          </a:prstGeom>
          <a:noFill/>
          <a:ln/>
        </p:spPr>
        <p:txBody>
          <a:bodyPr wrap="square" rtlCol="0" anchor="t"/>
          <a:lstStyle/>
          <a:p>
            <a:pPr algn="l" indent="0" marL="0">
              <a:lnSpc>
                <a:spcPct val="130000"/>
              </a:lnSpc>
              <a:buNone/>
            </a:pPr>
            <a:r>
              <a:rPr lang="en-US" sz="1150" dirty="0">
                <a:solidFill>
                  <a:srgbClr val="2C3028"/>
                </a:solidFill>
                <a:latin typeface="Noto Serif KR" pitchFamily="34" charset="0"/>
                <a:ea typeface="Noto Serif KR" pitchFamily="34" charset="-122"/>
                <a:cs typeface="Noto Serif KR" pitchFamily="34" charset="-120"/>
              </a:rPr>
              <a:t>🔄  사내 운영 프로세스 개선</a:t>
            </a:r>
            <a:endParaRPr lang="en-US" sz="1150" dirty="0"/>
          </a:p>
        </p:txBody>
      </p:sp>
      <p:sp>
        <p:nvSpPr>
          <p:cNvPr id="9" name="Text 7"/>
          <p:cNvSpPr/>
          <p:nvPr/>
        </p:nvSpPr>
        <p:spPr>
          <a:xfrm>
            <a:off x="2926080" y="2880360"/>
            <a:ext cx="2404872" cy="1005840"/>
          </a:xfrm>
          <a:prstGeom prst="rect">
            <a:avLst/>
          </a:prstGeom>
          <a:noFill/>
          <a:ln/>
        </p:spPr>
        <p:txBody>
          <a:bodyPr wrap="square" rtlCol="0" anchor="t"/>
          <a:lstStyle/>
          <a:p>
            <a:pPr algn="l" indent="0" marL="0">
              <a:lnSpc>
                <a:spcPct val="150000"/>
              </a:lnSpc>
              <a:buNone/>
            </a:pPr>
            <a:r>
              <a:rPr lang="en-US" sz="950" dirty="0">
                <a:solidFill>
                  <a:srgbClr val="6A6860"/>
                </a:solidFill>
                <a:latin typeface="맑은 고딕" pitchFamily="34" charset="0"/>
                <a:ea typeface="맑은 고딕" pitchFamily="34" charset="-122"/>
                <a:cs typeface="맑은 고딕" pitchFamily="34" charset="-120"/>
              </a:rPr>
              <a:t>반복 불편 요소를 파악하고 이용 흐름을 재설계해 운영 효율 개선</a:t>
            </a:r>
            <a:endParaRPr lang="en-US" sz="950" dirty="0"/>
          </a:p>
        </p:txBody>
      </p:sp>
      <p:sp>
        <p:nvSpPr>
          <p:cNvPr id="10" name="Shape 8"/>
          <p:cNvSpPr/>
          <p:nvPr/>
        </p:nvSpPr>
        <p:spPr>
          <a:xfrm>
            <a:off x="2926080" y="4343400"/>
            <a:ext cx="753466" cy="256032"/>
          </a:xfrm>
          <a:prstGeom prst="roundRect">
            <a:avLst>
              <a:gd name="adj" fmla="val 17857"/>
            </a:avLst>
          </a:prstGeom>
          <a:solidFill>
            <a:srgbClr val="FFFFFF"/>
          </a:solidFill>
          <a:ln w="9525">
            <a:solidFill>
              <a:srgbClr val="B07A6E"/>
            </a:solidFill>
            <a:prstDash val="solid"/>
          </a:ln>
        </p:spPr>
      </p:sp>
      <p:sp>
        <p:nvSpPr>
          <p:cNvPr id="11" name="Text 9"/>
          <p:cNvSpPr/>
          <p:nvPr/>
        </p:nvSpPr>
        <p:spPr>
          <a:xfrm>
            <a:off x="2926080" y="4343400"/>
            <a:ext cx="753466" cy="256032"/>
          </a:xfrm>
          <a:prstGeom prst="rect">
            <a:avLst/>
          </a:prstGeom>
          <a:noFill/>
          <a:ln/>
        </p:spPr>
        <p:txBody>
          <a:bodyPr wrap="square" rtlCol="0" anchor="ctr"/>
          <a:lstStyle/>
          <a:p>
            <a:pPr algn="ctr" indent="0" marL="0">
              <a:buNone/>
            </a:pPr>
            <a:r>
              <a:rPr lang="en-US" sz="800" dirty="0">
                <a:solidFill>
                  <a:srgbClr val="B07A6E"/>
                </a:solidFill>
                <a:latin typeface="맑은 고딕" pitchFamily="34" charset="0"/>
                <a:ea typeface="맑은 고딕" pitchFamily="34" charset="-122"/>
                <a:cs typeface="맑은 고딕" pitchFamily="34" charset="-120"/>
              </a:rPr>
              <a:t>사용자 중심</a:t>
            </a:r>
            <a:endParaRPr lang="en-US" sz="800" dirty="0"/>
          </a:p>
        </p:txBody>
      </p:sp>
      <p:sp>
        <p:nvSpPr>
          <p:cNvPr id="12" name="Shape 10"/>
          <p:cNvSpPr/>
          <p:nvPr/>
        </p:nvSpPr>
        <p:spPr>
          <a:xfrm>
            <a:off x="3770986" y="4343400"/>
            <a:ext cx="753466" cy="256032"/>
          </a:xfrm>
          <a:prstGeom prst="roundRect">
            <a:avLst>
              <a:gd name="adj" fmla="val 17857"/>
            </a:avLst>
          </a:prstGeom>
          <a:solidFill>
            <a:srgbClr val="FFFFFF"/>
          </a:solidFill>
          <a:ln w="9525">
            <a:solidFill>
              <a:srgbClr val="B07A6E"/>
            </a:solidFill>
            <a:prstDash val="solid"/>
          </a:ln>
        </p:spPr>
      </p:sp>
      <p:sp>
        <p:nvSpPr>
          <p:cNvPr id="13" name="Text 11"/>
          <p:cNvSpPr/>
          <p:nvPr/>
        </p:nvSpPr>
        <p:spPr>
          <a:xfrm>
            <a:off x="3770986" y="4343400"/>
            <a:ext cx="753466" cy="256032"/>
          </a:xfrm>
          <a:prstGeom prst="rect">
            <a:avLst/>
          </a:prstGeom>
          <a:noFill/>
          <a:ln/>
        </p:spPr>
        <p:txBody>
          <a:bodyPr wrap="square" rtlCol="0" anchor="ctr"/>
          <a:lstStyle/>
          <a:p>
            <a:pPr algn="ctr" indent="0" marL="0">
              <a:buNone/>
            </a:pPr>
            <a:r>
              <a:rPr lang="en-US" sz="800" dirty="0">
                <a:solidFill>
                  <a:srgbClr val="B07A6E"/>
                </a:solidFill>
                <a:latin typeface="맑은 고딕" pitchFamily="34" charset="0"/>
                <a:ea typeface="맑은 고딕" pitchFamily="34" charset="-122"/>
                <a:cs typeface="맑은 고딕" pitchFamily="34" charset="-120"/>
              </a:rPr>
              <a:t>온보딩·명함</a:t>
            </a:r>
            <a:endParaRPr lang="en-US" sz="800" dirty="0"/>
          </a:p>
        </p:txBody>
      </p:sp>
      <p:sp>
        <p:nvSpPr>
          <p:cNvPr id="14" name="Shape 12"/>
          <p:cNvSpPr/>
          <p:nvPr/>
        </p:nvSpPr>
        <p:spPr>
          <a:xfrm>
            <a:off x="2926080" y="4709160"/>
            <a:ext cx="907085" cy="256032"/>
          </a:xfrm>
          <a:prstGeom prst="roundRect">
            <a:avLst>
              <a:gd name="adj" fmla="val 17857"/>
            </a:avLst>
          </a:prstGeom>
          <a:solidFill>
            <a:srgbClr val="FFFFFF"/>
          </a:solidFill>
          <a:ln w="9525">
            <a:solidFill>
              <a:srgbClr val="B07A6E"/>
            </a:solidFill>
            <a:prstDash val="solid"/>
          </a:ln>
        </p:spPr>
      </p:sp>
      <p:sp>
        <p:nvSpPr>
          <p:cNvPr id="15" name="Text 13"/>
          <p:cNvSpPr/>
          <p:nvPr/>
        </p:nvSpPr>
        <p:spPr>
          <a:xfrm>
            <a:off x="2926080" y="4709160"/>
            <a:ext cx="907085" cy="256032"/>
          </a:xfrm>
          <a:prstGeom prst="rect">
            <a:avLst/>
          </a:prstGeom>
          <a:noFill/>
          <a:ln/>
        </p:spPr>
        <p:txBody>
          <a:bodyPr wrap="square" rtlCol="0" anchor="ctr"/>
          <a:lstStyle/>
          <a:p>
            <a:pPr algn="ctr" indent="0" marL="0">
              <a:buNone/>
            </a:pPr>
            <a:r>
              <a:rPr lang="en-US" sz="800" dirty="0">
                <a:solidFill>
                  <a:srgbClr val="B07A6E"/>
                </a:solidFill>
                <a:latin typeface="맑은 고딕" pitchFamily="34" charset="0"/>
                <a:ea typeface="맑은 고딕" pitchFamily="34" charset="-122"/>
                <a:cs typeface="맑은 고딕" pitchFamily="34" charset="-120"/>
              </a:rPr>
              <a:t>이용 흐름 개선</a:t>
            </a:r>
            <a:endParaRPr lang="en-US" sz="800" dirty="0"/>
          </a:p>
        </p:txBody>
      </p:sp>
      <p:sp>
        <p:nvSpPr>
          <p:cNvPr id="16" name="Shape 14"/>
          <p:cNvSpPr/>
          <p:nvPr/>
        </p:nvSpPr>
        <p:spPr>
          <a:xfrm>
            <a:off x="3924605" y="4709160"/>
            <a:ext cx="753466" cy="256032"/>
          </a:xfrm>
          <a:prstGeom prst="roundRect">
            <a:avLst>
              <a:gd name="adj" fmla="val 17857"/>
            </a:avLst>
          </a:prstGeom>
          <a:solidFill>
            <a:srgbClr val="FFFFFF"/>
          </a:solidFill>
          <a:ln w="9525">
            <a:solidFill>
              <a:srgbClr val="B07A6E"/>
            </a:solidFill>
            <a:prstDash val="solid"/>
          </a:ln>
        </p:spPr>
      </p:sp>
      <p:sp>
        <p:nvSpPr>
          <p:cNvPr id="17" name="Text 15"/>
          <p:cNvSpPr/>
          <p:nvPr/>
        </p:nvSpPr>
        <p:spPr>
          <a:xfrm>
            <a:off x="3924605" y="4709160"/>
            <a:ext cx="753466" cy="256032"/>
          </a:xfrm>
          <a:prstGeom prst="rect">
            <a:avLst/>
          </a:prstGeom>
          <a:noFill/>
          <a:ln/>
        </p:spPr>
        <p:txBody>
          <a:bodyPr wrap="square" rtlCol="0" anchor="ctr"/>
          <a:lstStyle/>
          <a:p>
            <a:pPr algn="ctr" indent="0" marL="0">
              <a:buNone/>
            </a:pPr>
            <a:r>
              <a:rPr lang="en-US" sz="800" dirty="0">
                <a:solidFill>
                  <a:srgbClr val="B07A6E"/>
                </a:solidFill>
                <a:latin typeface="맑은 고딕" pitchFamily="34" charset="0"/>
                <a:ea typeface="맑은 고딕" pitchFamily="34" charset="-122"/>
                <a:cs typeface="맑은 고딕" pitchFamily="34" charset="-120"/>
              </a:rPr>
              <a:t>운영 효율화</a:t>
            </a:r>
            <a:endParaRPr lang="en-US" sz="800" dirty="0"/>
          </a:p>
        </p:txBody>
      </p:sp>
      <p:sp>
        <p:nvSpPr>
          <p:cNvPr id="18" name="Shape 16"/>
          <p:cNvSpPr/>
          <p:nvPr/>
        </p:nvSpPr>
        <p:spPr>
          <a:xfrm>
            <a:off x="5742432" y="1965960"/>
            <a:ext cx="2862072" cy="3108960"/>
          </a:xfrm>
          <a:prstGeom prst="rect">
            <a:avLst/>
          </a:prstGeom>
          <a:solidFill>
            <a:srgbClr val="FFFFFF"/>
          </a:solidFill>
          <a:ln w="12700">
            <a:solidFill>
              <a:srgbClr val="7A8FAB">
                <a:alpha val="40000"/>
              </a:srgbClr>
            </a:solidFill>
            <a:prstDash val="solid"/>
          </a:ln>
        </p:spPr>
      </p:sp>
      <p:sp>
        <p:nvSpPr>
          <p:cNvPr id="19" name="Shape 17"/>
          <p:cNvSpPr/>
          <p:nvPr/>
        </p:nvSpPr>
        <p:spPr>
          <a:xfrm>
            <a:off x="5971032" y="2240280"/>
            <a:ext cx="36576" cy="457200"/>
          </a:xfrm>
          <a:prstGeom prst="rect">
            <a:avLst/>
          </a:prstGeom>
          <a:solidFill>
            <a:srgbClr val="7A8FAB"/>
          </a:solidFill>
          <a:ln/>
        </p:spPr>
      </p:sp>
      <p:sp>
        <p:nvSpPr>
          <p:cNvPr id="20" name="Text 18"/>
          <p:cNvSpPr/>
          <p:nvPr/>
        </p:nvSpPr>
        <p:spPr>
          <a:xfrm>
            <a:off x="6108192" y="2194560"/>
            <a:ext cx="2313432" cy="548640"/>
          </a:xfrm>
          <a:prstGeom prst="rect">
            <a:avLst/>
          </a:prstGeom>
          <a:noFill/>
          <a:ln/>
        </p:spPr>
        <p:txBody>
          <a:bodyPr wrap="square" rtlCol="0" anchor="t"/>
          <a:lstStyle/>
          <a:p>
            <a:pPr algn="l" indent="0" marL="0">
              <a:lnSpc>
                <a:spcPct val="130000"/>
              </a:lnSpc>
              <a:buNone/>
            </a:pPr>
            <a:r>
              <a:rPr lang="en-US" sz="1150" dirty="0">
                <a:solidFill>
                  <a:srgbClr val="2C3028"/>
                </a:solidFill>
                <a:latin typeface="Noto Serif KR" pitchFamily="34" charset="0"/>
                <a:ea typeface="Noto Serif KR" pitchFamily="34" charset="-122"/>
                <a:cs typeface="Noto Serif KR" pitchFamily="34" charset="-120"/>
              </a:rPr>
              <a:t>📋  운영 구조화·문서화</a:t>
            </a:r>
            <a:endParaRPr lang="en-US" sz="1150" dirty="0"/>
          </a:p>
        </p:txBody>
      </p:sp>
      <p:sp>
        <p:nvSpPr>
          <p:cNvPr id="21" name="Text 19"/>
          <p:cNvSpPr/>
          <p:nvPr/>
        </p:nvSpPr>
        <p:spPr>
          <a:xfrm>
            <a:off x="5971032" y="2880360"/>
            <a:ext cx="2404872" cy="1005840"/>
          </a:xfrm>
          <a:prstGeom prst="rect">
            <a:avLst/>
          </a:prstGeom>
          <a:noFill/>
          <a:ln/>
        </p:spPr>
        <p:txBody>
          <a:bodyPr wrap="square" rtlCol="0" anchor="t"/>
          <a:lstStyle/>
          <a:p>
            <a:pPr algn="l" indent="0" marL="0">
              <a:lnSpc>
                <a:spcPct val="150000"/>
              </a:lnSpc>
              <a:buNone/>
            </a:pPr>
            <a:r>
              <a:rPr lang="en-US" sz="950" dirty="0">
                <a:solidFill>
                  <a:srgbClr val="6A6860"/>
                </a:solidFill>
                <a:latin typeface="맑은 고딕" pitchFamily="34" charset="0"/>
                <a:ea typeface="맑은 고딕" pitchFamily="34" charset="-122"/>
                <a:cs typeface="맑은 고딕" pitchFamily="34" charset="-120"/>
              </a:rPr>
              <a:t>반복 업무를 프로세스로 정리하고 관리 기준을 만들어 운영 체계 구축</a:t>
            </a:r>
            <a:endParaRPr lang="en-US" sz="950" dirty="0"/>
          </a:p>
        </p:txBody>
      </p:sp>
      <p:sp>
        <p:nvSpPr>
          <p:cNvPr id="22" name="Shape 20"/>
          <p:cNvSpPr/>
          <p:nvPr/>
        </p:nvSpPr>
        <p:spPr>
          <a:xfrm>
            <a:off x="5971032" y="4343400"/>
            <a:ext cx="830275" cy="256032"/>
          </a:xfrm>
          <a:prstGeom prst="roundRect">
            <a:avLst>
              <a:gd name="adj" fmla="val 17857"/>
            </a:avLst>
          </a:prstGeom>
          <a:solidFill>
            <a:srgbClr val="FFFFFF"/>
          </a:solidFill>
          <a:ln w="9525">
            <a:solidFill>
              <a:srgbClr val="7A8FAB"/>
            </a:solidFill>
            <a:prstDash val="solid"/>
          </a:ln>
        </p:spPr>
      </p:sp>
      <p:sp>
        <p:nvSpPr>
          <p:cNvPr id="23" name="Text 21"/>
          <p:cNvSpPr/>
          <p:nvPr/>
        </p:nvSpPr>
        <p:spPr>
          <a:xfrm>
            <a:off x="5971032" y="4343400"/>
            <a:ext cx="830275" cy="256032"/>
          </a:xfrm>
          <a:prstGeom prst="rect">
            <a:avLst/>
          </a:prstGeom>
          <a:noFill/>
          <a:ln/>
        </p:spPr>
        <p:txBody>
          <a:bodyPr wrap="square" rtlCol="0" anchor="ctr"/>
          <a:lstStyle/>
          <a:p>
            <a:pPr algn="ctr" indent="0" marL="0">
              <a:buNone/>
            </a:pPr>
            <a:r>
              <a:rPr lang="en-US" sz="800" dirty="0">
                <a:solidFill>
                  <a:srgbClr val="7A8FAB"/>
                </a:solidFill>
                <a:latin typeface="맑은 고딕" pitchFamily="34" charset="0"/>
                <a:ea typeface="맑은 고딕" pitchFamily="34" charset="-122"/>
                <a:cs typeface="맑은 고딕" pitchFamily="34" charset="-120"/>
              </a:rPr>
              <a:t>프로세스 정비</a:t>
            </a:r>
            <a:endParaRPr lang="en-US" sz="800" dirty="0"/>
          </a:p>
        </p:txBody>
      </p:sp>
      <p:sp>
        <p:nvSpPr>
          <p:cNvPr id="24" name="Shape 22"/>
          <p:cNvSpPr/>
          <p:nvPr/>
        </p:nvSpPr>
        <p:spPr>
          <a:xfrm>
            <a:off x="6892747" y="4343400"/>
            <a:ext cx="523037" cy="256032"/>
          </a:xfrm>
          <a:prstGeom prst="roundRect">
            <a:avLst>
              <a:gd name="adj" fmla="val 17857"/>
            </a:avLst>
          </a:prstGeom>
          <a:solidFill>
            <a:srgbClr val="FFFFFF"/>
          </a:solidFill>
          <a:ln w="9525">
            <a:solidFill>
              <a:srgbClr val="7A8FAB"/>
            </a:solidFill>
            <a:prstDash val="solid"/>
          </a:ln>
        </p:spPr>
      </p:sp>
      <p:sp>
        <p:nvSpPr>
          <p:cNvPr id="25" name="Text 23"/>
          <p:cNvSpPr/>
          <p:nvPr/>
        </p:nvSpPr>
        <p:spPr>
          <a:xfrm>
            <a:off x="6892747" y="4343400"/>
            <a:ext cx="523037" cy="256032"/>
          </a:xfrm>
          <a:prstGeom prst="rect">
            <a:avLst/>
          </a:prstGeom>
          <a:noFill/>
          <a:ln/>
        </p:spPr>
        <p:txBody>
          <a:bodyPr wrap="square" rtlCol="0" anchor="ctr"/>
          <a:lstStyle/>
          <a:p>
            <a:pPr algn="ctr" indent="0" marL="0">
              <a:buNone/>
            </a:pPr>
            <a:r>
              <a:rPr lang="en-US" sz="800" dirty="0">
                <a:solidFill>
                  <a:srgbClr val="7A8FAB"/>
                </a:solidFill>
                <a:latin typeface="맑은 고딕" pitchFamily="34" charset="0"/>
                <a:ea typeface="맑은 고딕" pitchFamily="34" charset="-122"/>
                <a:cs typeface="맑은 고딕" pitchFamily="34" charset="-120"/>
              </a:rPr>
              <a:t>문서화</a:t>
            </a:r>
            <a:endParaRPr lang="en-US" sz="800" dirty="0"/>
          </a:p>
        </p:txBody>
      </p:sp>
      <p:sp>
        <p:nvSpPr>
          <p:cNvPr id="26" name="Shape 24"/>
          <p:cNvSpPr/>
          <p:nvPr/>
        </p:nvSpPr>
        <p:spPr>
          <a:xfrm>
            <a:off x="7507224" y="4343400"/>
            <a:ext cx="676656" cy="256032"/>
          </a:xfrm>
          <a:prstGeom prst="roundRect">
            <a:avLst>
              <a:gd name="adj" fmla="val 17857"/>
            </a:avLst>
          </a:prstGeom>
          <a:solidFill>
            <a:srgbClr val="FFFFFF"/>
          </a:solidFill>
          <a:ln w="9525">
            <a:solidFill>
              <a:srgbClr val="7A8FAB"/>
            </a:solidFill>
            <a:prstDash val="solid"/>
          </a:ln>
        </p:spPr>
      </p:sp>
      <p:sp>
        <p:nvSpPr>
          <p:cNvPr id="27" name="Text 25"/>
          <p:cNvSpPr/>
          <p:nvPr/>
        </p:nvSpPr>
        <p:spPr>
          <a:xfrm>
            <a:off x="7507224" y="4343400"/>
            <a:ext cx="676656" cy="256032"/>
          </a:xfrm>
          <a:prstGeom prst="rect">
            <a:avLst/>
          </a:prstGeom>
          <a:noFill/>
          <a:ln/>
        </p:spPr>
        <p:txBody>
          <a:bodyPr wrap="square" rtlCol="0" anchor="ctr"/>
          <a:lstStyle/>
          <a:p>
            <a:pPr algn="ctr" indent="0" marL="0">
              <a:buNone/>
            </a:pPr>
            <a:r>
              <a:rPr lang="en-US" sz="800" dirty="0">
                <a:solidFill>
                  <a:srgbClr val="7A8FAB"/>
                </a:solidFill>
                <a:latin typeface="맑은 고딕" pitchFamily="34" charset="0"/>
                <a:ea typeface="맑은 고딕" pitchFamily="34" charset="-122"/>
                <a:cs typeface="맑은 고딕" pitchFamily="34" charset="-120"/>
              </a:rPr>
              <a:t>운영 체계</a:t>
            </a:r>
            <a:endParaRPr lang="en-US" sz="800" dirty="0"/>
          </a:p>
        </p:txBody>
      </p:sp>
      <p:sp>
        <p:nvSpPr>
          <p:cNvPr id="28" name="Shape 26"/>
          <p:cNvSpPr/>
          <p:nvPr/>
        </p:nvSpPr>
        <p:spPr>
          <a:xfrm>
            <a:off x="5971032" y="4709160"/>
            <a:ext cx="599846" cy="256032"/>
          </a:xfrm>
          <a:prstGeom prst="roundRect">
            <a:avLst>
              <a:gd name="adj" fmla="val 17857"/>
            </a:avLst>
          </a:prstGeom>
          <a:solidFill>
            <a:srgbClr val="FFFFFF"/>
          </a:solidFill>
          <a:ln w="9525">
            <a:solidFill>
              <a:srgbClr val="7A8FAB"/>
            </a:solidFill>
            <a:prstDash val="solid"/>
          </a:ln>
        </p:spPr>
      </p:sp>
      <p:sp>
        <p:nvSpPr>
          <p:cNvPr id="29" name="Text 27"/>
          <p:cNvSpPr/>
          <p:nvPr/>
        </p:nvSpPr>
        <p:spPr>
          <a:xfrm>
            <a:off x="5971032" y="4709160"/>
            <a:ext cx="599846" cy="256032"/>
          </a:xfrm>
          <a:prstGeom prst="rect">
            <a:avLst/>
          </a:prstGeom>
          <a:noFill/>
          <a:ln/>
        </p:spPr>
        <p:txBody>
          <a:bodyPr wrap="square" rtlCol="0" anchor="ctr"/>
          <a:lstStyle/>
          <a:p>
            <a:pPr algn="ctr" indent="0" marL="0">
              <a:buNone/>
            </a:pPr>
            <a:r>
              <a:rPr lang="en-US" sz="800" dirty="0">
                <a:solidFill>
                  <a:srgbClr val="7A8FAB"/>
                </a:solidFill>
                <a:latin typeface="맑은 고딕" pitchFamily="34" charset="0"/>
                <a:ea typeface="맑은 고딕" pitchFamily="34" charset="-122"/>
                <a:cs typeface="맑은 고딕" pitchFamily="34" charset="-120"/>
              </a:rPr>
              <a:t>인수인계</a:t>
            </a:r>
            <a:endParaRPr lang="en-US" sz="800" dirty="0"/>
          </a:p>
        </p:txBody>
      </p:sp>
      <p:sp>
        <p:nvSpPr>
          <p:cNvPr id="30" name="Shape 28"/>
          <p:cNvSpPr/>
          <p:nvPr/>
        </p:nvSpPr>
        <p:spPr>
          <a:xfrm>
            <a:off x="8787384" y="1965960"/>
            <a:ext cx="2862072" cy="3108960"/>
          </a:xfrm>
          <a:prstGeom prst="rect">
            <a:avLst/>
          </a:prstGeom>
          <a:solidFill>
            <a:srgbClr val="FFFFFF"/>
          </a:solidFill>
          <a:ln w="12700">
            <a:solidFill>
              <a:srgbClr val="6B9A6B">
                <a:alpha val="40000"/>
              </a:srgbClr>
            </a:solidFill>
            <a:prstDash val="solid"/>
          </a:ln>
        </p:spPr>
      </p:sp>
      <p:sp>
        <p:nvSpPr>
          <p:cNvPr id="31" name="Shape 29"/>
          <p:cNvSpPr/>
          <p:nvPr/>
        </p:nvSpPr>
        <p:spPr>
          <a:xfrm>
            <a:off x="9015984" y="2240280"/>
            <a:ext cx="36576" cy="457200"/>
          </a:xfrm>
          <a:prstGeom prst="rect">
            <a:avLst/>
          </a:prstGeom>
          <a:solidFill>
            <a:srgbClr val="6B9A6B"/>
          </a:solidFill>
          <a:ln/>
        </p:spPr>
      </p:sp>
      <p:sp>
        <p:nvSpPr>
          <p:cNvPr id="32" name="Text 30"/>
          <p:cNvSpPr/>
          <p:nvPr/>
        </p:nvSpPr>
        <p:spPr>
          <a:xfrm>
            <a:off x="9153144" y="2194560"/>
            <a:ext cx="2313432" cy="548640"/>
          </a:xfrm>
          <a:prstGeom prst="rect">
            <a:avLst/>
          </a:prstGeom>
          <a:noFill/>
          <a:ln/>
        </p:spPr>
        <p:txBody>
          <a:bodyPr wrap="square" rtlCol="0" anchor="t"/>
          <a:lstStyle/>
          <a:p>
            <a:pPr algn="l" indent="0" marL="0">
              <a:lnSpc>
                <a:spcPct val="130000"/>
              </a:lnSpc>
              <a:buNone/>
            </a:pPr>
            <a:r>
              <a:rPr lang="en-US" sz="1150" dirty="0">
                <a:solidFill>
                  <a:srgbClr val="2C3028"/>
                </a:solidFill>
                <a:latin typeface="Noto Serif KR" pitchFamily="34" charset="0"/>
                <a:ea typeface="Noto Serif KR" pitchFamily="34" charset="-122"/>
                <a:cs typeface="Noto Serif KR" pitchFamily="34" charset="-120"/>
              </a:rPr>
              <a:t>🛠️  Google Workspace 업무 자동화</a:t>
            </a:r>
            <a:endParaRPr lang="en-US" sz="1150" dirty="0"/>
          </a:p>
        </p:txBody>
      </p:sp>
      <p:sp>
        <p:nvSpPr>
          <p:cNvPr id="33" name="Text 31"/>
          <p:cNvSpPr/>
          <p:nvPr/>
        </p:nvSpPr>
        <p:spPr>
          <a:xfrm>
            <a:off x="9015984" y="2880360"/>
            <a:ext cx="2404872" cy="1005840"/>
          </a:xfrm>
          <a:prstGeom prst="rect">
            <a:avLst/>
          </a:prstGeom>
          <a:noFill/>
          <a:ln/>
        </p:spPr>
        <p:txBody>
          <a:bodyPr wrap="square" rtlCol="0" anchor="t"/>
          <a:lstStyle/>
          <a:p>
            <a:pPr algn="l" indent="0" marL="0">
              <a:lnSpc>
                <a:spcPct val="150000"/>
              </a:lnSpc>
              <a:buNone/>
            </a:pPr>
            <a:r>
              <a:rPr lang="en-US" sz="950" dirty="0">
                <a:solidFill>
                  <a:srgbClr val="6A6860"/>
                </a:solidFill>
                <a:latin typeface="맑은 고딕" pitchFamily="34" charset="0"/>
                <a:ea typeface="맑은 고딕" pitchFamily="34" charset="-122"/>
                <a:cs typeface="맑은 고딕" pitchFamily="34" charset="-120"/>
              </a:rPr>
              <a:t>Forms·Sheets·Apps Script 연동으로 실무 자동화 직접 구축, AI 도구 병행 활용</a:t>
            </a:r>
            <a:endParaRPr lang="en-US" sz="950" dirty="0"/>
          </a:p>
        </p:txBody>
      </p:sp>
      <p:sp>
        <p:nvSpPr>
          <p:cNvPr id="34" name="Shape 32"/>
          <p:cNvSpPr/>
          <p:nvPr/>
        </p:nvSpPr>
        <p:spPr>
          <a:xfrm>
            <a:off x="9015984" y="4343400"/>
            <a:ext cx="1521562" cy="256032"/>
          </a:xfrm>
          <a:prstGeom prst="roundRect">
            <a:avLst>
              <a:gd name="adj" fmla="val 17857"/>
            </a:avLst>
          </a:prstGeom>
          <a:solidFill>
            <a:srgbClr val="FFFFFF"/>
          </a:solidFill>
          <a:ln w="9525">
            <a:solidFill>
              <a:srgbClr val="6B9A6B"/>
            </a:solidFill>
            <a:prstDash val="solid"/>
          </a:ln>
        </p:spPr>
      </p:sp>
      <p:sp>
        <p:nvSpPr>
          <p:cNvPr id="35" name="Text 33"/>
          <p:cNvSpPr/>
          <p:nvPr/>
        </p:nvSpPr>
        <p:spPr>
          <a:xfrm>
            <a:off x="9015984" y="4343400"/>
            <a:ext cx="1521562" cy="256032"/>
          </a:xfrm>
          <a:prstGeom prst="rect">
            <a:avLst/>
          </a:prstGeom>
          <a:noFill/>
          <a:ln/>
        </p:spPr>
        <p:txBody>
          <a:bodyPr wrap="square" rtlCol="0" anchor="ctr"/>
          <a:lstStyle/>
          <a:p>
            <a:pPr algn="ctr" indent="0" marL="0">
              <a:buNone/>
            </a:pPr>
            <a:r>
              <a:rPr lang="en-US" sz="800" dirty="0">
                <a:solidFill>
                  <a:srgbClr val="6B9A6B"/>
                </a:solidFill>
                <a:latin typeface="맑은 고딕" pitchFamily="34" charset="0"/>
                <a:ea typeface="맑은 고딕" pitchFamily="34" charset="-122"/>
                <a:cs typeface="맑은 고딕" pitchFamily="34" charset="-120"/>
              </a:rPr>
              <a:t>Google Workspace</a:t>
            </a:r>
            <a:endParaRPr lang="en-US" sz="800" dirty="0"/>
          </a:p>
        </p:txBody>
      </p:sp>
      <p:sp>
        <p:nvSpPr>
          <p:cNvPr id="36" name="Shape 34"/>
          <p:cNvSpPr/>
          <p:nvPr/>
        </p:nvSpPr>
        <p:spPr>
          <a:xfrm>
            <a:off x="9015984" y="4709160"/>
            <a:ext cx="1137514" cy="256032"/>
          </a:xfrm>
          <a:prstGeom prst="roundRect">
            <a:avLst>
              <a:gd name="adj" fmla="val 17857"/>
            </a:avLst>
          </a:prstGeom>
          <a:solidFill>
            <a:srgbClr val="FFFFFF"/>
          </a:solidFill>
          <a:ln w="9525">
            <a:solidFill>
              <a:srgbClr val="6B9A6B"/>
            </a:solidFill>
            <a:prstDash val="solid"/>
          </a:ln>
        </p:spPr>
      </p:sp>
      <p:sp>
        <p:nvSpPr>
          <p:cNvPr id="37" name="Text 35"/>
          <p:cNvSpPr/>
          <p:nvPr/>
        </p:nvSpPr>
        <p:spPr>
          <a:xfrm>
            <a:off x="9015984" y="4709160"/>
            <a:ext cx="1137514" cy="256032"/>
          </a:xfrm>
          <a:prstGeom prst="rect">
            <a:avLst/>
          </a:prstGeom>
          <a:noFill/>
          <a:ln/>
        </p:spPr>
        <p:txBody>
          <a:bodyPr wrap="square" rtlCol="0" anchor="ctr"/>
          <a:lstStyle/>
          <a:p>
            <a:pPr algn="ctr" indent="0" marL="0">
              <a:buNone/>
            </a:pPr>
            <a:r>
              <a:rPr lang="en-US" sz="800" dirty="0">
                <a:solidFill>
                  <a:srgbClr val="6B9A6B"/>
                </a:solidFill>
                <a:latin typeface="맑은 고딕" pitchFamily="34" charset="0"/>
                <a:ea typeface="맑은 고딕" pitchFamily="34" charset="-122"/>
                <a:cs typeface="맑은 고딕" pitchFamily="34" charset="-120"/>
              </a:rPr>
              <a:t>Apps Script</a:t>
            </a:r>
            <a:endParaRPr lang="en-US" sz="800" dirty="0"/>
          </a:p>
        </p:txBody>
      </p:sp>
      <p:sp>
        <p:nvSpPr>
          <p:cNvPr id="38" name="Shape 36"/>
          <p:cNvSpPr/>
          <p:nvPr/>
        </p:nvSpPr>
        <p:spPr>
          <a:xfrm>
            <a:off x="10244938" y="4709160"/>
            <a:ext cx="753466" cy="256032"/>
          </a:xfrm>
          <a:prstGeom prst="roundRect">
            <a:avLst>
              <a:gd name="adj" fmla="val 17857"/>
            </a:avLst>
          </a:prstGeom>
          <a:solidFill>
            <a:srgbClr val="FFFFFF"/>
          </a:solidFill>
          <a:ln w="9525">
            <a:solidFill>
              <a:srgbClr val="6B9A6B"/>
            </a:solidFill>
            <a:prstDash val="solid"/>
          </a:ln>
        </p:spPr>
      </p:sp>
      <p:sp>
        <p:nvSpPr>
          <p:cNvPr id="39" name="Text 37"/>
          <p:cNvSpPr/>
          <p:nvPr/>
        </p:nvSpPr>
        <p:spPr>
          <a:xfrm>
            <a:off x="10244938" y="4709160"/>
            <a:ext cx="753466" cy="256032"/>
          </a:xfrm>
          <a:prstGeom prst="rect">
            <a:avLst/>
          </a:prstGeom>
          <a:noFill/>
          <a:ln/>
        </p:spPr>
        <p:txBody>
          <a:bodyPr wrap="square" rtlCol="0" anchor="ctr"/>
          <a:lstStyle/>
          <a:p>
            <a:pPr algn="ctr" indent="0" marL="0">
              <a:buNone/>
            </a:pPr>
            <a:r>
              <a:rPr lang="en-US" sz="800" dirty="0">
                <a:solidFill>
                  <a:srgbClr val="6B9A6B"/>
                </a:solidFill>
                <a:latin typeface="맑은 고딕" pitchFamily="34" charset="0"/>
                <a:ea typeface="맑은 고딕" pitchFamily="34" charset="-122"/>
                <a:cs typeface="맑은 고딕" pitchFamily="34" charset="-120"/>
              </a:rPr>
              <a:t>자동화 구축</a:t>
            </a:r>
            <a:endParaRPr lang="en-US" sz="800" dirty="0"/>
          </a:p>
        </p:txBody>
      </p:sp>
      <p:sp>
        <p:nvSpPr>
          <p:cNvPr id="40" name="Shape 38"/>
          <p:cNvSpPr/>
          <p:nvPr/>
        </p:nvSpPr>
        <p:spPr>
          <a:xfrm>
            <a:off x="9015984" y="5074920"/>
            <a:ext cx="676656" cy="256032"/>
          </a:xfrm>
          <a:prstGeom prst="roundRect">
            <a:avLst>
              <a:gd name="adj" fmla="val 17857"/>
            </a:avLst>
          </a:prstGeom>
          <a:solidFill>
            <a:srgbClr val="FFFFFF"/>
          </a:solidFill>
          <a:ln w="9525">
            <a:solidFill>
              <a:srgbClr val="6B9A6B"/>
            </a:solidFill>
            <a:prstDash val="solid"/>
          </a:ln>
        </p:spPr>
      </p:sp>
      <p:sp>
        <p:nvSpPr>
          <p:cNvPr id="41" name="Text 39"/>
          <p:cNvSpPr/>
          <p:nvPr/>
        </p:nvSpPr>
        <p:spPr>
          <a:xfrm>
            <a:off x="9015984" y="5074920"/>
            <a:ext cx="676656" cy="256032"/>
          </a:xfrm>
          <a:prstGeom prst="rect">
            <a:avLst/>
          </a:prstGeom>
          <a:noFill/>
          <a:ln/>
        </p:spPr>
        <p:txBody>
          <a:bodyPr wrap="square" rtlCol="0" anchor="ctr"/>
          <a:lstStyle/>
          <a:p>
            <a:pPr algn="ctr" indent="0" marL="0">
              <a:buNone/>
            </a:pPr>
            <a:r>
              <a:rPr lang="en-US" sz="800" dirty="0">
                <a:solidFill>
                  <a:srgbClr val="6B9A6B"/>
                </a:solidFill>
                <a:latin typeface="맑은 고딕" pitchFamily="34" charset="0"/>
                <a:ea typeface="맑은 고딕" pitchFamily="34" charset="-122"/>
                <a:cs typeface="맑은 고딕" pitchFamily="34" charset="-120"/>
              </a:rPr>
              <a:t>AI 활용</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03 — Skills &amp; Certificates</a:t>
            </a:r>
            <a:endParaRPr lang="en-US" sz="1200" dirty="0"/>
          </a:p>
        </p:txBody>
      </p:sp>
      <p:sp>
        <p:nvSpPr>
          <p:cNvPr id="3" name="Shape 1"/>
          <p:cNvSpPr/>
          <p:nvPr/>
        </p:nvSpPr>
        <p:spPr>
          <a:xfrm>
            <a:off x="2697480" y="777240"/>
            <a:ext cx="8961120" cy="0"/>
          </a:xfrm>
          <a:prstGeom prst="line">
            <a:avLst/>
          </a:prstGeom>
          <a:noFill/>
          <a:ln w="9525">
            <a:solidFill>
              <a:srgbClr val="6B9A6B">
                <a:alpha val="30000"/>
              </a:srgbClr>
            </a:solidFill>
            <a:prstDash val="solid"/>
          </a:ln>
        </p:spPr>
      </p:sp>
      <p:sp>
        <p:nvSpPr>
          <p:cNvPr id="4" name="Shape 2"/>
          <p:cNvSpPr/>
          <p:nvPr/>
        </p:nvSpPr>
        <p:spPr>
          <a:xfrm>
            <a:off x="2697480" y="914400"/>
            <a:ext cx="320040" cy="36576"/>
          </a:xfrm>
          <a:prstGeom prst="rect">
            <a:avLst/>
          </a:prstGeom>
          <a:solidFill>
            <a:srgbClr val="B07A6E"/>
          </a:solidFill>
          <a:ln/>
        </p:spPr>
      </p:sp>
      <p:sp>
        <p:nvSpPr>
          <p:cNvPr id="5" name="Text 3"/>
          <p:cNvSpPr/>
          <p:nvPr/>
        </p:nvSpPr>
        <p:spPr>
          <a:xfrm>
            <a:off x="3108960" y="822960"/>
            <a:ext cx="5486400" cy="219456"/>
          </a:xfrm>
          <a:prstGeom prst="rect">
            <a:avLst/>
          </a:prstGeom>
          <a:noFill/>
          <a:ln/>
        </p:spPr>
        <p:txBody>
          <a:bodyPr wrap="square" rtlCol="0" anchor="t"/>
          <a:lstStyle/>
          <a:p>
            <a:pPr algn="l" indent="0" marL="0">
              <a:buNone/>
            </a:pPr>
            <a:r>
              <a:rPr lang="en-US" sz="900" b="1" spc="150" kern="0" dirty="0">
                <a:solidFill>
                  <a:srgbClr val="B07A6E"/>
                </a:solidFill>
                <a:latin typeface="맑은 고딕" pitchFamily="34" charset="0"/>
                <a:ea typeface="맑은 고딕" pitchFamily="34" charset="-122"/>
                <a:cs typeface="맑은 고딕" pitchFamily="34" charset="-120"/>
              </a:rPr>
              <a:t>Business · Admin</a:t>
            </a:r>
            <a:endParaRPr lang="en-US" sz="900" dirty="0"/>
          </a:p>
        </p:txBody>
      </p:sp>
      <p:sp>
        <p:nvSpPr>
          <p:cNvPr id="6" name="Shape 4"/>
          <p:cNvSpPr/>
          <p:nvPr/>
        </p:nvSpPr>
        <p:spPr>
          <a:xfrm>
            <a:off x="2697480" y="1207008"/>
            <a:ext cx="1675181" cy="274320"/>
          </a:xfrm>
          <a:prstGeom prst="roundRect">
            <a:avLst>
              <a:gd name="adj" fmla="val 16667"/>
            </a:avLst>
          </a:prstGeom>
          <a:solidFill>
            <a:srgbClr val="FDF3F1"/>
          </a:solidFill>
          <a:ln w="9525">
            <a:solidFill>
              <a:srgbClr val="B07A6E"/>
            </a:solidFill>
            <a:prstDash val="solid"/>
          </a:ln>
        </p:spPr>
      </p:sp>
      <p:sp>
        <p:nvSpPr>
          <p:cNvPr id="7" name="Text 5"/>
          <p:cNvSpPr/>
          <p:nvPr/>
        </p:nvSpPr>
        <p:spPr>
          <a:xfrm>
            <a:off x="2697480" y="1207008"/>
            <a:ext cx="1675181" cy="274320"/>
          </a:xfrm>
          <a:prstGeom prst="rect">
            <a:avLst/>
          </a:prstGeom>
          <a:noFill/>
          <a:ln/>
        </p:spPr>
        <p:txBody>
          <a:bodyPr wrap="square" rtlCol="0" anchor="ctr"/>
          <a:lstStyle/>
          <a:p>
            <a:pPr algn="ctr" indent="0" marL="0">
              <a:buNone/>
            </a:pPr>
            <a:r>
              <a:rPr lang="en-US" sz="900" dirty="0">
                <a:solidFill>
                  <a:srgbClr val="B07A6E"/>
                </a:solidFill>
                <a:latin typeface="맑은 고딕" pitchFamily="34" charset="0"/>
                <a:ea typeface="맑은 고딕" pitchFamily="34" charset="-122"/>
                <a:cs typeface="맑은 고딕" pitchFamily="34" charset="-120"/>
              </a:rPr>
              <a:t>오피스 운영 및 업무환경 관리</a:t>
            </a:r>
            <a:endParaRPr lang="en-US" sz="900" dirty="0"/>
          </a:p>
        </p:txBody>
      </p:sp>
      <p:sp>
        <p:nvSpPr>
          <p:cNvPr id="8" name="Shape 6"/>
          <p:cNvSpPr/>
          <p:nvPr/>
        </p:nvSpPr>
        <p:spPr>
          <a:xfrm>
            <a:off x="4464101" y="1207008"/>
            <a:ext cx="2193646" cy="274320"/>
          </a:xfrm>
          <a:prstGeom prst="roundRect">
            <a:avLst>
              <a:gd name="adj" fmla="val 16667"/>
            </a:avLst>
          </a:prstGeom>
          <a:solidFill>
            <a:srgbClr val="FDF3F1"/>
          </a:solidFill>
          <a:ln w="9525">
            <a:solidFill>
              <a:srgbClr val="B07A6E"/>
            </a:solidFill>
            <a:prstDash val="solid"/>
          </a:ln>
        </p:spPr>
      </p:sp>
      <p:sp>
        <p:nvSpPr>
          <p:cNvPr id="9" name="Text 7"/>
          <p:cNvSpPr/>
          <p:nvPr/>
        </p:nvSpPr>
        <p:spPr>
          <a:xfrm>
            <a:off x="4464101" y="1207008"/>
            <a:ext cx="2193646" cy="274320"/>
          </a:xfrm>
          <a:prstGeom prst="rect">
            <a:avLst/>
          </a:prstGeom>
          <a:noFill/>
          <a:ln/>
        </p:spPr>
        <p:txBody>
          <a:bodyPr wrap="square" rtlCol="0" anchor="ctr"/>
          <a:lstStyle/>
          <a:p>
            <a:pPr algn="ctr" indent="0" marL="0">
              <a:buNone/>
            </a:pPr>
            <a:r>
              <a:rPr lang="en-US" sz="900" dirty="0">
                <a:solidFill>
                  <a:srgbClr val="B07A6E"/>
                </a:solidFill>
                <a:latin typeface="맑은 고딕" pitchFamily="34" charset="0"/>
                <a:ea typeface="맑은 고딕" pitchFamily="34" charset="-122"/>
                <a:cs typeface="맑은 고딕" pitchFamily="34" charset="-120"/>
              </a:rPr>
              <a:t>임원 비서·일정 관리 / 전사 운영 지원</a:t>
            </a:r>
            <a:endParaRPr lang="en-US" sz="900" dirty="0"/>
          </a:p>
        </p:txBody>
      </p:sp>
      <p:sp>
        <p:nvSpPr>
          <p:cNvPr id="10" name="Shape 8"/>
          <p:cNvSpPr/>
          <p:nvPr/>
        </p:nvSpPr>
        <p:spPr>
          <a:xfrm>
            <a:off x="6749186" y="1207008"/>
            <a:ext cx="2712110" cy="274320"/>
          </a:xfrm>
          <a:prstGeom prst="roundRect">
            <a:avLst>
              <a:gd name="adj" fmla="val 16667"/>
            </a:avLst>
          </a:prstGeom>
          <a:solidFill>
            <a:srgbClr val="FDF3F1"/>
          </a:solidFill>
          <a:ln w="9525">
            <a:solidFill>
              <a:srgbClr val="B07A6E"/>
            </a:solidFill>
            <a:prstDash val="solid"/>
          </a:ln>
        </p:spPr>
      </p:sp>
      <p:sp>
        <p:nvSpPr>
          <p:cNvPr id="11" name="Text 9"/>
          <p:cNvSpPr/>
          <p:nvPr/>
        </p:nvSpPr>
        <p:spPr>
          <a:xfrm>
            <a:off x="6749186" y="1207008"/>
            <a:ext cx="2712110" cy="274320"/>
          </a:xfrm>
          <a:prstGeom prst="rect">
            <a:avLst/>
          </a:prstGeom>
          <a:noFill/>
          <a:ln/>
        </p:spPr>
        <p:txBody>
          <a:bodyPr wrap="square" rtlCol="0" anchor="ctr"/>
          <a:lstStyle/>
          <a:p>
            <a:pPr algn="ctr" indent="0" marL="0">
              <a:buNone/>
            </a:pPr>
            <a:r>
              <a:rPr lang="en-US" sz="900" dirty="0">
                <a:solidFill>
                  <a:srgbClr val="B07A6E"/>
                </a:solidFill>
                <a:latin typeface="맑은 고딕" pitchFamily="34" charset="0"/>
                <a:ea typeface="맑은 고딕" pitchFamily="34" charset="-122"/>
                <a:cs typeface="맑은 고딕" pitchFamily="34" charset="-120"/>
              </a:rPr>
              <a:t>복리후생·주재원 지원 / 인사총무·신입 온보딩 지원</a:t>
            </a:r>
            <a:endParaRPr lang="en-US" sz="900" dirty="0"/>
          </a:p>
        </p:txBody>
      </p:sp>
      <p:sp>
        <p:nvSpPr>
          <p:cNvPr id="12" name="Shape 10"/>
          <p:cNvSpPr/>
          <p:nvPr/>
        </p:nvSpPr>
        <p:spPr>
          <a:xfrm>
            <a:off x="9552737" y="1207008"/>
            <a:ext cx="983894" cy="274320"/>
          </a:xfrm>
          <a:prstGeom prst="roundRect">
            <a:avLst>
              <a:gd name="adj" fmla="val 16667"/>
            </a:avLst>
          </a:prstGeom>
          <a:solidFill>
            <a:srgbClr val="FDF3F1"/>
          </a:solidFill>
          <a:ln w="9525">
            <a:solidFill>
              <a:srgbClr val="B07A6E"/>
            </a:solidFill>
            <a:prstDash val="solid"/>
          </a:ln>
        </p:spPr>
      </p:sp>
      <p:sp>
        <p:nvSpPr>
          <p:cNvPr id="13" name="Text 11"/>
          <p:cNvSpPr/>
          <p:nvPr/>
        </p:nvSpPr>
        <p:spPr>
          <a:xfrm>
            <a:off x="9552737" y="1207008"/>
            <a:ext cx="983894" cy="274320"/>
          </a:xfrm>
          <a:prstGeom prst="rect">
            <a:avLst/>
          </a:prstGeom>
          <a:noFill/>
          <a:ln/>
        </p:spPr>
        <p:txBody>
          <a:bodyPr wrap="square" rtlCol="0" anchor="ctr"/>
          <a:lstStyle/>
          <a:p>
            <a:pPr algn="ctr" indent="0" marL="0">
              <a:buNone/>
            </a:pPr>
            <a:r>
              <a:rPr lang="en-US" sz="900" dirty="0">
                <a:solidFill>
                  <a:srgbClr val="B07A6E"/>
                </a:solidFill>
                <a:latin typeface="맑은 고딕" pitchFamily="34" charset="0"/>
                <a:ea typeface="맑은 고딕" pitchFamily="34" charset="-122"/>
                <a:cs typeface="맑은 고딕" pitchFamily="34" charset="-120"/>
              </a:rPr>
              <a:t>출장 관리·정산</a:t>
            </a:r>
            <a:endParaRPr lang="en-US" sz="900" dirty="0"/>
          </a:p>
        </p:txBody>
      </p:sp>
      <p:sp>
        <p:nvSpPr>
          <p:cNvPr id="14" name="Shape 12"/>
          <p:cNvSpPr/>
          <p:nvPr/>
        </p:nvSpPr>
        <p:spPr>
          <a:xfrm>
            <a:off x="2697480" y="1591056"/>
            <a:ext cx="1415948" cy="274320"/>
          </a:xfrm>
          <a:prstGeom prst="roundRect">
            <a:avLst>
              <a:gd name="adj" fmla="val 16667"/>
            </a:avLst>
          </a:prstGeom>
          <a:solidFill>
            <a:srgbClr val="FDF3F1"/>
          </a:solidFill>
          <a:ln w="9525">
            <a:solidFill>
              <a:srgbClr val="B07A6E"/>
            </a:solidFill>
            <a:prstDash val="solid"/>
          </a:ln>
        </p:spPr>
      </p:sp>
      <p:sp>
        <p:nvSpPr>
          <p:cNvPr id="15" name="Text 13"/>
          <p:cNvSpPr/>
          <p:nvPr/>
        </p:nvSpPr>
        <p:spPr>
          <a:xfrm>
            <a:off x="2697480" y="1591056"/>
            <a:ext cx="1415948" cy="274320"/>
          </a:xfrm>
          <a:prstGeom prst="rect">
            <a:avLst/>
          </a:prstGeom>
          <a:noFill/>
          <a:ln/>
        </p:spPr>
        <p:txBody>
          <a:bodyPr wrap="square" rtlCol="0" anchor="ctr"/>
          <a:lstStyle/>
          <a:p>
            <a:pPr algn="ctr" indent="0" marL="0">
              <a:buNone/>
            </a:pPr>
            <a:r>
              <a:rPr lang="en-US" sz="900" dirty="0">
                <a:solidFill>
                  <a:srgbClr val="B07A6E"/>
                </a:solidFill>
                <a:latin typeface="맑은 고딕" pitchFamily="34" charset="0"/>
                <a:ea typeface="맑은 고딕" pitchFamily="34" charset="-122"/>
                <a:cs typeface="맑은 고딕" pitchFamily="34" charset="-120"/>
              </a:rPr>
              <a:t>부서 간 조율·운영 대응</a:t>
            </a:r>
            <a:endParaRPr lang="en-US" sz="900" dirty="0"/>
          </a:p>
        </p:txBody>
      </p:sp>
      <p:sp>
        <p:nvSpPr>
          <p:cNvPr id="16" name="Shape 14"/>
          <p:cNvSpPr/>
          <p:nvPr/>
        </p:nvSpPr>
        <p:spPr>
          <a:xfrm>
            <a:off x="4204868" y="1591056"/>
            <a:ext cx="1675181" cy="274320"/>
          </a:xfrm>
          <a:prstGeom prst="roundRect">
            <a:avLst>
              <a:gd name="adj" fmla="val 16667"/>
            </a:avLst>
          </a:prstGeom>
          <a:solidFill>
            <a:srgbClr val="FDF3F1"/>
          </a:solidFill>
          <a:ln w="9525">
            <a:solidFill>
              <a:srgbClr val="B07A6E"/>
            </a:solidFill>
            <a:prstDash val="solid"/>
          </a:ln>
        </p:spPr>
      </p:sp>
      <p:sp>
        <p:nvSpPr>
          <p:cNvPr id="17" name="Text 15"/>
          <p:cNvSpPr/>
          <p:nvPr/>
        </p:nvSpPr>
        <p:spPr>
          <a:xfrm>
            <a:off x="4204868" y="1591056"/>
            <a:ext cx="1675181" cy="274320"/>
          </a:xfrm>
          <a:prstGeom prst="rect">
            <a:avLst/>
          </a:prstGeom>
          <a:noFill/>
          <a:ln/>
        </p:spPr>
        <p:txBody>
          <a:bodyPr wrap="square" rtlCol="0" anchor="ctr"/>
          <a:lstStyle/>
          <a:p>
            <a:pPr algn="ctr" indent="0" marL="0">
              <a:buNone/>
            </a:pPr>
            <a:r>
              <a:rPr lang="en-US" sz="900" dirty="0">
                <a:solidFill>
                  <a:srgbClr val="B07A6E"/>
                </a:solidFill>
                <a:latin typeface="맑은 고딕" pitchFamily="34" charset="0"/>
                <a:ea typeface="맑은 고딕" pitchFamily="34" charset="-122"/>
                <a:cs typeface="맑은 고딕" pitchFamily="34" charset="-120"/>
              </a:rPr>
              <a:t>조직 운영 및 보고 체계 이해</a:t>
            </a:r>
            <a:endParaRPr lang="en-US" sz="900" dirty="0"/>
          </a:p>
        </p:txBody>
      </p:sp>
      <p:sp>
        <p:nvSpPr>
          <p:cNvPr id="18" name="Shape 16"/>
          <p:cNvSpPr/>
          <p:nvPr/>
        </p:nvSpPr>
        <p:spPr>
          <a:xfrm>
            <a:off x="2697480" y="2139696"/>
            <a:ext cx="320040" cy="36576"/>
          </a:xfrm>
          <a:prstGeom prst="rect">
            <a:avLst/>
          </a:prstGeom>
          <a:solidFill>
            <a:srgbClr val="6B9A6B"/>
          </a:solidFill>
          <a:ln/>
        </p:spPr>
      </p:sp>
      <p:sp>
        <p:nvSpPr>
          <p:cNvPr id="19" name="Text 17"/>
          <p:cNvSpPr/>
          <p:nvPr/>
        </p:nvSpPr>
        <p:spPr>
          <a:xfrm>
            <a:off x="3108960" y="2048256"/>
            <a:ext cx="5486400" cy="219456"/>
          </a:xfrm>
          <a:prstGeom prst="rect">
            <a:avLst/>
          </a:prstGeom>
          <a:noFill/>
          <a:ln/>
        </p:spPr>
        <p:txBody>
          <a:bodyPr wrap="square" rtlCol="0" anchor="t"/>
          <a:lstStyle/>
          <a:p>
            <a:pPr algn="l" indent="0" marL="0">
              <a:buNone/>
            </a:pPr>
            <a:r>
              <a:rPr lang="en-US" sz="900" b="1" spc="150" kern="0" dirty="0">
                <a:solidFill>
                  <a:srgbClr val="6B9A6B"/>
                </a:solidFill>
                <a:latin typeface="맑은 고딕" pitchFamily="34" charset="0"/>
                <a:ea typeface="맑은 고딕" pitchFamily="34" charset="-122"/>
                <a:cs typeface="맑은 고딕" pitchFamily="34" charset="-120"/>
              </a:rPr>
              <a:t>OA · Tools</a:t>
            </a:r>
            <a:endParaRPr lang="en-US" sz="900" dirty="0"/>
          </a:p>
        </p:txBody>
      </p:sp>
      <p:sp>
        <p:nvSpPr>
          <p:cNvPr id="20" name="Text 18"/>
          <p:cNvSpPr/>
          <p:nvPr/>
        </p:nvSpPr>
        <p:spPr>
          <a:xfrm>
            <a:off x="2697480" y="2432304"/>
            <a:ext cx="1828800" cy="194310"/>
          </a:xfrm>
          <a:prstGeom prst="rect">
            <a:avLst/>
          </a:prstGeom>
          <a:noFill/>
          <a:ln/>
        </p:spPr>
        <p:txBody>
          <a:bodyPr wrap="square" rtlCol="0" anchor="t"/>
          <a:lstStyle/>
          <a:p>
            <a:pPr algn="l" indent="0" marL="0">
              <a:buNone/>
            </a:pPr>
            <a:r>
              <a:rPr lang="en-US" sz="900" b="1" dirty="0">
                <a:solidFill>
                  <a:srgbClr val="6B9A6B"/>
                </a:solidFill>
                <a:latin typeface="맑은 고딕" pitchFamily="34" charset="0"/>
                <a:ea typeface="맑은 고딕" pitchFamily="34" charset="-122"/>
                <a:cs typeface="맑은 고딕" pitchFamily="34" charset="-120"/>
              </a:rPr>
              <a:t>Excel</a:t>
            </a:r>
            <a:endParaRPr lang="en-US" sz="900" dirty="0"/>
          </a:p>
        </p:txBody>
      </p:sp>
      <p:sp>
        <p:nvSpPr>
          <p:cNvPr id="21" name="Text 19"/>
          <p:cNvSpPr/>
          <p:nvPr/>
        </p:nvSpPr>
        <p:spPr>
          <a:xfrm>
            <a:off x="4617720" y="2432304"/>
            <a:ext cx="7040880" cy="194310"/>
          </a:xfrm>
          <a:prstGeom prst="rect">
            <a:avLst/>
          </a:prstGeom>
          <a:noFill/>
          <a:ln/>
        </p:spPr>
        <p:txBody>
          <a:bodyPr wrap="square" rtlCol="0" anchor="t"/>
          <a:lstStyle/>
          <a:p>
            <a:pPr algn="l" indent="0" marL="0">
              <a:lnSpc>
                <a:spcPct val="120000"/>
              </a:lnSpc>
              <a:buNone/>
            </a:pPr>
            <a:r>
              <a:rPr lang="en-US" sz="900" dirty="0">
                <a:solidFill>
                  <a:srgbClr val="5A5850"/>
                </a:solidFill>
                <a:latin typeface="맑은 고딕" pitchFamily="34" charset="0"/>
                <a:ea typeface="맑은 고딕" pitchFamily="34" charset="-122"/>
                <a:cs typeface="맑은 고딕" pitchFamily="34" charset="-120"/>
              </a:rPr>
              <a:t>함수·피벗테이블·운영 데이터 정리·정산 매크로 활용</a:t>
            </a:r>
            <a:endParaRPr lang="en-US" sz="900" dirty="0"/>
          </a:p>
        </p:txBody>
      </p:sp>
      <p:sp>
        <p:nvSpPr>
          <p:cNvPr id="22" name="Text 20"/>
          <p:cNvSpPr/>
          <p:nvPr/>
        </p:nvSpPr>
        <p:spPr>
          <a:xfrm>
            <a:off x="2697480" y="2699766"/>
            <a:ext cx="1828800" cy="194310"/>
          </a:xfrm>
          <a:prstGeom prst="rect">
            <a:avLst/>
          </a:prstGeom>
          <a:noFill/>
          <a:ln/>
        </p:spPr>
        <p:txBody>
          <a:bodyPr wrap="square" rtlCol="0" anchor="t"/>
          <a:lstStyle/>
          <a:p>
            <a:pPr algn="l" indent="0" marL="0">
              <a:buNone/>
            </a:pPr>
            <a:r>
              <a:rPr lang="en-US" sz="900" b="1" dirty="0">
                <a:solidFill>
                  <a:srgbClr val="6B9A6B"/>
                </a:solidFill>
                <a:latin typeface="맑은 고딕" pitchFamily="34" charset="0"/>
                <a:ea typeface="맑은 고딕" pitchFamily="34" charset="-122"/>
                <a:cs typeface="맑은 고딕" pitchFamily="34" charset="-120"/>
              </a:rPr>
              <a:t>PowerPoint</a:t>
            </a:r>
            <a:endParaRPr lang="en-US" sz="900" dirty="0"/>
          </a:p>
        </p:txBody>
      </p:sp>
      <p:sp>
        <p:nvSpPr>
          <p:cNvPr id="23" name="Text 21"/>
          <p:cNvSpPr/>
          <p:nvPr/>
        </p:nvSpPr>
        <p:spPr>
          <a:xfrm>
            <a:off x="4617720" y="2699766"/>
            <a:ext cx="7040880" cy="194310"/>
          </a:xfrm>
          <a:prstGeom prst="rect">
            <a:avLst/>
          </a:prstGeom>
          <a:noFill/>
          <a:ln/>
        </p:spPr>
        <p:txBody>
          <a:bodyPr wrap="square" rtlCol="0" anchor="t"/>
          <a:lstStyle/>
          <a:p>
            <a:pPr algn="l" indent="0" marL="0">
              <a:lnSpc>
                <a:spcPct val="120000"/>
              </a:lnSpc>
              <a:buNone/>
            </a:pPr>
            <a:r>
              <a:rPr lang="en-US" sz="900" dirty="0">
                <a:solidFill>
                  <a:srgbClr val="5A5850"/>
                </a:solidFill>
                <a:latin typeface="맑은 고딕" pitchFamily="34" charset="0"/>
                <a:ea typeface="맑은 고딕" pitchFamily="34" charset="-122"/>
                <a:cs typeface="맑은 고딕" pitchFamily="34" charset="-120"/>
              </a:rPr>
              <a:t>보고자료·운영자료 작성</a:t>
            </a:r>
            <a:endParaRPr lang="en-US" sz="900" dirty="0"/>
          </a:p>
        </p:txBody>
      </p:sp>
      <p:sp>
        <p:nvSpPr>
          <p:cNvPr id="24" name="Text 22"/>
          <p:cNvSpPr/>
          <p:nvPr/>
        </p:nvSpPr>
        <p:spPr>
          <a:xfrm>
            <a:off x="2697480" y="2967228"/>
            <a:ext cx="1828800" cy="194310"/>
          </a:xfrm>
          <a:prstGeom prst="rect">
            <a:avLst/>
          </a:prstGeom>
          <a:noFill/>
          <a:ln/>
        </p:spPr>
        <p:txBody>
          <a:bodyPr wrap="square" rtlCol="0" anchor="t"/>
          <a:lstStyle/>
          <a:p>
            <a:pPr algn="l" indent="0" marL="0">
              <a:buNone/>
            </a:pPr>
            <a:r>
              <a:rPr lang="en-US" sz="900" b="1" dirty="0">
                <a:solidFill>
                  <a:srgbClr val="6B9A6B"/>
                </a:solidFill>
                <a:latin typeface="맑은 고딕" pitchFamily="34" charset="0"/>
                <a:ea typeface="맑은 고딕" pitchFamily="34" charset="-122"/>
                <a:cs typeface="맑은 고딕" pitchFamily="34" charset="-120"/>
              </a:rPr>
              <a:t>한글 / Word</a:t>
            </a:r>
            <a:endParaRPr lang="en-US" sz="900" dirty="0"/>
          </a:p>
        </p:txBody>
      </p:sp>
      <p:sp>
        <p:nvSpPr>
          <p:cNvPr id="25" name="Text 23"/>
          <p:cNvSpPr/>
          <p:nvPr/>
        </p:nvSpPr>
        <p:spPr>
          <a:xfrm>
            <a:off x="4617720" y="2967228"/>
            <a:ext cx="7040880" cy="194310"/>
          </a:xfrm>
          <a:prstGeom prst="rect">
            <a:avLst/>
          </a:prstGeom>
          <a:noFill/>
          <a:ln/>
        </p:spPr>
        <p:txBody>
          <a:bodyPr wrap="square" rtlCol="0" anchor="t"/>
          <a:lstStyle/>
          <a:p>
            <a:pPr algn="l" indent="0" marL="0">
              <a:lnSpc>
                <a:spcPct val="120000"/>
              </a:lnSpc>
              <a:buNone/>
            </a:pPr>
            <a:r>
              <a:rPr lang="en-US" sz="900" dirty="0">
                <a:solidFill>
                  <a:srgbClr val="5A5850"/>
                </a:solidFill>
                <a:latin typeface="맑은 고딕" pitchFamily="34" charset="0"/>
                <a:ea typeface="맑은 고딕" pitchFamily="34" charset="-122"/>
                <a:cs typeface="맑은 고딕" pitchFamily="34" charset="-120"/>
              </a:rPr>
              <a:t>공문·안내문·행정 문서 작성</a:t>
            </a:r>
            <a:endParaRPr lang="en-US" sz="900" dirty="0"/>
          </a:p>
        </p:txBody>
      </p:sp>
      <p:sp>
        <p:nvSpPr>
          <p:cNvPr id="26" name="Text 24"/>
          <p:cNvSpPr/>
          <p:nvPr/>
        </p:nvSpPr>
        <p:spPr>
          <a:xfrm>
            <a:off x="2697480" y="3234690"/>
            <a:ext cx="1828800" cy="194310"/>
          </a:xfrm>
          <a:prstGeom prst="rect">
            <a:avLst/>
          </a:prstGeom>
          <a:noFill/>
          <a:ln/>
        </p:spPr>
        <p:txBody>
          <a:bodyPr wrap="square" rtlCol="0" anchor="t"/>
          <a:lstStyle/>
          <a:p>
            <a:pPr algn="l" indent="0" marL="0">
              <a:buNone/>
            </a:pPr>
            <a:r>
              <a:rPr lang="en-US" sz="900" b="1" dirty="0">
                <a:solidFill>
                  <a:srgbClr val="6B9A6B"/>
                </a:solidFill>
                <a:latin typeface="맑은 고딕" pitchFamily="34" charset="0"/>
                <a:ea typeface="맑은 고딕" pitchFamily="34" charset="-122"/>
                <a:cs typeface="맑은 고딕" pitchFamily="34" charset="-120"/>
              </a:rPr>
              <a:t>Google Workspace</a:t>
            </a:r>
            <a:endParaRPr lang="en-US" sz="900" dirty="0"/>
          </a:p>
        </p:txBody>
      </p:sp>
      <p:sp>
        <p:nvSpPr>
          <p:cNvPr id="27" name="Text 25"/>
          <p:cNvSpPr/>
          <p:nvPr/>
        </p:nvSpPr>
        <p:spPr>
          <a:xfrm>
            <a:off x="4617720" y="3234690"/>
            <a:ext cx="7040880" cy="194310"/>
          </a:xfrm>
          <a:prstGeom prst="rect">
            <a:avLst/>
          </a:prstGeom>
          <a:noFill/>
          <a:ln/>
        </p:spPr>
        <p:txBody>
          <a:bodyPr wrap="square" rtlCol="0" anchor="t"/>
          <a:lstStyle/>
          <a:p>
            <a:pPr algn="l" indent="0" marL="0">
              <a:lnSpc>
                <a:spcPct val="120000"/>
              </a:lnSpc>
              <a:buNone/>
            </a:pPr>
            <a:r>
              <a:rPr lang="en-US" sz="900" dirty="0">
                <a:solidFill>
                  <a:srgbClr val="5A5850"/>
                </a:solidFill>
                <a:latin typeface="맑은 고딕" pitchFamily="34" charset="0"/>
                <a:ea typeface="맑은 고딕" pitchFamily="34" charset="-122"/>
                <a:cs typeface="맑은 고딕" pitchFamily="34" charset="-120"/>
              </a:rPr>
              <a:t>Docs·Sheets·Forms 기반 신청·취합 프로세스 운영</a:t>
            </a:r>
            <a:endParaRPr lang="en-US" sz="900" dirty="0"/>
          </a:p>
        </p:txBody>
      </p:sp>
      <p:sp>
        <p:nvSpPr>
          <p:cNvPr id="28" name="Text 26"/>
          <p:cNvSpPr/>
          <p:nvPr/>
        </p:nvSpPr>
        <p:spPr>
          <a:xfrm>
            <a:off x="2697480" y="3502152"/>
            <a:ext cx="1828800" cy="194310"/>
          </a:xfrm>
          <a:prstGeom prst="rect">
            <a:avLst/>
          </a:prstGeom>
          <a:noFill/>
          <a:ln/>
        </p:spPr>
        <p:txBody>
          <a:bodyPr wrap="square" rtlCol="0" anchor="t"/>
          <a:lstStyle/>
          <a:p>
            <a:pPr algn="l" indent="0" marL="0">
              <a:buNone/>
            </a:pPr>
            <a:r>
              <a:rPr lang="en-US" sz="900" b="1" dirty="0">
                <a:solidFill>
                  <a:srgbClr val="6B9A6B"/>
                </a:solidFill>
                <a:latin typeface="맑은 고딕" pitchFamily="34" charset="0"/>
                <a:ea typeface="맑은 고딕" pitchFamily="34" charset="-122"/>
                <a:cs typeface="맑은 고딕" pitchFamily="34" charset="-120"/>
              </a:rPr>
              <a:t>Google Apps Script</a:t>
            </a:r>
            <a:endParaRPr lang="en-US" sz="900" dirty="0"/>
          </a:p>
        </p:txBody>
      </p:sp>
      <p:sp>
        <p:nvSpPr>
          <p:cNvPr id="29" name="Text 27"/>
          <p:cNvSpPr/>
          <p:nvPr/>
        </p:nvSpPr>
        <p:spPr>
          <a:xfrm>
            <a:off x="4617720" y="3502152"/>
            <a:ext cx="7040880" cy="194310"/>
          </a:xfrm>
          <a:prstGeom prst="rect">
            <a:avLst/>
          </a:prstGeom>
          <a:noFill/>
          <a:ln/>
        </p:spPr>
        <p:txBody>
          <a:bodyPr wrap="square" rtlCol="0" anchor="t"/>
          <a:lstStyle/>
          <a:p>
            <a:pPr algn="l" indent="0" marL="0">
              <a:lnSpc>
                <a:spcPct val="120000"/>
              </a:lnSpc>
              <a:buNone/>
            </a:pPr>
            <a:r>
              <a:rPr lang="en-US" sz="900" dirty="0">
                <a:solidFill>
                  <a:srgbClr val="5A5850"/>
                </a:solidFill>
                <a:latin typeface="맑은 고딕" pitchFamily="34" charset="0"/>
                <a:ea typeface="맑은 고딕" pitchFamily="34" charset="-122"/>
                <a:cs typeface="맑은 고딕" pitchFamily="34" charset="-120"/>
              </a:rPr>
              <a:t>자동 메일 발송 연동 및 실무 자동화 구축</a:t>
            </a:r>
            <a:endParaRPr lang="en-US" sz="900" dirty="0"/>
          </a:p>
        </p:txBody>
      </p:sp>
      <p:sp>
        <p:nvSpPr>
          <p:cNvPr id="30" name="Text 28"/>
          <p:cNvSpPr/>
          <p:nvPr/>
        </p:nvSpPr>
        <p:spPr>
          <a:xfrm>
            <a:off x="2697480" y="3769614"/>
            <a:ext cx="8961120" cy="194310"/>
          </a:xfrm>
          <a:prstGeom prst="rect">
            <a:avLst/>
          </a:prstGeom>
          <a:noFill/>
          <a:ln/>
        </p:spPr>
        <p:txBody>
          <a:bodyPr wrap="square" rtlCol="0" anchor="t"/>
          <a:lstStyle/>
          <a:p>
            <a:pPr algn="l" indent="0" marL="0">
              <a:buNone/>
            </a:pPr>
            <a:r>
              <a:rPr lang="en-US" sz="900" dirty="0">
                <a:solidFill>
                  <a:srgbClr val="5A5850"/>
                </a:solidFill>
                <a:latin typeface="맑은 고딕" pitchFamily="34" charset="0"/>
                <a:ea typeface="맑은 고딕" pitchFamily="34" charset="-122"/>
                <a:cs typeface="맑은 고딕" pitchFamily="34" charset="-120"/>
              </a:rPr>
              <a:t>Slack · Notion 운영 지원</a:t>
            </a:r>
            <a:endParaRPr lang="en-US" sz="900" dirty="0"/>
          </a:p>
        </p:txBody>
      </p:sp>
      <p:sp>
        <p:nvSpPr>
          <p:cNvPr id="31" name="Shape 29"/>
          <p:cNvSpPr/>
          <p:nvPr/>
        </p:nvSpPr>
        <p:spPr>
          <a:xfrm>
            <a:off x="2697480" y="4219956"/>
            <a:ext cx="320040" cy="36576"/>
          </a:xfrm>
          <a:prstGeom prst="rect">
            <a:avLst/>
          </a:prstGeom>
          <a:solidFill>
            <a:srgbClr val="A08060"/>
          </a:solidFill>
          <a:ln/>
        </p:spPr>
      </p:sp>
      <p:sp>
        <p:nvSpPr>
          <p:cNvPr id="32" name="Text 30"/>
          <p:cNvSpPr/>
          <p:nvPr/>
        </p:nvSpPr>
        <p:spPr>
          <a:xfrm>
            <a:off x="3108960" y="4128516"/>
            <a:ext cx="5486400" cy="219456"/>
          </a:xfrm>
          <a:prstGeom prst="rect">
            <a:avLst/>
          </a:prstGeom>
          <a:noFill/>
          <a:ln/>
        </p:spPr>
        <p:txBody>
          <a:bodyPr wrap="square" rtlCol="0" anchor="t"/>
          <a:lstStyle/>
          <a:p>
            <a:pPr algn="l" indent="0" marL="0">
              <a:buNone/>
            </a:pPr>
            <a:r>
              <a:rPr lang="en-US" sz="900" b="1" spc="150" kern="0" dirty="0">
                <a:solidFill>
                  <a:srgbClr val="A08060"/>
                </a:solidFill>
                <a:latin typeface="맑은 고딕" pitchFamily="34" charset="0"/>
                <a:ea typeface="맑은 고딕" pitchFamily="34" charset="-122"/>
                <a:cs typeface="맑은 고딕" pitchFamily="34" charset="-120"/>
              </a:rPr>
              <a:t>Certificates · Training</a:t>
            </a:r>
            <a:endParaRPr lang="en-US" sz="900" dirty="0"/>
          </a:p>
        </p:txBody>
      </p:sp>
      <p:sp>
        <p:nvSpPr>
          <p:cNvPr id="33" name="Shape 31"/>
          <p:cNvSpPr/>
          <p:nvPr/>
        </p:nvSpPr>
        <p:spPr>
          <a:xfrm>
            <a:off x="2697480" y="4512564"/>
            <a:ext cx="3057754" cy="274320"/>
          </a:xfrm>
          <a:prstGeom prst="roundRect">
            <a:avLst>
              <a:gd name="adj" fmla="val 16667"/>
            </a:avLst>
          </a:prstGeom>
          <a:solidFill>
            <a:srgbClr val="FAF6F2"/>
          </a:solidFill>
          <a:ln w="9525">
            <a:solidFill>
              <a:srgbClr val="A08060"/>
            </a:solidFill>
            <a:prstDash val="solid"/>
          </a:ln>
        </p:spPr>
      </p:sp>
      <p:sp>
        <p:nvSpPr>
          <p:cNvPr id="34" name="Text 32"/>
          <p:cNvSpPr/>
          <p:nvPr/>
        </p:nvSpPr>
        <p:spPr>
          <a:xfrm>
            <a:off x="2697480" y="4512564"/>
            <a:ext cx="3057754"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AI Agent·RAG 양성과정 수료 (2025–2026)</a:t>
            </a:r>
            <a:endParaRPr lang="en-US" sz="900" dirty="0"/>
          </a:p>
        </p:txBody>
      </p:sp>
      <p:sp>
        <p:nvSpPr>
          <p:cNvPr id="35" name="Shape 33"/>
          <p:cNvSpPr/>
          <p:nvPr/>
        </p:nvSpPr>
        <p:spPr>
          <a:xfrm>
            <a:off x="5846674" y="4512564"/>
            <a:ext cx="1848002" cy="274320"/>
          </a:xfrm>
          <a:prstGeom prst="roundRect">
            <a:avLst>
              <a:gd name="adj" fmla="val 16667"/>
            </a:avLst>
          </a:prstGeom>
          <a:solidFill>
            <a:srgbClr val="FAF6F2"/>
          </a:solidFill>
          <a:ln w="9525">
            <a:solidFill>
              <a:srgbClr val="A08060"/>
            </a:solidFill>
            <a:prstDash val="solid"/>
          </a:ln>
        </p:spPr>
      </p:sp>
      <p:sp>
        <p:nvSpPr>
          <p:cNvPr id="36" name="Text 34"/>
          <p:cNvSpPr/>
          <p:nvPr/>
        </p:nvSpPr>
        <p:spPr>
          <a:xfrm>
            <a:off x="5846674" y="4512564"/>
            <a:ext cx="1848002"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新HSK 2급 중국어 (2024)</a:t>
            </a:r>
            <a:endParaRPr lang="en-US" sz="900" dirty="0"/>
          </a:p>
        </p:txBody>
      </p:sp>
      <p:sp>
        <p:nvSpPr>
          <p:cNvPr id="37" name="Shape 35"/>
          <p:cNvSpPr/>
          <p:nvPr/>
        </p:nvSpPr>
        <p:spPr>
          <a:xfrm>
            <a:off x="7786116" y="4512564"/>
            <a:ext cx="1848002" cy="274320"/>
          </a:xfrm>
          <a:prstGeom prst="roundRect">
            <a:avLst>
              <a:gd name="adj" fmla="val 16667"/>
            </a:avLst>
          </a:prstGeom>
          <a:solidFill>
            <a:srgbClr val="FAF6F2"/>
          </a:solidFill>
          <a:ln w="9525">
            <a:solidFill>
              <a:srgbClr val="A08060"/>
            </a:solidFill>
            <a:prstDash val="solid"/>
          </a:ln>
        </p:spPr>
      </p:sp>
      <p:sp>
        <p:nvSpPr>
          <p:cNvPr id="38" name="Text 36"/>
          <p:cNvSpPr/>
          <p:nvPr/>
        </p:nvSpPr>
        <p:spPr>
          <a:xfrm>
            <a:off x="7786116" y="4512564"/>
            <a:ext cx="1848002"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OPIc IM2 영어 (2022)</a:t>
            </a:r>
            <a:endParaRPr lang="en-US" sz="900" dirty="0"/>
          </a:p>
        </p:txBody>
      </p:sp>
      <p:sp>
        <p:nvSpPr>
          <p:cNvPr id="39" name="Shape 37"/>
          <p:cNvSpPr/>
          <p:nvPr/>
        </p:nvSpPr>
        <p:spPr>
          <a:xfrm>
            <a:off x="2697480" y="4896612"/>
            <a:ext cx="2539289" cy="274320"/>
          </a:xfrm>
          <a:prstGeom prst="roundRect">
            <a:avLst>
              <a:gd name="adj" fmla="val 16667"/>
            </a:avLst>
          </a:prstGeom>
          <a:solidFill>
            <a:srgbClr val="FAF6F2"/>
          </a:solidFill>
          <a:ln w="9525">
            <a:solidFill>
              <a:srgbClr val="A08060"/>
            </a:solidFill>
            <a:prstDash val="solid"/>
          </a:ln>
        </p:spPr>
      </p:sp>
      <p:sp>
        <p:nvSpPr>
          <p:cNvPr id="40" name="Text 38"/>
          <p:cNvSpPr/>
          <p:nvPr/>
        </p:nvSpPr>
        <p:spPr>
          <a:xfrm>
            <a:off x="2697480" y="4896612"/>
            <a:ext cx="2539289"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그룹사 승격(대리) 교육 수료 (2022.01)</a:t>
            </a:r>
            <a:endParaRPr lang="en-US" sz="900" dirty="0"/>
          </a:p>
        </p:txBody>
      </p:sp>
      <p:sp>
        <p:nvSpPr>
          <p:cNvPr id="41" name="Shape 39"/>
          <p:cNvSpPr/>
          <p:nvPr/>
        </p:nvSpPr>
        <p:spPr>
          <a:xfrm>
            <a:off x="5328209" y="4896612"/>
            <a:ext cx="2712110" cy="274320"/>
          </a:xfrm>
          <a:prstGeom prst="roundRect">
            <a:avLst>
              <a:gd name="adj" fmla="val 16667"/>
            </a:avLst>
          </a:prstGeom>
          <a:solidFill>
            <a:srgbClr val="FAF6F2"/>
          </a:solidFill>
          <a:ln w="9525">
            <a:solidFill>
              <a:srgbClr val="A08060"/>
            </a:solidFill>
            <a:prstDash val="solid"/>
          </a:ln>
        </p:spPr>
      </p:sp>
      <p:sp>
        <p:nvSpPr>
          <p:cNvPr id="42" name="Text 40"/>
          <p:cNvSpPr/>
          <p:nvPr/>
        </p:nvSpPr>
        <p:spPr>
          <a:xfrm>
            <a:off x="5328209" y="4896612"/>
            <a:ext cx="2712110"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ITQ 한글·엑셀·파워포인트 수료 (2021.07)</a:t>
            </a:r>
            <a:endParaRPr lang="en-US" sz="900" dirty="0"/>
          </a:p>
        </p:txBody>
      </p:sp>
      <p:sp>
        <p:nvSpPr>
          <p:cNvPr id="43" name="Shape 41"/>
          <p:cNvSpPr/>
          <p:nvPr/>
        </p:nvSpPr>
        <p:spPr>
          <a:xfrm>
            <a:off x="8131759" y="4896612"/>
            <a:ext cx="1934413" cy="274320"/>
          </a:xfrm>
          <a:prstGeom prst="roundRect">
            <a:avLst>
              <a:gd name="adj" fmla="val 16667"/>
            </a:avLst>
          </a:prstGeom>
          <a:solidFill>
            <a:srgbClr val="FAF6F2"/>
          </a:solidFill>
          <a:ln w="9525">
            <a:solidFill>
              <a:srgbClr val="A08060"/>
            </a:solidFill>
            <a:prstDash val="solid"/>
          </a:ln>
        </p:spPr>
      </p:sp>
      <p:sp>
        <p:nvSpPr>
          <p:cNvPr id="44" name="Text 42"/>
          <p:cNvSpPr/>
          <p:nvPr/>
        </p:nvSpPr>
        <p:spPr>
          <a:xfrm>
            <a:off x="8131759" y="4896612"/>
            <a:ext cx="1934413"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GTQ 2급 취득 (2021.04)</a:t>
            </a:r>
            <a:endParaRPr lang="en-US" sz="900" dirty="0"/>
          </a:p>
        </p:txBody>
      </p:sp>
      <p:sp>
        <p:nvSpPr>
          <p:cNvPr id="45" name="Shape 43"/>
          <p:cNvSpPr/>
          <p:nvPr/>
        </p:nvSpPr>
        <p:spPr>
          <a:xfrm>
            <a:off x="2697480" y="5280660"/>
            <a:ext cx="2366467" cy="274320"/>
          </a:xfrm>
          <a:prstGeom prst="roundRect">
            <a:avLst>
              <a:gd name="adj" fmla="val 16667"/>
            </a:avLst>
          </a:prstGeom>
          <a:solidFill>
            <a:srgbClr val="FAF6F2"/>
          </a:solidFill>
          <a:ln w="9525">
            <a:solidFill>
              <a:srgbClr val="A08060"/>
            </a:solidFill>
            <a:prstDash val="solid"/>
          </a:ln>
        </p:spPr>
      </p:sp>
      <p:sp>
        <p:nvSpPr>
          <p:cNvPr id="46" name="Text 44"/>
          <p:cNvSpPr/>
          <p:nvPr/>
        </p:nvSpPr>
        <p:spPr>
          <a:xfrm>
            <a:off x="2697480" y="5280660"/>
            <a:ext cx="2366467"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컬러리스트 실기 과정 수료 (2020.05)</a:t>
            </a:r>
            <a:endParaRPr lang="en-US" sz="900" dirty="0"/>
          </a:p>
        </p:txBody>
      </p:sp>
      <p:sp>
        <p:nvSpPr>
          <p:cNvPr id="47" name="Shape 45"/>
          <p:cNvSpPr/>
          <p:nvPr/>
        </p:nvSpPr>
        <p:spPr>
          <a:xfrm>
            <a:off x="5155387" y="5280660"/>
            <a:ext cx="2193646" cy="274320"/>
          </a:xfrm>
          <a:prstGeom prst="roundRect">
            <a:avLst>
              <a:gd name="adj" fmla="val 16667"/>
            </a:avLst>
          </a:prstGeom>
          <a:solidFill>
            <a:srgbClr val="FAF6F2"/>
          </a:solidFill>
          <a:ln w="9525">
            <a:solidFill>
              <a:srgbClr val="A08060"/>
            </a:solidFill>
            <a:prstDash val="solid"/>
          </a:ln>
        </p:spPr>
      </p:sp>
      <p:sp>
        <p:nvSpPr>
          <p:cNvPr id="48" name="Text 46"/>
          <p:cNvSpPr/>
          <p:nvPr/>
        </p:nvSpPr>
        <p:spPr>
          <a:xfrm>
            <a:off x="5155387" y="5280660"/>
            <a:ext cx="2193646"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AFPK 교육과정 수료 (2013.05)</a:t>
            </a:r>
            <a:endParaRPr lang="en-US" sz="900" dirty="0"/>
          </a:p>
        </p:txBody>
      </p:sp>
      <p:sp>
        <p:nvSpPr>
          <p:cNvPr id="49" name="Shape 47"/>
          <p:cNvSpPr/>
          <p:nvPr/>
        </p:nvSpPr>
        <p:spPr>
          <a:xfrm>
            <a:off x="7440473" y="5280660"/>
            <a:ext cx="1415948" cy="274320"/>
          </a:xfrm>
          <a:prstGeom prst="roundRect">
            <a:avLst>
              <a:gd name="adj" fmla="val 16667"/>
            </a:avLst>
          </a:prstGeom>
          <a:solidFill>
            <a:srgbClr val="FAF6F2"/>
          </a:solidFill>
          <a:ln w="9525">
            <a:solidFill>
              <a:srgbClr val="A08060"/>
            </a:solidFill>
            <a:prstDash val="solid"/>
          </a:ln>
        </p:spPr>
      </p:sp>
      <p:sp>
        <p:nvSpPr>
          <p:cNvPr id="50" name="Text 48"/>
          <p:cNvSpPr/>
          <p:nvPr/>
        </p:nvSpPr>
        <p:spPr>
          <a:xfrm>
            <a:off x="7440473" y="5280660"/>
            <a:ext cx="1415948" cy="274320"/>
          </a:xfrm>
          <a:prstGeom prst="rect">
            <a:avLst/>
          </a:prstGeom>
          <a:noFill/>
          <a:ln/>
        </p:spPr>
        <p:txBody>
          <a:bodyPr wrap="square" rtlCol="0" anchor="ctr"/>
          <a:lstStyle/>
          <a:p>
            <a:pPr algn="ctr" indent="0" marL="0">
              <a:buNone/>
            </a:pPr>
            <a:r>
              <a:rPr lang="en-US" sz="900" dirty="0">
                <a:solidFill>
                  <a:srgbClr val="A08060"/>
                </a:solidFill>
                <a:latin typeface="맑은 고딕" pitchFamily="34" charset="0"/>
                <a:ea typeface="맑은 고딕" pitchFamily="34" charset="-122"/>
                <a:cs typeface="맑은 고딕" pitchFamily="34" charset="-120"/>
              </a:rPr>
              <a:t>자동차운전면허 2종 보통</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697480" y="411480"/>
            <a:ext cx="8961120" cy="365760"/>
          </a:xfrm>
          <a:prstGeom prst="rect">
            <a:avLst/>
          </a:prstGeom>
          <a:noFill/>
          <a:ln/>
        </p:spPr>
        <p:txBody>
          <a:bodyPr wrap="square" rtlCol="0" anchor="b"/>
          <a:lstStyle/>
          <a:p>
            <a:pPr algn="l" indent="0" marL="0">
              <a:buNone/>
            </a:pPr>
            <a:r>
              <a:rPr lang="en-US" sz="1200" b="1" spc="100" kern="0" dirty="0">
                <a:solidFill>
                  <a:srgbClr val="6B9A6B"/>
                </a:solidFill>
                <a:latin typeface="맑은 고딕" pitchFamily="34" charset="0"/>
                <a:ea typeface="맑은 고딕" pitchFamily="34" charset="-122"/>
                <a:cs typeface="맑은 고딕" pitchFamily="34" charset="-120"/>
              </a:rPr>
              <a:t>02 — AI Projects</a:t>
            </a:r>
            <a:endParaRPr lang="en-US" sz="1200" dirty="0"/>
          </a:p>
        </p:txBody>
      </p:sp>
      <p:sp>
        <p:nvSpPr>
          <p:cNvPr id="3" name="Shape 1"/>
          <p:cNvSpPr/>
          <p:nvPr/>
        </p:nvSpPr>
        <p:spPr>
          <a:xfrm>
            <a:off x="2697480" y="777240"/>
            <a:ext cx="8961120" cy="0"/>
          </a:xfrm>
          <a:prstGeom prst="line">
            <a:avLst/>
          </a:prstGeom>
          <a:noFill/>
          <a:ln w="9525">
            <a:solidFill>
              <a:srgbClr val="6B9A6B">
                <a:alpha val="30000"/>
              </a:srgbClr>
            </a:solidFill>
            <a:prstDash val="solid"/>
          </a:ln>
        </p:spPr>
      </p:sp>
      <p:sp>
        <p:nvSpPr>
          <p:cNvPr id="4" name="Shape 2"/>
          <p:cNvSpPr/>
          <p:nvPr/>
        </p:nvSpPr>
        <p:spPr>
          <a:xfrm>
            <a:off x="2697480" y="914400"/>
            <a:ext cx="8961120" cy="777240"/>
          </a:xfrm>
          <a:prstGeom prst="rect">
            <a:avLst/>
          </a:prstGeom>
          <a:solidFill>
            <a:srgbClr val="FFFFFF"/>
          </a:solidFill>
          <a:ln w="9525">
            <a:solidFill>
              <a:srgbClr val="6B9A6B">
                <a:alpha val="30000"/>
              </a:srgbClr>
            </a:solidFill>
            <a:prstDash val="solid"/>
          </a:ln>
        </p:spPr>
      </p:sp>
      <p:sp>
        <p:nvSpPr>
          <p:cNvPr id="5" name="Shape 3"/>
          <p:cNvSpPr/>
          <p:nvPr/>
        </p:nvSpPr>
        <p:spPr>
          <a:xfrm>
            <a:off x="2697480" y="914400"/>
            <a:ext cx="45720" cy="777240"/>
          </a:xfrm>
          <a:prstGeom prst="rect">
            <a:avLst/>
          </a:prstGeom>
          <a:solidFill>
            <a:srgbClr val="6B9A6B"/>
          </a:solidFill>
          <a:ln/>
        </p:spPr>
      </p:sp>
      <p:sp>
        <p:nvSpPr>
          <p:cNvPr id="6" name="Text 4"/>
          <p:cNvSpPr/>
          <p:nvPr/>
        </p:nvSpPr>
        <p:spPr>
          <a:xfrm>
            <a:off x="2926080" y="1005840"/>
            <a:ext cx="8595360" cy="228600"/>
          </a:xfrm>
          <a:prstGeom prst="rect">
            <a:avLst/>
          </a:prstGeom>
          <a:noFill/>
          <a:ln/>
        </p:spPr>
        <p:txBody>
          <a:bodyPr wrap="square" rtlCol="0" anchor="t"/>
          <a:lstStyle/>
          <a:p>
            <a:pPr algn="l" indent="0" marL="0">
              <a:buNone/>
            </a:pPr>
            <a:r>
              <a:rPr lang="en-US" sz="850" spc="100" kern="0" dirty="0">
                <a:solidFill>
                  <a:srgbClr val="6B9A6B"/>
                </a:solidFill>
                <a:latin typeface="맑은 고딕" pitchFamily="34" charset="0"/>
                <a:ea typeface="맑은 고딕" pitchFamily="34" charset="-122"/>
                <a:cs typeface="맑은 고딕" pitchFamily="34" charset="-120"/>
              </a:rPr>
              <a:t>AI AGENT와 RAG를 활용한 생각하는 AI 서비스 개발자 양성과정</a:t>
            </a:r>
            <a:endParaRPr lang="en-US" sz="850" dirty="0"/>
          </a:p>
        </p:txBody>
      </p:sp>
      <p:sp>
        <p:nvSpPr>
          <p:cNvPr id="7" name="Text 5"/>
          <p:cNvSpPr/>
          <p:nvPr/>
        </p:nvSpPr>
        <p:spPr>
          <a:xfrm>
            <a:off x="2926080" y="1280160"/>
            <a:ext cx="8595360" cy="320040"/>
          </a:xfrm>
          <a:prstGeom prst="rect">
            <a:avLst/>
          </a:prstGeom>
          <a:noFill/>
          <a:ln/>
        </p:spPr>
        <p:txBody>
          <a:bodyPr wrap="square" rtlCol="0" anchor="t"/>
          <a:lstStyle/>
          <a:p>
            <a:pPr algn="l" indent="0" marL="0">
              <a:buNone/>
            </a:pPr>
            <a:r>
              <a:rPr lang="en-US" sz="1000" dirty="0">
                <a:solidFill>
                  <a:srgbClr val="5A5850"/>
                </a:solidFill>
                <a:latin typeface="맑은 고딕" pitchFamily="34" charset="0"/>
                <a:ea typeface="맑은 고딕" pitchFamily="34" charset="-122"/>
                <a:cs typeface="맑은 고딕" pitchFamily="34" charset="-120"/>
              </a:rPr>
              <a:t>실무 경험에서 나온 현업 문제를 AI로 해결하기 위해 기획·구현한 2개의 프로젝트입니다.</a:t>
            </a:r>
            <a:endParaRPr lang="en-US" sz="1000" dirty="0"/>
          </a:p>
        </p:txBody>
      </p:sp>
      <p:sp>
        <p:nvSpPr>
          <p:cNvPr id="8" name="Shape 6"/>
          <p:cNvSpPr/>
          <p:nvPr/>
        </p:nvSpPr>
        <p:spPr>
          <a:xfrm>
            <a:off x="2697480" y="1965960"/>
            <a:ext cx="4297680" cy="3931920"/>
          </a:xfrm>
          <a:prstGeom prst="rect">
            <a:avLst/>
          </a:prstGeom>
          <a:solidFill>
            <a:srgbClr val="FFFFFF"/>
          </a:solidFill>
          <a:ln w="12700">
            <a:solidFill>
              <a:srgbClr val="6B9A6B">
                <a:alpha val="40000"/>
              </a:srgbClr>
            </a:solidFill>
            <a:prstDash val="solid"/>
          </a:ln>
        </p:spPr>
      </p:sp>
      <p:sp>
        <p:nvSpPr>
          <p:cNvPr id="9" name="Shape 7"/>
          <p:cNvSpPr/>
          <p:nvPr/>
        </p:nvSpPr>
        <p:spPr>
          <a:xfrm>
            <a:off x="2697480" y="1965960"/>
            <a:ext cx="4297680" cy="1554480"/>
          </a:xfrm>
          <a:prstGeom prst="rect">
            <a:avLst/>
          </a:prstGeom>
          <a:solidFill>
            <a:srgbClr val="F0ECE4"/>
          </a:solidFill>
          <a:ln/>
        </p:spPr>
      </p:sp>
      <p:sp>
        <p:nvSpPr>
          <p:cNvPr id="10" name="Text 8"/>
          <p:cNvSpPr/>
          <p:nvPr/>
        </p:nvSpPr>
        <p:spPr>
          <a:xfrm>
            <a:off x="2697480" y="1965960"/>
            <a:ext cx="4297680" cy="1554480"/>
          </a:xfrm>
          <a:prstGeom prst="rect">
            <a:avLst/>
          </a:prstGeom>
          <a:noFill/>
          <a:ln/>
        </p:spPr>
        <p:txBody>
          <a:bodyPr wrap="square" rtlCol="0" anchor="ctr"/>
          <a:lstStyle/>
          <a:p>
            <a:pPr algn="ctr" indent="0" marL="0">
              <a:buNone/>
            </a:pPr>
            <a:r>
              <a:rPr lang="en-US" sz="900" dirty="0">
                <a:solidFill>
                  <a:srgbClr val="AAA8A0"/>
                </a:solidFill>
                <a:latin typeface="맑은 고딕" pitchFamily="34" charset="0"/>
                <a:ea typeface="맑은 고딕" pitchFamily="34" charset="-122"/>
                <a:cs typeface="맑은 고딕" pitchFamily="34" charset="-120"/>
              </a:rPr>
              <a:t>[ 프로젝트 이미지 ]</a:t>
            </a:r>
            <a:endParaRPr lang="en-US" sz="900" dirty="0"/>
          </a:p>
        </p:txBody>
      </p:sp>
      <p:sp>
        <p:nvSpPr>
          <p:cNvPr id="11" name="Text 9"/>
          <p:cNvSpPr/>
          <p:nvPr/>
        </p:nvSpPr>
        <p:spPr>
          <a:xfrm>
            <a:off x="2971800" y="3657600"/>
            <a:ext cx="3749040" cy="219456"/>
          </a:xfrm>
          <a:prstGeom prst="rect">
            <a:avLst/>
          </a:prstGeom>
          <a:noFill/>
          <a:ln/>
        </p:spPr>
        <p:txBody>
          <a:bodyPr wrap="square" rtlCol="0" anchor="t"/>
          <a:lstStyle/>
          <a:p>
            <a:pPr algn="l" indent="0" marL="0">
              <a:buNone/>
            </a:pPr>
            <a:r>
              <a:rPr lang="en-US" sz="800" spc="150" kern="0" dirty="0">
                <a:solidFill>
                  <a:srgbClr val="6B9A6B"/>
                </a:solidFill>
                <a:latin typeface="맑은 고딕" pitchFamily="34" charset="0"/>
                <a:ea typeface="맑은 고딕" pitchFamily="34" charset="-122"/>
                <a:cs typeface="맑은 고딕" pitchFamily="34" charset="-120"/>
              </a:rPr>
              <a:t>Project 01 · HR SERVICE</a:t>
            </a:r>
            <a:endParaRPr lang="en-US" sz="800" dirty="0"/>
          </a:p>
        </p:txBody>
      </p:sp>
      <p:sp>
        <p:nvSpPr>
          <p:cNvPr id="12" name="Text 10"/>
          <p:cNvSpPr/>
          <p:nvPr/>
        </p:nvSpPr>
        <p:spPr>
          <a:xfrm>
            <a:off x="2971800" y="3886200"/>
            <a:ext cx="3749040" cy="640080"/>
          </a:xfrm>
          <a:prstGeom prst="rect">
            <a:avLst/>
          </a:prstGeom>
          <a:noFill/>
          <a:ln/>
        </p:spPr>
        <p:txBody>
          <a:bodyPr wrap="square" rtlCol="0" anchor="t"/>
          <a:lstStyle/>
          <a:p>
            <a:pPr algn="l" indent="0" marL="0">
              <a:lnSpc>
                <a:spcPct val="125000"/>
              </a:lnSpc>
              <a:buNone/>
            </a:pPr>
            <a:r>
              <a:rPr lang="en-US" sz="1450" dirty="0">
                <a:solidFill>
                  <a:srgbClr val="2C3028"/>
                </a:solidFill>
                <a:latin typeface="Cormorant Garamond" pitchFamily="34" charset="0"/>
                <a:ea typeface="Cormorant Garamond" pitchFamily="34" charset="-122"/>
                <a:cs typeface="Cormorant Garamond" pitchFamily="34" charset="-120"/>
              </a:rPr>
              <a:t>인사 담당자의 반복 채용 업무를</a:t>
            </a:r>
            <a:endParaRPr lang="en-US" sz="1450" dirty="0"/>
          </a:p>
          <a:p>
            <a:pPr algn="l" indent="0" marL="0">
              <a:lnSpc>
                <a:spcPct val="125000"/>
              </a:lnSpc>
              <a:buNone/>
            </a:pPr>
            <a:r>
              <a:rPr lang="en-US" sz="1450" dirty="0">
                <a:solidFill>
                  <a:srgbClr val="2C3028"/>
                </a:solidFill>
                <a:latin typeface="Cormorant Garamond" pitchFamily="34" charset="0"/>
                <a:ea typeface="Cormorant Garamond" pitchFamily="34" charset="-122"/>
                <a:cs typeface="Cormorant Garamond" pitchFamily="34" charset="-120"/>
              </a:rPr>
              <a:t>줄이기 위해 기획한 서비스</a:t>
            </a:r>
            <a:endParaRPr lang="en-US" sz="1450" dirty="0"/>
          </a:p>
        </p:txBody>
      </p:sp>
      <p:sp>
        <p:nvSpPr>
          <p:cNvPr id="13" name="Text 11"/>
          <p:cNvSpPr/>
          <p:nvPr/>
        </p:nvSpPr>
        <p:spPr>
          <a:xfrm>
            <a:off x="2971800" y="4572000"/>
            <a:ext cx="3749040" cy="777240"/>
          </a:xfrm>
          <a:prstGeom prst="rect">
            <a:avLst/>
          </a:prstGeom>
          <a:noFill/>
          <a:ln/>
        </p:spPr>
        <p:txBody>
          <a:bodyPr wrap="square" rtlCol="0" anchor="t"/>
          <a:lstStyle/>
          <a:p>
            <a:pPr algn="l" indent="0" marL="0">
              <a:lnSpc>
                <a:spcPct val="150000"/>
              </a:lnSpc>
              <a:buNone/>
            </a:pPr>
            <a:r>
              <a:rPr lang="en-US" sz="900" dirty="0">
                <a:solidFill>
                  <a:srgbClr val="7A7870"/>
                </a:solidFill>
                <a:latin typeface="맑은 고딕" pitchFamily="34" charset="0"/>
                <a:ea typeface="맑은 고딕" pitchFamily="34" charset="-122"/>
                <a:cs typeface="맑은 고딕" pitchFamily="34" charset="-120"/>
              </a:rPr>
              <a:t>면접 일정 관리·지원자 이력서 관리·면접관 AI 질문 자동 생성 기능을 구현하며 기획·UX·기능 설계 전반 담당</a:t>
            </a:r>
            <a:endParaRPr lang="en-US" sz="900" dirty="0"/>
          </a:p>
        </p:txBody>
      </p:sp>
      <p:sp>
        <p:nvSpPr>
          <p:cNvPr id="14" name="Shape 12"/>
          <p:cNvSpPr/>
          <p:nvPr/>
        </p:nvSpPr>
        <p:spPr>
          <a:xfrm>
            <a:off x="2971800" y="5394960"/>
            <a:ext cx="652653" cy="237744"/>
          </a:xfrm>
          <a:prstGeom prst="roundRect">
            <a:avLst>
              <a:gd name="adj" fmla="val 19231"/>
            </a:avLst>
          </a:prstGeom>
          <a:solidFill>
            <a:srgbClr val="FFFFFF"/>
          </a:solidFill>
          <a:ln w="9525">
            <a:solidFill>
              <a:srgbClr val="6B9A6B"/>
            </a:solidFill>
            <a:prstDash val="solid"/>
          </a:ln>
        </p:spPr>
      </p:sp>
      <p:sp>
        <p:nvSpPr>
          <p:cNvPr id="15" name="Text 13"/>
          <p:cNvSpPr/>
          <p:nvPr/>
        </p:nvSpPr>
        <p:spPr>
          <a:xfrm>
            <a:off x="2971800" y="5394960"/>
            <a:ext cx="652653" cy="237744"/>
          </a:xfrm>
          <a:prstGeom prst="rect">
            <a:avLst/>
          </a:prstGeom>
          <a:noFill/>
          <a:ln/>
        </p:spPr>
        <p:txBody>
          <a:bodyPr wrap="square" rtlCol="0" anchor="ctr"/>
          <a:lstStyle/>
          <a:p>
            <a:pPr algn="ctr" indent="0" marL="0">
              <a:buNone/>
            </a:pPr>
            <a:r>
              <a:rPr lang="en-US" sz="750" dirty="0">
                <a:solidFill>
                  <a:srgbClr val="6B9A6B"/>
                </a:solidFill>
                <a:latin typeface="맑은 고딕" pitchFamily="34" charset="0"/>
                <a:ea typeface="맑은 고딕" pitchFamily="34" charset="-122"/>
                <a:cs typeface="맑은 고딕" pitchFamily="34" charset="-120"/>
              </a:rPr>
              <a:t>채용 운영</a:t>
            </a:r>
            <a:endParaRPr lang="en-US" sz="750" dirty="0"/>
          </a:p>
        </p:txBody>
      </p:sp>
      <p:sp>
        <p:nvSpPr>
          <p:cNvPr id="16" name="Shape 14"/>
          <p:cNvSpPr/>
          <p:nvPr/>
        </p:nvSpPr>
        <p:spPr>
          <a:xfrm>
            <a:off x="3715893" y="5394960"/>
            <a:ext cx="868680" cy="237744"/>
          </a:xfrm>
          <a:prstGeom prst="roundRect">
            <a:avLst>
              <a:gd name="adj" fmla="val 19231"/>
            </a:avLst>
          </a:prstGeom>
          <a:solidFill>
            <a:srgbClr val="FFFFFF"/>
          </a:solidFill>
          <a:ln w="9525">
            <a:solidFill>
              <a:srgbClr val="6B9A6B"/>
            </a:solidFill>
            <a:prstDash val="solid"/>
          </a:ln>
        </p:spPr>
      </p:sp>
      <p:sp>
        <p:nvSpPr>
          <p:cNvPr id="17" name="Text 15"/>
          <p:cNvSpPr/>
          <p:nvPr/>
        </p:nvSpPr>
        <p:spPr>
          <a:xfrm>
            <a:off x="3715893" y="5394960"/>
            <a:ext cx="868680" cy="237744"/>
          </a:xfrm>
          <a:prstGeom prst="rect">
            <a:avLst/>
          </a:prstGeom>
          <a:noFill/>
          <a:ln/>
        </p:spPr>
        <p:txBody>
          <a:bodyPr wrap="square" rtlCol="0" anchor="ctr"/>
          <a:lstStyle/>
          <a:p>
            <a:pPr algn="ctr" indent="0" marL="0">
              <a:buNone/>
            </a:pPr>
            <a:r>
              <a:rPr lang="en-US" sz="750" dirty="0">
                <a:solidFill>
                  <a:srgbClr val="6B9A6B"/>
                </a:solidFill>
                <a:latin typeface="맑은 고딕" pitchFamily="34" charset="0"/>
                <a:ea typeface="맑은 고딕" pitchFamily="34" charset="-122"/>
                <a:cs typeface="맑은 고딕" pitchFamily="34" charset="-120"/>
              </a:rPr>
              <a:t>면접 일정 관리</a:t>
            </a:r>
            <a:endParaRPr lang="en-US" sz="750" dirty="0"/>
          </a:p>
        </p:txBody>
      </p:sp>
      <p:sp>
        <p:nvSpPr>
          <p:cNvPr id="18" name="Shape 16"/>
          <p:cNvSpPr/>
          <p:nvPr/>
        </p:nvSpPr>
        <p:spPr>
          <a:xfrm>
            <a:off x="4676013" y="5394960"/>
            <a:ext cx="868680" cy="237744"/>
          </a:xfrm>
          <a:prstGeom prst="roundRect">
            <a:avLst>
              <a:gd name="adj" fmla="val 19231"/>
            </a:avLst>
          </a:prstGeom>
          <a:solidFill>
            <a:srgbClr val="FFFFFF"/>
          </a:solidFill>
          <a:ln w="9525">
            <a:solidFill>
              <a:srgbClr val="6B9A6B"/>
            </a:solidFill>
            <a:prstDash val="solid"/>
          </a:ln>
        </p:spPr>
      </p:sp>
      <p:sp>
        <p:nvSpPr>
          <p:cNvPr id="19" name="Text 17"/>
          <p:cNvSpPr/>
          <p:nvPr/>
        </p:nvSpPr>
        <p:spPr>
          <a:xfrm>
            <a:off x="4676013" y="5394960"/>
            <a:ext cx="868680" cy="237744"/>
          </a:xfrm>
          <a:prstGeom prst="rect">
            <a:avLst/>
          </a:prstGeom>
          <a:noFill/>
          <a:ln/>
        </p:spPr>
        <p:txBody>
          <a:bodyPr wrap="square" rtlCol="0" anchor="ctr"/>
          <a:lstStyle/>
          <a:p>
            <a:pPr algn="ctr" indent="0" marL="0">
              <a:buNone/>
            </a:pPr>
            <a:r>
              <a:rPr lang="en-US" sz="750" dirty="0">
                <a:solidFill>
                  <a:srgbClr val="6B9A6B"/>
                </a:solidFill>
                <a:latin typeface="맑은 고딕" pitchFamily="34" charset="0"/>
                <a:ea typeface="맑은 고딕" pitchFamily="34" charset="-122"/>
                <a:cs typeface="맑은 고딕" pitchFamily="34" charset="-120"/>
              </a:rPr>
              <a:t>AI 질문 생성</a:t>
            </a:r>
            <a:endParaRPr lang="en-US" sz="750" dirty="0"/>
          </a:p>
        </p:txBody>
      </p:sp>
      <p:sp>
        <p:nvSpPr>
          <p:cNvPr id="20" name="Shape 18"/>
          <p:cNvSpPr/>
          <p:nvPr/>
        </p:nvSpPr>
        <p:spPr>
          <a:xfrm>
            <a:off x="5636133" y="5394960"/>
            <a:ext cx="652653" cy="237744"/>
          </a:xfrm>
          <a:prstGeom prst="roundRect">
            <a:avLst>
              <a:gd name="adj" fmla="val 19231"/>
            </a:avLst>
          </a:prstGeom>
          <a:solidFill>
            <a:srgbClr val="FFFFFF"/>
          </a:solidFill>
          <a:ln w="9525">
            <a:solidFill>
              <a:srgbClr val="6B9A6B"/>
            </a:solidFill>
            <a:prstDash val="solid"/>
          </a:ln>
        </p:spPr>
      </p:sp>
      <p:sp>
        <p:nvSpPr>
          <p:cNvPr id="21" name="Text 19"/>
          <p:cNvSpPr/>
          <p:nvPr/>
        </p:nvSpPr>
        <p:spPr>
          <a:xfrm>
            <a:off x="5636133" y="5394960"/>
            <a:ext cx="652653" cy="237744"/>
          </a:xfrm>
          <a:prstGeom prst="rect">
            <a:avLst/>
          </a:prstGeom>
          <a:noFill/>
          <a:ln/>
        </p:spPr>
        <p:txBody>
          <a:bodyPr wrap="square" rtlCol="0" anchor="ctr"/>
          <a:lstStyle/>
          <a:p>
            <a:pPr algn="ctr" indent="0" marL="0">
              <a:buNone/>
            </a:pPr>
            <a:r>
              <a:rPr lang="en-US" sz="750" dirty="0">
                <a:solidFill>
                  <a:srgbClr val="6B9A6B"/>
                </a:solidFill>
                <a:latin typeface="맑은 고딕" pitchFamily="34" charset="0"/>
                <a:ea typeface="맑은 고딕" pitchFamily="34" charset="-122"/>
                <a:cs typeface="맑은 고딕" pitchFamily="34" charset="-120"/>
              </a:rPr>
              <a:t>UX 설계</a:t>
            </a:r>
            <a:endParaRPr lang="en-US" sz="750" dirty="0"/>
          </a:p>
        </p:txBody>
      </p:sp>
      <p:sp>
        <p:nvSpPr>
          <p:cNvPr id="22" name="Shape 20"/>
          <p:cNvSpPr/>
          <p:nvPr/>
        </p:nvSpPr>
        <p:spPr>
          <a:xfrm>
            <a:off x="2971800" y="5742432"/>
            <a:ext cx="724662" cy="237744"/>
          </a:xfrm>
          <a:prstGeom prst="roundRect">
            <a:avLst>
              <a:gd name="adj" fmla="val 19231"/>
            </a:avLst>
          </a:prstGeom>
          <a:solidFill>
            <a:srgbClr val="FFFFFF"/>
          </a:solidFill>
          <a:ln w="9525">
            <a:solidFill>
              <a:srgbClr val="6B9A6B"/>
            </a:solidFill>
            <a:prstDash val="solid"/>
          </a:ln>
        </p:spPr>
      </p:sp>
      <p:sp>
        <p:nvSpPr>
          <p:cNvPr id="23" name="Text 21"/>
          <p:cNvSpPr/>
          <p:nvPr/>
        </p:nvSpPr>
        <p:spPr>
          <a:xfrm>
            <a:off x="2971800" y="5742432"/>
            <a:ext cx="724662" cy="237744"/>
          </a:xfrm>
          <a:prstGeom prst="rect">
            <a:avLst/>
          </a:prstGeom>
          <a:noFill/>
          <a:ln/>
        </p:spPr>
        <p:txBody>
          <a:bodyPr wrap="square" rtlCol="0" anchor="ctr"/>
          <a:lstStyle/>
          <a:p>
            <a:pPr algn="ctr" indent="0" marL="0">
              <a:buNone/>
            </a:pPr>
            <a:r>
              <a:rPr lang="en-US" sz="750" dirty="0">
                <a:solidFill>
                  <a:srgbClr val="6B9A6B"/>
                </a:solidFill>
                <a:latin typeface="맑은 고딕" pitchFamily="34" charset="0"/>
                <a:ea typeface="맑은 고딕" pitchFamily="34" charset="-122"/>
                <a:cs typeface="맑은 고딕" pitchFamily="34" charset="-120"/>
              </a:rPr>
              <a:t>서비스 기획</a:t>
            </a:r>
            <a:endParaRPr lang="en-US" sz="750" dirty="0"/>
          </a:p>
        </p:txBody>
      </p:sp>
      <p:sp>
        <p:nvSpPr>
          <p:cNvPr id="24" name="Shape 22"/>
          <p:cNvSpPr/>
          <p:nvPr/>
        </p:nvSpPr>
        <p:spPr>
          <a:xfrm>
            <a:off x="7360920" y="1965960"/>
            <a:ext cx="4297680" cy="3931920"/>
          </a:xfrm>
          <a:prstGeom prst="rect">
            <a:avLst/>
          </a:prstGeom>
          <a:solidFill>
            <a:srgbClr val="FFFFFF"/>
          </a:solidFill>
          <a:ln w="12700">
            <a:solidFill>
              <a:srgbClr val="B07A6E">
                <a:alpha val="40000"/>
              </a:srgbClr>
            </a:solidFill>
            <a:prstDash val="solid"/>
          </a:ln>
        </p:spPr>
      </p:sp>
      <p:sp>
        <p:nvSpPr>
          <p:cNvPr id="25" name="Shape 23"/>
          <p:cNvSpPr/>
          <p:nvPr/>
        </p:nvSpPr>
        <p:spPr>
          <a:xfrm>
            <a:off x="7360920" y="1965960"/>
            <a:ext cx="4297680" cy="1554480"/>
          </a:xfrm>
          <a:prstGeom prst="rect">
            <a:avLst/>
          </a:prstGeom>
          <a:solidFill>
            <a:srgbClr val="F0ECE4"/>
          </a:solidFill>
          <a:ln/>
        </p:spPr>
      </p:sp>
      <p:sp>
        <p:nvSpPr>
          <p:cNvPr id="26" name="Text 24"/>
          <p:cNvSpPr/>
          <p:nvPr/>
        </p:nvSpPr>
        <p:spPr>
          <a:xfrm>
            <a:off x="7360920" y="1965960"/>
            <a:ext cx="4297680" cy="1554480"/>
          </a:xfrm>
          <a:prstGeom prst="rect">
            <a:avLst/>
          </a:prstGeom>
          <a:noFill/>
          <a:ln/>
        </p:spPr>
        <p:txBody>
          <a:bodyPr wrap="square" rtlCol="0" anchor="ctr"/>
          <a:lstStyle/>
          <a:p>
            <a:pPr algn="ctr" indent="0" marL="0">
              <a:buNone/>
            </a:pPr>
            <a:r>
              <a:rPr lang="en-US" sz="900" dirty="0">
                <a:solidFill>
                  <a:srgbClr val="AAA8A0"/>
                </a:solidFill>
                <a:latin typeface="맑은 고딕" pitchFamily="34" charset="0"/>
                <a:ea typeface="맑은 고딕" pitchFamily="34" charset="-122"/>
                <a:cs typeface="맑은 고딕" pitchFamily="34" charset="-120"/>
              </a:rPr>
              <a:t>[ 프로젝트 이미지 ]</a:t>
            </a:r>
            <a:endParaRPr lang="en-US" sz="900" dirty="0"/>
          </a:p>
        </p:txBody>
      </p:sp>
      <p:sp>
        <p:nvSpPr>
          <p:cNvPr id="27" name="Text 25"/>
          <p:cNvSpPr/>
          <p:nvPr/>
        </p:nvSpPr>
        <p:spPr>
          <a:xfrm>
            <a:off x="7635240" y="3657600"/>
            <a:ext cx="3749040" cy="219456"/>
          </a:xfrm>
          <a:prstGeom prst="rect">
            <a:avLst/>
          </a:prstGeom>
          <a:noFill/>
          <a:ln/>
        </p:spPr>
        <p:txBody>
          <a:bodyPr wrap="square" rtlCol="0" anchor="t"/>
          <a:lstStyle/>
          <a:p>
            <a:pPr algn="l" indent="0" marL="0">
              <a:buNone/>
            </a:pPr>
            <a:r>
              <a:rPr lang="en-US" sz="800" spc="150" kern="0" dirty="0">
                <a:solidFill>
                  <a:srgbClr val="B07A6E"/>
                </a:solidFill>
                <a:latin typeface="맑은 고딕" pitchFamily="34" charset="0"/>
                <a:ea typeface="맑은 고딕" pitchFamily="34" charset="-122"/>
                <a:cs typeface="맑은 고딕" pitchFamily="34" charset="-120"/>
              </a:rPr>
              <a:t>Project 02 · AI AUTOMATION</a:t>
            </a:r>
            <a:endParaRPr lang="en-US" sz="800" dirty="0"/>
          </a:p>
        </p:txBody>
      </p:sp>
      <p:sp>
        <p:nvSpPr>
          <p:cNvPr id="28" name="Text 26"/>
          <p:cNvSpPr/>
          <p:nvPr/>
        </p:nvSpPr>
        <p:spPr>
          <a:xfrm>
            <a:off x="7635240" y="3886200"/>
            <a:ext cx="3749040" cy="640080"/>
          </a:xfrm>
          <a:prstGeom prst="rect">
            <a:avLst/>
          </a:prstGeom>
          <a:noFill/>
          <a:ln/>
        </p:spPr>
        <p:txBody>
          <a:bodyPr wrap="square" rtlCol="0" anchor="t"/>
          <a:lstStyle/>
          <a:p>
            <a:pPr algn="l" indent="0" marL="0">
              <a:lnSpc>
                <a:spcPct val="125000"/>
              </a:lnSpc>
              <a:buNone/>
            </a:pPr>
            <a:r>
              <a:rPr lang="en-US" sz="1450" dirty="0">
                <a:solidFill>
                  <a:srgbClr val="2C3028"/>
                </a:solidFill>
                <a:latin typeface="Cormorant Garamond" pitchFamily="34" charset="0"/>
                <a:ea typeface="Cormorant Garamond" pitchFamily="34" charset="-122"/>
                <a:cs typeface="Cormorant Garamond" pitchFamily="34" charset="-120"/>
              </a:rPr>
              <a:t>AI 기반 수출 데이터 자동화 서비스</a:t>
            </a:r>
            <a:endParaRPr lang="en-US" sz="1450" dirty="0"/>
          </a:p>
        </p:txBody>
      </p:sp>
      <p:sp>
        <p:nvSpPr>
          <p:cNvPr id="29" name="Text 27"/>
          <p:cNvSpPr/>
          <p:nvPr/>
        </p:nvSpPr>
        <p:spPr>
          <a:xfrm>
            <a:off x="7635240" y="4572000"/>
            <a:ext cx="3749040" cy="777240"/>
          </a:xfrm>
          <a:prstGeom prst="rect">
            <a:avLst/>
          </a:prstGeom>
          <a:noFill/>
          <a:ln/>
        </p:spPr>
        <p:txBody>
          <a:bodyPr wrap="square" rtlCol="0" anchor="t"/>
          <a:lstStyle/>
          <a:p>
            <a:pPr algn="l" indent="0" marL="0">
              <a:lnSpc>
                <a:spcPct val="150000"/>
              </a:lnSpc>
              <a:buNone/>
            </a:pPr>
            <a:r>
              <a:rPr lang="en-US" sz="900" dirty="0">
                <a:solidFill>
                  <a:srgbClr val="7A7870"/>
                </a:solidFill>
                <a:latin typeface="맑은 고딕" pitchFamily="34" charset="0"/>
                <a:ea typeface="맑은 고딕" pitchFamily="34" charset="-122"/>
                <a:cs typeface="맑은 고딕" pitchFamily="34" charset="-120"/>
              </a:rPr>
              <a:t>실제 현업 데이터를 분석해 주간 리포트 자동 생성 및 자동 메일 발송까지 구현·배포한 현업 활용 서비스</a:t>
            </a:r>
            <a:endParaRPr lang="en-US" sz="900" dirty="0"/>
          </a:p>
        </p:txBody>
      </p:sp>
      <p:sp>
        <p:nvSpPr>
          <p:cNvPr id="30" name="Shape 28"/>
          <p:cNvSpPr/>
          <p:nvPr/>
        </p:nvSpPr>
        <p:spPr>
          <a:xfrm>
            <a:off x="7635240" y="5394960"/>
            <a:ext cx="940689" cy="237744"/>
          </a:xfrm>
          <a:prstGeom prst="roundRect">
            <a:avLst>
              <a:gd name="adj" fmla="val 19231"/>
            </a:avLst>
          </a:prstGeom>
          <a:solidFill>
            <a:srgbClr val="FFFFFF"/>
          </a:solidFill>
          <a:ln w="9525">
            <a:solidFill>
              <a:srgbClr val="B07A6E"/>
            </a:solidFill>
            <a:prstDash val="solid"/>
          </a:ln>
        </p:spPr>
      </p:sp>
      <p:sp>
        <p:nvSpPr>
          <p:cNvPr id="31" name="Text 29"/>
          <p:cNvSpPr/>
          <p:nvPr/>
        </p:nvSpPr>
        <p:spPr>
          <a:xfrm>
            <a:off x="7635240" y="5394960"/>
            <a:ext cx="940689" cy="237744"/>
          </a:xfrm>
          <a:prstGeom prst="rect">
            <a:avLst/>
          </a:prstGeom>
          <a:noFill/>
          <a:ln/>
        </p:spPr>
        <p:txBody>
          <a:bodyPr wrap="square" rtlCol="0" anchor="ctr"/>
          <a:lstStyle/>
          <a:p>
            <a:pPr algn="ctr" indent="0" marL="0">
              <a:buNone/>
            </a:pPr>
            <a:r>
              <a:rPr lang="en-US" sz="750" dirty="0">
                <a:solidFill>
                  <a:srgbClr val="B07A6E"/>
                </a:solidFill>
                <a:latin typeface="맑은 고딕" pitchFamily="34" charset="0"/>
                <a:ea typeface="맑은 고딕" pitchFamily="34" charset="-122"/>
                <a:cs typeface="맑은 고딕" pitchFamily="34" charset="-120"/>
              </a:rPr>
              <a:t>데이터 자동 분석</a:t>
            </a:r>
            <a:endParaRPr lang="en-US" sz="750" dirty="0"/>
          </a:p>
        </p:txBody>
      </p:sp>
      <p:sp>
        <p:nvSpPr>
          <p:cNvPr id="32" name="Shape 30"/>
          <p:cNvSpPr/>
          <p:nvPr/>
        </p:nvSpPr>
        <p:spPr>
          <a:xfrm>
            <a:off x="8667369" y="5394960"/>
            <a:ext cx="1012698" cy="237744"/>
          </a:xfrm>
          <a:prstGeom prst="roundRect">
            <a:avLst>
              <a:gd name="adj" fmla="val 19231"/>
            </a:avLst>
          </a:prstGeom>
          <a:solidFill>
            <a:srgbClr val="FFFFFF"/>
          </a:solidFill>
          <a:ln w="9525">
            <a:solidFill>
              <a:srgbClr val="B07A6E"/>
            </a:solidFill>
            <a:prstDash val="solid"/>
          </a:ln>
        </p:spPr>
      </p:sp>
      <p:sp>
        <p:nvSpPr>
          <p:cNvPr id="33" name="Text 31"/>
          <p:cNvSpPr/>
          <p:nvPr/>
        </p:nvSpPr>
        <p:spPr>
          <a:xfrm>
            <a:off x="8667369" y="5394960"/>
            <a:ext cx="1012698" cy="237744"/>
          </a:xfrm>
          <a:prstGeom prst="rect">
            <a:avLst/>
          </a:prstGeom>
          <a:noFill/>
          <a:ln/>
        </p:spPr>
        <p:txBody>
          <a:bodyPr wrap="square" rtlCol="0" anchor="ctr"/>
          <a:lstStyle/>
          <a:p>
            <a:pPr algn="ctr" indent="0" marL="0">
              <a:buNone/>
            </a:pPr>
            <a:r>
              <a:rPr lang="en-US" sz="750" dirty="0">
                <a:solidFill>
                  <a:srgbClr val="B07A6E"/>
                </a:solidFill>
                <a:latin typeface="맑은 고딕" pitchFamily="34" charset="0"/>
                <a:ea typeface="맑은 고딕" pitchFamily="34" charset="-122"/>
                <a:cs typeface="맑은 고딕" pitchFamily="34" charset="-120"/>
              </a:rPr>
              <a:t>주간 리포트 자동화</a:t>
            </a:r>
            <a:endParaRPr lang="en-US" sz="750" dirty="0"/>
          </a:p>
        </p:txBody>
      </p:sp>
      <p:sp>
        <p:nvSpPr>
          <p:cNvPr id="34" name="Shape 32"/>
          <p:cNvSpPr/>
          <p:nvPr/>
        </p:nvSpPr>
        <p:spPr>
          <a:xfrm>
            <a:off x="9771507" y="5394960"/>
            <a:ext cx="868680" cy="237744"/>
          </a:xfrm>
          <a:prstGeom prst="roundRect">
            <a:avLst>
              <a:gd name="adj" fmla="val 19231"/>
            </a:avLst>
          </a:prstGeom>
          <a:solidFill>
            <a:srgbClr val="FFFFFF"/>
          </a:solidFill>
          <a:ln w="9525">
            <a:solidFill>
              <a:srgbClr val="B07A6E"/>
            </a:solidFill>
            <a:prstDash val="solid"/>
          </a:ln>
        </p:spPr>
      </p:sp>
      <p:sp>
        <p:nvSpPr>
          <p:cNvPr id="35" name="Text 33"/>
          <p:cNvSpPr/>
          <p:nvPr/>
        </p:nvSpPr>
        <p:spPr>
          <a:xfrm>
            <a:off x="9771507" y="5394960"/>
            <a:ext cx="868680" cy="237744"/>
          </a:xfrm>
          <a:prstGeom prst="rect">
            <a:avLst/>
          </a:prstGeom>
          <a:noFill/>
          <a:ln/>
        </p:spPr>
        <p:txBody>
          <a:bodyPr wrap="square" rtlCol="0" anchor="ctr"/>
          <a:lstStyle/>
          <a:p>
            <a:pPr algn="ctr" indent="0" marL="0">
              <a:buNone/>
            </a:pPr>
            <a:r>
              <a:rPr lang="en-US" sz="750" dirty="0">
                <a:solidFill>
                  <a:srgbClr val="B07A6E"/>
                </a:solidFill>
                <a:latin typeface="맑은 고딕" pitchFamily="34" charset="0"/>
                <a:ea typeface="맑은 고딕" pitchFamily="34" charset="-122"/>
                <a:cs typeface="맑은 고딕" pitchFamily="34" charset="-120"/>
              </a:rPr>
              <a:t>자동 메일 발송</a:t>
            </a:r>
            <a:endParaRPr lang="en-US" sz="750" dirty="0"/>
          </a:p>
        </p:txBody>
      </p:sp>
      <p:sp>
        <p:nvSpPr>
          <p:cNvPr id="36" name="Shape 34"/>
          <p:cNvSpPr/>
          <p:nvPr/>
        </p:nvSpPr>
        <p:spPr>
          <a:xfrm>
            <a:off x="10731627" y="5394960"/>
            <a:ext cx="652653" cy="237744"/>
          </a:xfrm>
          <a:prstGeom prst="roundRect">
            <a:avLst>
              <a:gd name="adj" fmla="val 19231"/>
            </a:avLst>
          </a:prstGeom>
          <a:solidFill>
            <a:srgbClr val="FFFFFF"/>
          </a:solidFill>
          <a:ln w="9525">
            <a:solidFill>
              <a:srgbClr val="B07A6E"/>
            </a:solidFill>
            <a:prstDash val="solid"/>
          </a:ln>
        </p:spPr>
      </p:sp>
      <p:sp>
        <p:nvSpPr>
          <p:cNvPr id="37" name="Text 35"/>
          <p:cNvSpPr/>
          <p:nvPr/>
        </p:nvSpPr>
        <p:spPr>
          <a:xfrm>
            <a:off x="10731627" y="5394960"/>
            <a:ext cx="652653" cy="237744"/>
          </a:xfrm>
          <a:prstGeom prst="rect">
            <a:avLst/>
          </a:prstGeom>
          <a:noFill/>
          <a:ln/>
        </p:spPr>
        <p:txBody>
          <a:bodyPr wrap="square" rtlCol="0" anchor="ctr"/>
          <a:lstStyle/>
          <a:p>
            <a:pPr algn="ctr" indent="0" marL="0">
              <a:buNone/>
            </a:pPr>
            <a:r>
              <a:rPr lang="en-US" sz="750" dirty="0">
                <a:solidFill>
                  <a:srgbClr val="B07A6E"/>
                </a:solidFill>
                <a:latin typeface="맑은 고딕" pitchFamily="34" charset="0"/>
                <a:ea typeface="맑은 고딕" pitchFamily="34" charset="-122"/>
                <a:cs typeface="맑은 고딕" pitchFamily="34" charset="-120"/>
              </a:rPr>
              <a:t>현업 배포</a:t>
            </a:r>
            <a:endParaRPr lang="en-US" sz="750" dirty="0"/>
          </a:p>
        </p:txBody>
      </p:sp>
      <p:sp>
        <p:nvSpPr>
          <p:cNvPr id="38" name="Shape 36"/>
          <p:cNvSpPr/>
          <p:nvPr/>
        </p:nvSpPr>
        <p:spPr>
          <a:xfrm>
            <a:off x="7635240" y="5742432"/>
            <a:ext cx="796671" cy="237744"/>
          </a:xfrm>
          <a:prstGeom prst="roundRect">
            <a:avLst>
              <a:gd name="adj" fmla="val 19231"/>
            </a:avLst>
          </a:prstGeom>
          <a:solidFill>
            <a:srgbClr val="FFFFFF"/>
          </a:solidFill>
          <a:ln w="9525">
            <a:solidFill>
              <a:srgbClr val="B07A6E"/>
            </a:solidFill>
            <a:prstDash val="solid"/>
          </a:ln>
        </p:spPr>
      </p:sp>
      <p:sp>
        <p:nvSpPr>
          <p:cNvPr id="39" name="Text 37"/>
          <p:cNvSpPr/>
          <p:nvPr/>
        </p:nvSpPr>
        <p:spPr>
          <a:xfrm>
            <a:off x="7635240" y="5742432"/>
            <a:ext cx="796671" cy="237744"/>
          </a:xfrm>
          <a:prstGeom prst="rect">
            <a:avLst/>
          </a:prstGeom>
          <a:noFill/>
          <a:ln/>
        </p:spPr>
        <p:txBody>
          <a:bodyPr wrap="square" rtlCol="0" anchor="ctr"/>
          <a:lstStyle/>
          <a:p>
            <a:pPr algn="ctr" indent="0" marL="0">
              <a:buNone/>
            </a:pPr>
            <a:r>
              <a:rPr lang="en-US" sz="750" dirty="0">
                <a:solidFill>
                  <a:srgbClr val="B07A6E"/>
                </a:solidFill>
                <a:latin typeface="맑은 고딕" pitchFamily="34" charset="0"/>
                <a:ea typeface="맑은 고딕" pitchFamily="34" charset="-122"/>
                <a:cs typeface="맑은 고딕" pitchFamily="34" charset="-120"/>
              </a:rPr>
              <a:t>QA팀 활용중</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2026-06-16T11:23:52Z</dcterms:created>
  <dcterms:modified xsi:type="dcterms:W3CDTF">2026-06-16T11:23:52Z</dcterms:modified>
</cp:coreProperties>
</file>